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6576000" cy="27432000"/>
  <p:notesSz cx="27432000" cy="3657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0E6"/>
        </a:solidFill>
      </p:bgPr>
    </p:bg>
    <p:spTree>
      <p:nvGrpSpPr>
        <p:cNvPr id="1" name=""/>
        <p:cNvGrpSpPr/>
        <p:nvPr/>
      </p:nvGrpSpPr>
      <p:grpSpPr>
        <a:xfrm>
          <a:off x="0" y="0"/>
          <a:ext cx="0" cy="0"/>
          <a:chOff x="0" y="0"/>
          <a:chExt cx="0" cy="0"/>
        </a:xfrm>
      </p:grpSpPr>
      <p:sp>
        <p:nvSpPr>
          <p:cNvPr id="2" name="Text 0"/>
          <p:cNvSpPr/>
          <p:nvPr/>
        </p:nvSpPr>
        <p:spPr>
          <a:xfrm>
            <a:off x="177701" y="177701"/>
            <a:ext cx="36220598" cy="1698278"/>
          </a:xfrm>
          <a:prstGeom prst="roundRect">
            <a:avLst>
              <a:gd name="adj" fmla="val 2991"/>
            </a:avLst>
          </a:prstGeom>
          <a:solidFill>
            <a:srgbClr val="4E1F26"/>
          </a:solidFill>
          <a:ln/>
        </p:spPr>
        <p:txBody>
          <a:bodyPr wrap="square" rtlCol="0" anchor="ctr"/>
          <a:lstStyle/>
          <a:p>
            <a:pPr indent="0" marL="0">
              <a:buNone/>
            </a:pPr>
            <a:endParaRPr lang="en-US" dirty="0"/>
          </a:p>
        </p:txBody>
      </p:sp>
      <p:sp>
        <p:nvSpPr>
          <p:cNvPr id="3" name="Text 1"/>
          <p:cNvSpPr/>
          <p:nvPr/>
        </p:nvSpPr>
        <p:spPr>
          <a:xfrm>
            <a:off x="457051" y="475952"/>
            <a:ext cx="31323227" cy="781050"/>
          </a:xfrm>
          <a:prstGeom prst="rect">
            <a:avLst/>
          </a:prstGeom>
          <a:noFill/>
          <a:ln/>
        </p:spPr>
        <p:txBody>
          <a:bodyPr wrap="square" lIns="0" tIns="0" rIns="0" bIns="0" rtlCol="0" anchor="t"/>
          <a:lstStyle/>
          <a:p>
            <a:pPr algn="l" indent="0" marL="0">
              <a:buNone/>
            </a:pPr>
            <a:r>
              <a:rPr lang="en-US" sz="5400" b="1" i="1" dirty="0">
                <a:solidFill>
                  <a:srgbClr val="F5F0E6"/>
                </a:solidFill>
                <a:latin typeface="Arial" pitchFamily="34" charset="0"/>
                <a:ea typeface="Arial" pitchFamily="34" charset="-122"/>
                <a:cs typeface="Arial" pitchFamily="34" charset="-120"/>
              </a:rPr>
              <a:t>Not In Our Time: Transport-Based Content Selection</a:t>
            </a:r>
            <a:endParaRPr lang="en-US" sz="5400" dirty="0"/>
          </a:p>
        </p:txBody>
      </p:sp>
      <p:sp>
        <p:nvSpPr>
          <p:cNvPr id="4" name="Text 2"/>
          <p:cNvSpPr/>
          <p:nvPr/>
        </p:nvSpPr>
        <p:spPr>
          <a:xfrm>
            <a:off x="457051" y="1307753"/>
            <a:ext cx="31323227" cy="295275"/>
          </a:xfrm>
          <a:prstGeom prst="rect">
            <a:avLst/>
          </a:prstGeom>
          <a:noFill/>
          <a:ln/>
        </p:spPr>
        <p:txBody>
          <a:bodyPr wrap="square" lIns="0" tIns="0" rIns="0" bIns="0" rtlCol="0" anchor="t"/>
          <a:lstStyle/>
          <a:p>
            <a:pPr algn="l" indent="0" marL="0">
              <a:spcBef>
                <a:spcPts val="400"/>
              </a:spcBef>
              <a:buNone/>
            </a:pPr>
            <a:r>
              <a:rPr lang="en-US" sz="2000" dirty="0">
                <a:solidFill>
                  <a:srgbClr val="D4A843"/>
                </a:solidFill>
                <a:latin typeface="Arial" pitchFamily="34" charset="0"/>
                <a:ea typeface="Arial" pitchFamily="34" charset="-122"/>
                <a:cs typeface="Arial" pitchFamily="34" charset="-120"/>
              </a:rPr>
              <a:t>An Inspectable, Manipulable Alternative to RAG — Demonstrated on Literary Discussion Podcasts for 15 Victorian Novels</a:t>
            </a:r>
            <a:endParaRPr lang="en-US" sz="2000" dirty="0"/>
          </a:p>
        </p:txBody>
      </p:sp>
      <p:sp>
        <p:nvSpPr>
          <p:cNvPr id="5" name="Text 3"/>
          <p:cNvSpPr/>
          <p:nvPr/>
        </p:nvSpPr>
        <p:spPr>
          <a:xfrm>
            <a:off x="31326019" y="380851"/>
            <a:ext cx="4792929" cy="323850"/>
          </a:xfrm>
          <a:prstGeom prst="rect">
            <a:avLst/>
          </a:prstGeom>
          <a:noFill/>
          <a:ln/>
        </p:spPr>
        <p:txBody>
          <a:bodyPr wrap="square" lIns="0" tIns="0" rIns="0" bIns="0" rtlCol="0" anchor="t"/>
          <a:lstStyle/>
          <a:p>
            <a:pPr algn="r" indent="0" marL="0">
              <a:buNone/>
            </a:pPr>
            <a:r>
              <a:rPr lang="en-US" sz="2200" b="1" dirty="0">
                <a:solidFill>
                  <a:srgbClr val="F5F0E6"/>
                </a:solidFill>
                <a:latin typeface="Arial" pitchFamily="34" charset="0"/>
                <a:ea typeface="Arial" pitchFamily="34" charset="-122"/>
                <a:cs typeface="Arial" pitchFamily="34" charset="-120"/>
              </a:rPr>
              <a:t>Chris Brew</a:t>
            </a:r>
            <a:endParaRPr lang="en-US" sz="2200" dirty="0"/>
          </a:p>
        </p:txBody>
      </p:sp>
      <p:sp>
        <p:nvSpPr>
          <p:cNvPr id="6" name="Text 4"/>
          <p:cNvSpPr/>
          <p:nvPr/>
        </p:nvSpPr>
        <p:spPr>
          <a:xfrm>
            <a:off x="31326019" y="742801"/>
            <a:ext cx="4792929" cy="533400"/>
          </a:xfrm>
          <a:prstGeom prst="rect">
            <a:avLst/>
          </a:prstGeom>
          <a:noFill/>
          <a:ln/>
        </p:spPr>
        <p:txBody>
          <a:bodyPr wrap="square" lIns="0" tIns="0" rIns="0" bIns="0" rtlCol="0" anchor="t"/>
          <a:lstStyle/>
          <a:p>
            <a:pPr algn="r" indent="0" marL="0">
              <a:spcBef>
                <a:spcPts val="300"/>
              </a:spcBef>
              <a:buNone/>
            </a:pPr>
            <a:r>
              <a:rPr lang="en-US" sz="1800" dirty="0">
                <a:solidFill>
                  <a:srgbClr val="F0E2C0"/>
                </a:solidFill>
                <a:latin typeface="Arial" pitchFamily="34" charset="0"/>
                <a:ea typeface="Arial" pitchFamily="34" charset="-122"/>
                <a:cs typeface="Arial" pitchFamily="34" charset="-120"/>
              </a:rPr>
              <a:t>The Ohio State University</a:t>
            </a:r>
            <a:endParaRPr lang="en-US" sz="1800" dirty="0"/>
          </a:p>
          <a:p>
            <a:pPr algn="r" indent="0" marL="0">
              <a:spcBef>
                <a:spcPts val="300"/>
              </a:spcBef>
              <a:buNone/>
            </a:pPr>
            <a:r>
              <a:rPr lang="en-US" sz="1800" dirty="0">
                <a:solidFill>
                  <a:srgbClr val="F0E2C0"/>
                </a:solidFill>
                <a:latin typeface="Arial" pitchFamily="34" charset="0"/>
                <a:ea typeface="Arial" pitchFamily="34" charset="-122"/>
                <a:cs typeface="Arial" pitchFamily="34" charset="-120"/>
              </a:rPr>
              <a:t>LexisNexis Legal &amp; Professional</a:t>
            </a:r>
            <a:endParaRPr lang="en-US" sz="1800" dirty="0"/>
          </a:p>
        </p:txBody>
      </p:sp>
      <p:sp>
        <p:nvSpPr>
          <p:cNvPr id="7" name="Text 5"/>
          <p:cNvSpPr/>
          <p:nvPr/>
        </p:nvSpPr>
        <p:spPr>
          <a:xfrm>
            <a:off x="32442596" y="1377702"/>
            <a:ext cx="3676352" cy="320576"/>
          </a:xfrm>
          <a:prstGeom prst="roundRect">
            <a:avLst>
              <a:gd name="adj" fmla="val 7923"/>
            </a:avLst>
          </a:prstGeom>
          <a:noFill/>
          <a:ln w="9525">
            <a:solidFill>
              <a:srgbClr val="D4A843"/>
            </a:solidFill>
          </a:ln>
        </p:spPr>
        <p:txBody>
          <a:bodyPr wrap="square" rtlCol="0" anchor="ctr"/>
          <a:lstStyle/>
          <a:p>
            <a:pPr indent="0" marL="0">
              <a:buNone/>
            </a:pPr>
            <a:endParaRPr lang="en-US" dirty="0"/>
          </a:p>
        </p:txBody>
      </p:sp>
      <p:sp>
        <p:nvSpPr>
          <p:cNvPr id="8" name="Text 6"/>
          <p:cNvSpPr/>
          <p:nvPr/>
        </p:nvSpPr>
        <p:spPr>
          <a:xfrm>
            <a:off x="32511004" y="1437977"/>
            <a:ext cx="3471470" cy="200025"/>
          </a:xfrm>
          <a:prstGeom prst="rect">
            <a:avLst/>
          </a:prstGeom>
          <a:noFill/>
          <a:ln/>
        </p:spPr>
        <p:txBody>
          <a:bodyPr wrap="square" lIns="0" tIns="0" rIns="0" bIns="0" rtlCol="0" anchor="t"/>
          <a:lstStyle/>
          <a:p>
            <a:pPr algn="r" indent="0" marL="0">
              <a:buNone/>
            </a:pPr>
            <a:r>
              <a:rPr lang="en-US" sz="1300" dirty="0">
                <a:solidFill>
                  <a:srgbClr val="D4A843"/>
                </a:solidFill>
                <a:latin typeface="Arial" pitchFamily="34" charset="0"/>
                <a:ea typeface="Arial" pitchFamily="34" charset="-122"/>
                <a:cs typeface="Arial" pitchFamily="34" charset="-120"/>
              </a:rPr>
              <a:t>MIDWEST SPEECH &amp; LANGUAGE DAY 2026</a:t>
            </a:r>
            <a:endParaRPr lang="en-US" sz="1300" dirty="0"/>
          </a:p>
        </p:txBody>
      </p:sp>
      <p:sp>
        <p:nvSpPr>
          <p:cNvPr id="9" name="Text 7"/>
          <p:cNvSpPr/>
          <p:nvPr/>
        </p:nvSpPr>
        <p:spPr>
          <a:xfrm>
            <a:off x="177701" y="1952179"/>
            <a:ext cx="36220598" cy="450652"/>
          </a:xfrm>
          <a:prstGeom prst="rect">
            <a:avLst/>
          </a:prstGeom>
          <a:solidFill>
            <a:srgbClr val="EDE5D8"/>
          </a:solidFill>
          <a:ln/>
        </p:spPr>
        <p:txBody>
          <a:bodyPr wrap="square" rtlCol="0" anchor="ctr"/>
          <a:lstStyle/>
          <a:p>
            <a:pPr indent="0" marL="0">
              <a:buNone/>
            </a:pPr>
            <a:endParaRPr lang="en-US" dirty="0"/>
          </a:p>
        </p:txBody>
      </p:sp>
      <p:sp>
        <p:nvSpPr>
          <p:cNvPr id="10" name="Shape 8"/>
          <p:cNvSpPr/>
          <p:nvPr/>
        </p:nvSpPr>
        <p:spPr>
          <a:xfrm>
            <a:off x="201513" y="1952179"/>
            <a:ext cx="0" cy="450652"/>
          </a:xfrm>
          <a:prstGeom prst="line">
            <a:avLst/>
          </a:prstGeom>
          <a:noFill/>
          <a:ln w="47625">
            <a:solidFill>
              <a:srgbClr val="B8860B"/>
            </a:solidFill>
            <a:prstDash val="solid"/>
          </a:ln>
        </p:spPr>
      </p:sp>
      <p:sp>
        <p:nvSpPr>
          <p:cNvPr id="11" name="Text 9"/>
          <p:cNvSpPr/>
          <p:nvPr/>
        </p:nvSpPr>
        <p:spPr>
          <a:xfrm>
            <a:off x="403027" y="2053679"/>
            <a:ext cx="36533923" cy="247650"/>
          </a:xfrm>
          <a:prstGeom prst="rect">
            <a:avLst/>
          </a:prstGeom>
          <a:noFill/>
          <a:ln/>
        </p:spPr>
        <p:txBody>
          <a:bodyPr wrap="square" lIns="0" tIns="0" rIns="0" bIns="0" rtlCol="0" anchor="t"/>
          <a:lstStyle/>
          <a:p>
            <a:pPr algn="l" indent="0" marL="0">
              <a:buNone/>
            </a:pPr>
            <a:r>
              <a:rPr lang="en-US" sz="1700" dirty="0">
                <a:solidFill>
                  <a:srgbClr val="2D2926"/>
                </a:solidFill>
                <a:latin typeface="Georgia" pitchFamily="34" charset="0"/>
                <a:ea typeface="Georgia" pitchFamily="34" charset="-122"/>
                <a:cs typeface="Georgia" pitchFamily="34" charset="-120"/>
              </a:rPr>
              <a:t>"Fog everywhere. Fog up the river, where it flows among green aits and meadows; fog down the river, where it rolls defiled among the tiers of shipping and the waterside pollutions of a great (and dirty) city. Fog on the Essex marshes, fog on the Kentish heights." </a:t>
            </a:r>
            <a:pPr algn="l" indent="0" marL="0">
              <a:buNone/>
            </a:pPr>
            <a:r>
              <a:rPr lang="en-US" sz="1500" dirty="0">
                <a:solidFill>
                  <a:srgbClr val="7A6E62"/>
                </a:solidFill>
                <a:latin typeface="Georgia" pitchFamily="34" charset="0"/>
                <a:ea typeface="Georgia" pitchFamily="34" charset="-122"/>
                <a:cs typeface="Georgia" pitchFamily="34" charset="-120"/>
              </a:rPr>
              <a:t> — Charles Dickens, Bleak House (1853), Chapter 1</a:t>
            </a:r>
            <a:endParaRPr lang="en-US" sz="1700" dirty="0"/>
          </a:p>
        </p:txBody>
      </p:sp>
      <p:sp>
        <p:nvSpPr>
          <p:cNvPr id="12" name="Text 10"/>
          <p:cNvSpPr/>
          <p:nvPr/>
        </p:nvSpPr>
        <p:spPr>
          <a:xfrm>
            <a:off x="177701" y="2504331"/>
            <a:ext cx="10998994" cy="5117306"/>
          </a:xfrm>
          <a:prstGeom prst="roundRect">
            <a:avLst>
              <a:gd name="adj" fmla="val 993"/>
            </a:avLst>
          </a:prstGeom>
          <a:solidFill>
            <a:srgbClr val="FFFFFF"/>
          </a:solidFill>
          <a:ln w="9525">
            <a:solidFill>
              <a:srgbClr val="E0DADA"/>
            </a:solidFill>
          </a:ln>
          <a:effectLst>
            <a:outerShdw sx="100000" sy="100000" kx="0" ky="0" algn="bl" rotWithShape="0" blurRad="101600" dist="17960" dir="2700000">
              <a:srgbClr val="000000">
                <a:alpha val="4000"/>
              </a:srgbClr>
            </a:outerShdw>
          </a:effectLst>
        </p:spPr>
        <p:txBody>
          <a:bodyPr wrap="square" rtlCol="0" anchor="ctr"/>
          <a:lstStyle/>
          <a:p>
            <a:pPr indent="0" marL="0">
              <a:buNone/>
            </a:pPr>
            <a:endParaRPr lang="en-US" dirty="0"/>
          </a:p>
        </p:txBody>
      </p:sp>
      <p:sp>
        <p:nvSpPr>
          <p:cNvPr id="13" name="Text 11"/>
          <p:cNvSpPr/>
          <p:nvPr/>
        </p:nvSpPr>
        <p:spPr>
          <a:xfrm>
            <a:off x="314176" y="2640806"/>
            <a:ext cx="10940564" cy="371475"/>
          </a:xfrm>
          <a:prstGeom prst="rect">
            <a:avLst/>
          </a:prstGeom>
          <a:noFill/>
          <a:ln/>
        </p:spPr>
        <p:txBody>
          <a:bodyPr wrap="square" lIns="0" tIns="0" rIns="0" bIns="0" rtlCol="0" anchor="t"/>
          <a:lstStyle/>
          <a:p>
            <a:pPr algn="l" indent="0" marL="0">
              <a:buNone/>
            </a:pPr>
            <a:r>
              <a:rPr lang="en-US" sz="2600" b="1" dirty="0">
                <a:solidFill>
                  <a:srgbClr val="722F37"/>
                </a:solidFill>
                <a:latin typeface="Arial" pitchFamily="34" charset="0"/>
                <a:ea typeface="Arial" pitchFamily="34" charset="-122"/>
                <a:cs typeface="Arial" pitchFamily="34" charset="-120"/>
              </a:rPr>
              <a:t>The Question</a:t>
            </a:r>
            <a:endParaRPr lang="en-US" sz="2600" dirty="0"/>
          </a:p>
        </p:txBody>
      </p:sp>
      <p:sp>
        <p:nvSpPr>
          <p:cNvPr id="14" name="Text 12"/>
          <p:cNvSpPr/>
          <p:nvPr/>
        </p:nvSpPr>
        <p:spPr>
          <a:xfrm>
            <a:off x="314176" y="3037582"/>
            <a:ext cx="1777901" cy="38100"/>
          </a:xfrm>
          <a:prstGeom prst="rect">
            <a:avLst/>
          </a:prstGeom>
          <a:solidFill>
            <a:srgbClr val="B8860B"/>
          </a:solidFill>
          <a:ln/>
        </p:spPr>
        <p:txBody>
          <a:bodyPr wrap="square" rtlCol="0" anchor="ctr"/>
          <a:lstStyle/>
          <a:p>
            <a:pPr indent="0" marL="0">
              <a:buNone/>
            </a:pPr>
            <a:endParaRPr lang="en-US" dirty="0"/>
          </a:p>
        </p:txBody>
      </p:sp>
      <p:sp>
        <p:nvSpPr>
          <p:cNvPr id="15" name="Text 13"/>
          <p:cNvSpPr/>
          <p:nvPr/>
        </p:nvSpPr>
        <p:spPr>
          <a:xfrm>
            <a:off x="314176" y="3151882"/>
            <a:ext cx="10940564" cy="476250"/>
          </a:xfrm>
          <a:prstGeom prst="rect">
            <a:avLst/>
          </a:prstGeom>
          <a:noFill/>
          <a:ln/>
        </p:spPr>
        <p:txBody>
          <a:bodyPr wrap="square" lIns="0" tIns="0" rIns="0" bIns="0" rtlCol="0" anchor="t"/>
          <a:lstStyle/>
          <a:p>
            <a:pPr algn="l" indent="0" marL="0">
              <a:spcBef>
                <a:spcPts val="400"/>
              </a:spcBef>
              <a:spcAft>
                <a:spcPts val="400"/>
              </a:spcAft>
              <a:buNone/>
            </a:pPr>
            <a:r>
              <a:rPr lang="en-US" sz="1600" i="1" dirty="0">
                <a:solidFill>
                  <a:srgbClr val="7A6E62"/>
                </a:solidFill>
                <a:latin typeface="Georgia" pitchFamily="34" charset="0"/>
                <a:ea typeface="Georgia" pitchFamily="34" charset="-122"/>
                <a:cs typeface="Georgia" pitchFamily="34" charset="-120"/>
              </a:rPr>
              <a:t>A reader who surveys a novel broadly and a reader who studies it narrowly will assemble different evidence. Do they arrive at different discussions?</a:t>
            </a:r>
            <a:endParaRPr lang="en-US" sz="1600" dirty="0"/>
          </a:p>
        </p:txBody>
      </p:sp>
      <p:sp>
        <p:nvSpPr>
          <p:cNvPr id="16" name="Text 14"/>
          <p:cNvSpPr/>
          <p:nvPr/>
        </p:nvSpPr>
        <p:spPr>
          <a:xfrm>
            <a:off x="314176" y="3678882"/>
            <a:ext cx="10940564" cy="714375"/>
          </a:xfrm>
          <a:prstGeom prst="rect">
            <a:avLst/>
          </a:prstGeom>
          <a:noFill/>
          <a:ln/>
        </p:spPr>
        <p:txBody>
          <a:bodyPr wrap="square" lIns="0" tIns="0" rIns="0" bIns="0" rtlCol="0" anchor="t"/>
          <a:lstStyle/>
          <a:p>
            <a:pPr algn="l" indent="0" marL="0">
              <a:spcBef>
                <a:spcPts val="400"/>
              </a:spcBef>
              <a:spcAft>
                <a:spcPts val="400"/>
              </a:spcAft>
              <a:buNone/>
            </a:pPr>
            <a:r>
              <a:rPr lang="en-US" sz="1600" dirty="0">
                <a:solidFill>
                  <a:srgbClr val="2D2926"/>
                </a:solidFill>
                <a:latin typeface="Georgia" pitchFamily="34" charset="0"/>
                <a:ea typeface="Georgia" pitchFamily="34" charset="-122"/>
                <a:cs typeface="Georgia" pitchFamily="34" charset="-120"/>
              </a:rPr>
              <a:t>Google's NotebookLM popularised LLM-generated podcast conversations, but the conversational design is largely unexamined. What makes a multi-voice discussion cohere — sound like a genuine conversation rather than parallel monologues? What levers does a designer have, and which ones actually matter?</a:t>
            </a:r>
            <a:endParaRPr lang="en-US" sz="1600" dirty="0"/>
          </a:p>
        </p:txBody>
      </p:sp>
      <p:sp>
        <p:nvSpPr>
          <p:cNvPr id="17" name="Text 15"/>
          <p:cNvSpPr/>
          <p:nvPr/>
        </p:nvSpPr>
        <p:spPr>
          <a:xfrm>
            <a:off x="314176" y="4444008"/>
            <a:ext cx="10940564" cy="476250"/>
          </a:xfrm>
          <a:prstGeom prst="rect">
            <a:avLst/>
          </a:prstGeom>
          <a:noFill/>
          <a:ln/>
        </p:spPr>
        <p:txBody>
          <a:bodyPr wrap="square" lIns="0" tIns="0" rIns="0" bIns="0" rtlCol="0" anchor="t"/>
          <a:lstStyle/>
          <a:p>
            <a:pPr algn="l" indent="0" marL="0">
              <a:spcBef>
                <a:spcPts val="400"/>
              </a:spcBef>
              <a:spcAft>
                <a:spcPts val="400"/>
              </a:spcAft>
              <a:buNone/>
            </a:pPr>
            <a:r>
              <a:rPr lang="en-US" sz="1600" dirty="0">
                <a:solidFill>
                  <a:srgbClr val="2D2926"/>
                </a:solidFill>
                <a:latin typeface="Georgia" pitchFamily="34" charset="0"/>
                <a:ea typeface="Georgia" pitchFamily="34" charset="-122"/>
                <a:cs typeface="Georgia" pitchFamily="34" charset="-120"/>
              </a:rPr>
              <a:t>We implement two reading strategies as passage-selection algorithms applied to </a:t>
            </a:r>
            <a:pPr algn="l" indent="0" marL="0">
              <a:spcBef>
                <a:spcPts val="400"/>
              </a:spcBef>
              <a:spcAft>
                <a:spcPts val="400"/>
              </a:spcAft>
              <a:buNone/>
            </a:pPr>
            <a:r>
              <a:rPr lang="en-US" sz="1600" b="1" dirty="0">
                <a:solidFill>
                  <a:srgbClr val="2D2926"/>
                </a:solidFill>
                <a:latin typeface="Georgia" pitchFamily="34" charset="0"/>
                <a:ea typeface="Georgia" pitchFamily="34" charset="-122"/>
                <a:cs typeface="Georgia" pitchFamily="34" charset="-120"/>
              </a:rPr>
              <a:t>15 Victorian novels</a:t>
            </a:r>
            <a:pPr algn="l" indent="0" marL="0">
              <a:spcBef>
                <a:spcPts val="400"/>
              </a:spcBef>
              <a:spcAft>
                <a:spcPts val="400"/>
              </a:spcAft>
              <a:buNone/>
            </a:pPr>
            <a:r>
              <a:rPr lang="en-US" sz="1600" dirty="0">
                <a:solidFill>
                  <a:srgbClr val="2D2926"/>
                </a:solidFill>
                <a:latin typeface="Georgia" pitchFamily="34" charset="0"/>
                <a:ea typeface="Georgia" pitchFamily="34" charset="-122"/>
                <a:cs typeface="Georgia" pitchFamily="34" charset="-120"/>
              </a:rPr>
              <a:t>, then generate structured multi-voice literary discussions from each selection.</a:t>
            </a:r>
            <a:endParaRPr lang="en-US" sz="1600" dirty="0"/>
          </a:p>
        </p:txBody>
      </p:sp>
      <p:sp>
        <p:nvSpPr>
          <p:cNvPr id="18" name="Text 16"/>
          <p:cNvSpPr/>
          <p:nvPr/>
        </p:nvSpPr>
        <p:spPr>
          <a:xfrm>
            <a:off x="314176" y="5021759"/>
            <a:ext cx="3507581" cy="904577"/>
          </a:xfrm>
          <a:prstGeom prst="roundRect">
            <a:avLst>
              <a:gd name="adj" fmla="val 5616"/>
            </a:avLst>
          </a:prstGeom>
          <a:solidFill>
            <a:srgbClr val="EDE5D8"/>
          </a:solidFill>
          <a:ln/>
        </p:spPr>
        <p:txBody>
          <a:bodyPr wrap="square" rtlCol="0" anchor="ctr"/>
          <a:lstStyle/>
          <a:p>
            <a:pPr indent="0" marL="0">
              <a:buNone/>
            </a:pPr>
            <a:endParaRPr lang="en-US" dirty="0"/>
          </a:p>
        </p:txBody>
      </p:sp>
      <p:sp>
        <p:nvSpPr>
          <p:cNvPr id="19" name="Text 17"/>
          <p:cNvSpPr/>
          <p:nvPr/>
        </p:nvSpPr>
        <p:spPr>
          <a:xfrm>
            <a:off x="330866" y="5123259"/>
            <a:ext cx="3474202" cy="466725"/>
          </a:xfrm>
          <a:prstGeom prst="rect">
            <a:avLst/>
          </a:prstGeom>
          <a:noFill/>
          <a:ln/>
        </p:spPr>
        <p:txBody>
          <a:bodyPr wrap="square" lIns="0" tIns="0" rIns="0" bIns="0" rtlCol="0" anchor="t"/>
          <a:lstStyle/>
          <a:p>
            <a:pPr algn="ctr" indent="0" marL="0">
              <a:buNone/>
            </a:pPr>
            <a:r>
              <a:rPr lang="en-US" sz="3200" b="1" dirty="0">
                <a:solidFill>
                  <a:srgbClr val="722F37"/>
                </a:solidFill>
                <a:latin typeface="Arial" pitchFamily="34" charset="0"/>
                <a:ea typeface="Arial" pitchFamily="34" charset="-122"/>
                <a:cs typeface="Arial" pitchFamily="34" charset="-120"/>
              </a:rPr>
              <a:t>15</a:t>
            </a:r>
            <a:endParaRPr lang="en-US" sz="3200" dirty="0"/>
          </a:p>
        </p:txBody>
      </p:sp>
      <p:sp>
        <p:nvSpPr>
          <p:cNvPr id="20" name="Text 18"/>
          <p:cNvSpPr/>
          <p:nvPr/>
        </p:nvSpPr>
        <p:spPr>
          <a:xfrm>
            <a:off x="330866" y="5615285"/>
            <a:ext cx="3474202" cy="209550"/>
          </a:xfrm>
          <a:prstGeom prst="rect">
            <a:avLst/>
          </a:prstGeom>
          <a:noFill/>
          <a:ln/>
        </p:spPr>
        <p:txBody>
          <a:bodyPr wrap="square" lIns="0" tIns="0" rIns="0" bIns="0" rtlCol="0" anchor="t"/>
          <a:lstStyle/>
          <a:p>
            <a:pPr algn="ctr" indent="0" marL="0">
              <a:spcBef>
                <a:spcPts val="200"/>
              </a:spcBef>
              <a:buNone/>
            </a:pPr>
            <a:r>
              <a:rPr lang="en-US" sz="1400" dirty="0">
                <a:solidFill>
                  <a:srgbClr val="7A6E62"/>
                </a:solidFill>
                <a:latin typeface="Arial" pitchFamily="34" charset="0"/>
                <a:ea typeface="Arial" pitchFamily="34" charset="-122"/>
                <a:cs typeface="Arial" pitchFamily="34" charset="-120"/>
              </a:rPr>
              <a:t>novels</a:t>
            </a:r>
            <a:endParaRPr lang="en-US" sz="1400" dirty="0"/>
          </a:p>
        </p:txBody>
      </p:sp>
      <p:sp>
        <p:nvSpPr>
          <p:cNvPr id="21" name="Text 19"/>
          <p:cNvSpPr/>
          <p:nvPr/>
        </p:nvSpPr>
        <p:spPr>
          <a:xfrm>
            <a:off x="3923258" y="5021759"/>
            <a:ext cx="3507730" cy="904577"/>
          </a:xfrm>
          <a:prstGeom prst="roundRect">
            <a:avLst>
              <a:gd name="adj" fmla="val 5616"/>
            </a:avLst>
          </a:prstGeom>
          <a:solidFill>
            <a:srgbClr val="EDE5D8"/>
          </a:solidFill>
          <a:ln/>
        </p:spPr>
        <p:txBody>
          <a:bodyPr wrap="square" rtlCol="0" anchor="ctr"/>
          <a:lstStyle/>
          <a:p>
            <a:pPr indent="0" marL="0">
              <a:buNone/>
            </a:pPr>
            <a:endParaRPr lang="en-US" dirty="0"/>
          </a:p>
        </p:txBody>
      </p:sp>
      <p:sp>
        <p:nvSpPr>
          <p:cNvPr id="22" name="Text 20"/>
          <p:cNvSpPr/>
          <p:nvPr/>
        </p:nvSpPr>
        <p:spPr>
          <a:xfrm>
            <a:off x="3939946" y="5123259"/>
            <a:ext cx="3474354" cy="466725"/>
          </a:xfrm>
          <a:prstGeom prst="rect">
            <a:avLst/>
          </a:prstGeom>
          <a:noFill/>
          <a:ln/>
        </p:spPr>
        <p:txBody>
          <a:bodyPr wrap="square" lIns="0" tIns="0" rIns="0" bIns="0" rtlCol="0" anchor="t"/>
          <a:lstStyle/>
          <a:p>
            <a:pPr algn="ctr" indent="0" marL="0">
              <a:buNone/>
            </a:pPr>
            <a:r>
              <a:rPr lang="en-US" sz="3200" b="1" dirty="0">
                <a:solidFill>
                  <a:srgbClr val="722F37"/>
                </a:solidFill>
                <a:latin typeface="Arial" pitchFamily="34" charset="0"/>
                <a:ea typeface="Arial" pitchFamily="34" charset="-122"/>
                <a:cs typeface="Arial" pitchFamily="34" charset="-120"/>
              </a:rPr>
              <a:t>60,774</a:t>
            </a:r>
            <a:endParaRPr lang="en-US" sz="3200" dirty="0"/>
          </a:p>
        </p:txBody>
      </p:sp>
      <p:sp>
        <p:nvSpPr>
          <p:cNvPr id="23" name="Text 21"/>
          <p:cNvSpPr/>
          <p:nvPr/>
        </p:nvSpPr>
        <p:spPr>
          <a:xfrm>
            <a:off x="3939946" y="5615285"/>
            <a:ext cx="3474354" cy="209550"/>
          </a:xfrm>
          <a:prstGeom prst="rect">
            <a:avLst/>
          </a:prstGeom>
          <a:noFill/>
          <a:ln/>
        </p:spPr>
        <p:txBody>
          <a:bodyPr wrap="square" lIns="0" tIns="0" rIns="0" bIns="0" rtlCol="0" anchor="t"/>
          <a:lstStyle/>
          <a:p>
            <a:pPr algn="ctr" indent="0" marL="0">
              <a:spcBef>
                <a:spcPts val="200"/>
              </a:spcBef>
              <a:buNone/>
            </a:pPr>
            <a:r>
              <a:rPr lang="en-US" sz="1400" dirty="0">
                <a:solidFill>
                  <a:srgbClr val="7A6E62"/>
                </a:solidFill>
                <a:latin typeface="Arial" pitchFamily="34" charset="0"/>
                <a:ea typeface="Arial" pitchFamily="34" charset="-122"/>
                <a:cs typeface="Arial" pitchFamily="34" charset="-120"/>
              </a:rPr>
              <a:t>passages</a:t>
            </a:r>
            <a:endParaRPr lang="en-US" sz="1400" dirty="0"/>
          </a:p>
        </p:txBody>
      </p:sp>
      <p:sp>
        <p:nvSpPr>
          <p:cNvPr id="24" name="Text 22"/>
          <p:cNvSpPr/>
          <p:nvPr/>
        </p:nvSpPr>
        <p:spPr>
          <a:xfrm>
            <a:off x="7532489" y="5021759"/>
            <a:ext cx="3507730" cy="904577"/>
          </a:xfrm>
          <a:prstGeom prst="roundRect">
            <a:avLst>
              <a:gd name="adj" fmla="val 5616"/>
            </a:avLst>
          </a:prstGeom>
          <a:solidFill>
            <a:srgbClr val="EDE5D8"/>
          </a:solidFill>
          <a:ln/>
        </p:spPr>
        <p:txBody>
          <a:bodyPr wrap="square" rtlCol="0" anchor="ctr"/>
          <a:lstStyle/>
          <a:p>
            <a:pPr indent="0" marL="0">
              <a:buNone/>
            </a:pPr>
            <a:endParaRPr lang="en-US" dirty="0"/>
          </a:p>
        </p:txBody>
      </p:sp>
      <p:sp>
        <p:nvSpPr>
          <p:cNvPr id="25" name="Text 23"/>
          <p:cNvSpPr/>
          <p:nvPr/>
        </p:nvSpPr>
        <p:spPr>
          <a:xfrm>
            <a:off x="7549177" y="5123259"/>
            <a:ext cx="3474354" cy="466725"/>
          </a:xfrm>
          <a:prstGeom prst="rect">
            <a:avLst/>
          </a:prstGeom>
          <a:noFill/>
          <a:ln/>
        </p:spPr>
        <p:txBody>
          <a:bodyPr wrap="square" lIns="0" tIns="0" rIns="0" bIns="0" rtlCol="0" anchor="t"/>
          <a:lstStyle/>
          <a:p>
            <a:pPr algn="ctr" indent="0" marL="0">
              <a:buNone/>
            </a:pPr>
            <a:r>
              <a:rPr lang="en-US" sz="3200" b="1" dirty="0">
                <a:solidFill>
                  <a:srgbClr val="722F37"/>
                </a:solidFill>
                <a:latin typeface="Arial" pitchFamily="34" charset="0"/>
                <a:ea typeface="Arial" pitchFamily="34" charset="-122"/>
                <a:cs typeface="Arial" pitchFamily="34" charset="-120"/>
              </a:rPr>
              <a:t>180</a:t>
            </a:r>
            <a:endParaRPr lang="en-US" sz="3200" dirty="0"/>
          </a:p>
        </p:txBody>
      </p:sp>
      <p:sp>
        <p:nvSpPr>
          <p:cNvPr id="26" name="Text 24"/>
          <p:cNvSpPr/>
          <p:nvPr/>
        </p:nvSpPr>
        <p:spPr>
          <a:xfrm>
            <a:off x="7549177" y="5615285"/>
            <a:ext cx="3474354" cy="209550"/>
          </a:xfrm>
          <a:prstGeom prst="rect">
            <a:avLst/>
          </a:prstGeom>
          <a:noFill/>
          <a:ln/>
        </p:spPr>
        <p:txBody>
          <a:bodyPr wrap="square" lIns="0" tIns="0" rIns="0" bIns="0" rtlCol="0" anchor="t"/>
          <a:lstStyle/>
          <a:p>
            <a:pPr algn="ctr" indent="0" marL="0">
              <a:spcBef>
                <a:spcPts val="200"/>
              </a:spcBef>
              <a:buNone/>
            </a:pPr>
            <a:r>
              <a:rPr lang="en-US" sz="1400" dirty="0">
                <a:solidFill>
                  <a:srgbClr val="7A6E62"/>
                </a:solidFill>
                <a:latin typeface="Arial" pitchFamily="34" charset="0"/>
                <a:ea typeface="Arial" pitchFamily="34" charset="-122"/>
                <a:cs typeface="Arial" pitchFamily="34" charset="-120"/>
              </a:rPr>
              <a:t>conditions</a:t>
            </a:r>
            <a:endParaRPr lang="en-US" sz="1400" dirty="0"/>
          </a:p>
        </p:txBody>
      </p:sp>
      <p:sp>
        <p:nvSpPr>
          <p:cNvPr id="27" name="Text 25"/>
          <p:cNvSpPr/>
          <p:nvPr/>
        </p:nvSpPr>
        <p:spPr>
          <a:xfrm>
            <a:off x="314176" y="6027837"/>
            <a:ext cx="10940564" cy="200025"/>
          </a:xfrm>
          <a:prstGeom prst="rect">
            <a:avLst/>
          </a:prstGeom>
          <a:noFill/>
          <a:ln/>
        </p:spPr>
        <p:txBody>
          <a:bodyPr wrap="square" lIns="0" tIns="0" rIns="0" bIns="0" rtlCol="0" anchor="t"/>
          <a:lstStyle/>
          <a:p>
            <a:pPr algn="l" indent="0" marL="0">
              <a:spcBef>
                <a:spcPts val="400"/>
              </a:spcBef>
              <a:spcAft>
                <a:spcPts val="400"/>
              </a:spcAft>
              <a:buNone/>
            </a:pPr>
            <a:r>
              <a:rPr lang="en-US" sz="1400" dirty="0">
                <a:solidFill>
                  <a:srgbClr val="7A6E62"/>
                </a:solidFill>
                <a:latin typeface="Georgia" pitchFamily="34" charset="0"/>
                <a:ea typeface="Georgia" pitchFamily="34" charset="-122"/>
                <a:cs typeface="Georgia" pitchFamily="34" charset="-120"/>
              </a:rPr>
              <a:t>Seven authors (Dickens, Eliot, Gaskell, Forster, Collins, Gissing, Oliphant), seven decades (1850–1924).</a:t>
            </a:r>
            <a:endParaRPr lang="en-US" sz="1400" dirty="0"/>
          </a:p>
        </p:txBody>
      </p:sp>
      <p:sp>
        <p:nvSpPr>
          <p:cNvPr id="28" name="Text 26"/>
          <p:cNvSpPr/>
          <p:nvPr/>
        </p:nvSpPr>
        <p:spPr>
          <a:xfrm>
            <a:off x="314176" y="6304062"/>
            <a:ext cx="10726043" cy="1104900"/>
          </a:xfrm>
          <a:prstGeom prst="rect">
            <a:avLst/>
          </a:prstGeom>
          <a:solidFill>
            <a:srgbClr val="F0E2C0">
              <a:alpha val="3000"/>
            </a:srgbClr>
          </a:solidFill>
          <a:ln/>
        </p:spPr>
        <p:txBody>
          <a:bodyPr wrap="square" rtlCol="0" anchor="ctr"/>
          <a:lstStyle/>
          <a:p>
            <a:pPr indent="0" marL="0">
              <a:buNone/>
            </a:pPr>
            <a:endParaRPr lang="en-US" dirty="0"/>
          </a:p>
        </p:txBody>
      </p:sp>
      <p:sp>
        <p:nvSpPr>
          <p:cNvPr id="29" name="Shape 27"/>
          <p:cNvSpPr/>
          <p:nvPr/>
        </p:nvSpPr>
        <p:spPr>
          <a:xfrm>
            <a:off x="337989" y="6304062"/>
            <a:ext cx="0" cy="1104900"/>
          </a:xfrm>
          <a:prstGeom prst="line">
            <a:avLst/>
          </a:prstGeom>
          <a:noFill/>
          <a:ln w="47625">
            <a:solidFill>
              <a:srgbClr val="B8860B"/>
            </a:solidFill>
            <a:prstDash val="solid"/>
          </a:ln>
        </p:spPr>
      </p:sp>
      <p:sp>
        <p:nvSpPr>
          <p:cNvPr id="30" name="Text 28"/>
          <p:cNvSpPr/>
          <p:nvPr/>
        </p:nvSpPr>
        <p:spPr>
          <a:xfrm>
            <a:off x="463302" y="6380262"/>
            <a:ext cx="10684925" cy="714375"/>
          </a:xfrm>
          <a:prstGeom prst="rect">
            <a:avLst/>
          </a:prstGeom>
          <a:noFill/>
          <a:ln/>
        </p:spPr>
        <p:txBody>
          <a:bodyPr wrap="square" lIns="0" tIns="0" rIns="0" bIns="0" rtlCol="0" anchor="t"/>
          <a:lstStyle/>
          <a:p>
            <a:pPr algn="l" indent="0" marL="0">
              <a:spcAft>
                <a:spcPts val="300"/>
              </a:spcAft>
              <a:buNone/>
            </a:pPr>
            <a:r>
              <a:rPr lang="en-US" sz="1600" i="1" dirty="0">
                <a:solidFill>
                  <a:srgbClr val="2D2926"/>
                </a:solidFill>
                <a:latin typeface="Georgia" pitchFamily="34" charset="0"/>
                <a:ea typeface="Georgia" pitchFamily="34" charset="-122"/>
                <a:cs typeface="Georgia" pitchFamily="34" charset="-120"/>
              </a:rPr>
              <a:t>"And all that night the coffin stands ready by the old portmanteau; and the lonely figure on the bed, whose path in life has lain through five and forty years, lies there with no more track behind him that any one can trace than a deserted infant."</a:t>
            </a:r>
            <a:endParaRPr lang="en-US" sz="1600" dirty="0"/>
          </a:p>
        </p:txBody>
      </p:sp>
      <p:sp>
        <p:nvSpPr>
          <p:cNvPr id="31" name="Text 29"/>
          <p:cNvSpPr/>
          <p:nvPr/>
        </p:nvSpPr>
        <p:spPr>
          <a:xfrm>
            <a:off x="463302" y="7132737"/>
            <a:ext cx="10684925" cy="200025"/>
          </a:xfrm>
          <a:prstGeom prst="rect">
            <a:avLst/>
          </a:prstGeom>
          <a:noFill/>
          <a:ln/>
        </p:spPr>
        <p:txBody>
          <a:bodyPr wrap="square" lIns="0" tIns="0" rIns="0" bIns="0" rtlCol="0" anchor="t"/>
          <a:lstStyle/>
          <a:p>
            <a:pPr algn="l" indent="0" marL="0">
              <a:buNone/>
            </a:pPr>
            <a:r>
              <a:rPr lang="en-US" sz="1400" dirty="0">
                <a:solidFill>
                  <a:srgbClr val="7A6E62"/>
                </a:solidFill>
                <a:latin typeface="Georgia" pitchFamily="34" charset="0"/>
                <a:ea typeface="Georgia" pitchFamily="34" charset="-122"/>
                <a:cs typeface="Georgia" pitchFamily="34" charset="-120"/>
              </a:rPr>
              <a:t>— Bleak House, Ch. 11 — The death of Nemo</a:t>
            </a:r>
            <a:endParaRPr lang="en-US" sz="1400" dirty="0"/>
          </a:p>
        </p:txBody>
      </p:sp>
      <p:sp>
        <p:nvSpPr>
          <p:cNvPr id="32" name="Text 30"/>
          <p:cNvSpPr/>
          <p:nvPr/>
        </p:nvSpPr>
        <p:spPr>
          <a:xfrm>
            <a:off x="177701" y="7748588"/>
            <a:ext cx="10998994" cy="6314629"/>
          </a:xfrm>
          <a:prstGeom prst="roundRect">
            <a:avLst>
              <a:gd name="adj" fmla="val 804"/>
            </a:avLst>
          </a:prstGeom>
          <a:solidFill>
            <a:srgbClr val="FFFFFF"/>
          </a:solidFill>
          <a:ln w="9525">
            <a:solidFill>
              <a:srgbClr val="E0DADA"/>
            </a:solidFill>
          </a:ln>
          <a:effectLst>
            <a:outerShdw sx="100000" sy="100000" kx="0" ky="0" algn="bl" rotWithShape="0" blurRad="101600" dist="17960" dir="2700000">
              <a:srgbClr val="000000">
                <a:alpha val="4000"/>
              </a:srgbClr>
            </a:outerShdw>
          </a:effectLst>
        </p:spPr>
        <p:txBody>
          <a:bodyPr wrap="square" rtlCol="0" anchor="ctr"/>
          <a:lstStyle/>
          <a:p>
            <a:pPr indent="0" marL="0">
              <a:buNone/>
            </a:pPr>
            <a:endParaRPr lang="en-US" dirty="0"/>
          </a:p>
        </p:txBody>
      </p:sp>
      <p:sp>
        <p:nvSpPr>
          <p:cNvPr id="33" name="Text 31"/>
          <p:cNvSpPr/>
          <p:nvPr/>
        </p:nvSpPr>
        <p:spPr>
          <a:xfrm>
            <a:off x="314176" y="7885063"/>
            <a:ext cx="10940564" cy="371475"/>
          </a:xfrm>
          <a:prstGeom prst="rect">
            <a:avLst/>
          </a:prstGeom>
          <a:noFill/>
          <a:ln/>
        </p:spPr>
        <p:txBody>
          <a:bodyPr wrap="square" lIns="0" tIns="0" rIns="0" bIns="0" rtlCol="0" anchor="t"/>
          <a:lstStyle/>
          <a:p>
            <a:pPr algn="l" indent="0" marL="0">
              <a:buNone/>
            </a:pPr>
            <a:r>
              <a:rPr lang="en-US" sz="2600" b="1" dirty="0">
                <a:solidFill>
                  <a:srgbClr val="722F37"/>
                </a:solidFill>
                <a:latin typeface="Arial" pitchFamily="34" charset="0"/>
                <a:ea typeface="Arial" pitchFamily="34" charset="-122"/>
                <a:cs typeface="Arial" pitchFamily="34" charset="-120"/>
              </a:rPr>
              <a:t>Min-Cost Flow Selection</a:t>
            </a:r>
            <a:endParaRPr lang="en-US" sz="2600" dirty="0"/>
          </a:p>
        </p:txBody>
      </p:sp>
      <p:sp>
        <p:nvSpPr>
          <p:cNvPr id="34" name="Text 32"/>
          <p:cNvSpPr/>
          <p:nvPr/>
        </p:nvSpPr>
        <p:spPr>
          <a:xfrm>
            <a:off x="314176" y="8281839"/>
            <a:ext cx="1777901" cy="38100"/>
          </a:xfrm>
          <a:prstGeom prst="rect">
            <a:avLst/>
          </a:prstGeom>
          <a:solidFill>
            <a:srgbClr val="B8860B"/>
          </a:solidFill>
          <a:ln/>
        </p:spPr>
        <p:txBody>
          <a:bodyPr wrap="square" rtlCol="0" anchor="ctr"/>
          <a:lstStyle/>
          <a:p>
            <a:pPr indent="0" marL="0">
              <a:buNone/>
            </a:pPr>
            <a:endParaRPr lang="en-US" dirty="0"/>
          </a:p>
        </p:txBody>
      </p:sp>
      <p:sp>
        <p:nvSpPr>
          <p:cNvPr id="35" name="Text 33"/>
          <p:cNvSpPr/>
          <p:nvPr/>
        </p:nvSpPr>
        <p:spPr>
          <a:xfrm>
            <a:off x="314176" y="8396139"/>
            <a:ext cx="10940564" cy="200025"/>
          </a:xfrm>
          <a:prstGeom prst="rect">
            <a:avLst/>
          </a:prstGeom>
          <a:noFill/>
          <a:ln/>
        </p:spPr>
        <p:txBody>
          <a:bodyPr wrap="square" lIns="0" tIns="0" rIns="0" bIns="0" rtlCol="0" anchor="t"/>
          <a:lstStyle/>
          <a:p>
            <a:pPr algn="l" indent="0" marL="0">
              <a:spcAft>
                <a:spcPts val="600"/>
              </a:spcAft>
              <a:buNone/>
            </a:pPr>
            <a:r>
              <a:rPr lang="en-US" sz="1400" dirty="0">
                <a:solidFill>
                  <a:srgbClr val="7A6E62"/>
                </a:solidFill>
                <a:latin typeface="Georgia" pitchFamily="34" charset="0"/>
                <a:ea typeface="Georgia" pitchFamily="34" charset="-122"/>
                <a:cs typeface="Georgia" pitchFamily="34" charset="-120"/>
              </a:rPr>
              <a:t>Passages flow through enrichment dimensions and expert demand nodes to episode segments. Every arc is inspectable and adjustable.</a:t>
            </a:r>
            <a:endParaRPr lang="en-US" sz="1400" dirty="0"/>
          </a:p>
        </p:txBody>
      </p:sp>
      <p:pic>
        <p:nvPicPr>
          <p:cNvPr id="36" name="Image 0" descr="/Users/brewc/PycharmProjects/BleakHouse/poster/workspace/flow_diagram.png">    </p:cNvPr>
          <p:cNvPicPr>
            <a:picLocks noChangeAspect="1"/>
          </p:cNvPicPr>
          <p:nvPr/>
        </p:nvPicPr>
        <p:blipFill>
          <a:blip r:embed="rId1"/>
          <a:stretch>
            <a:fillRect/>
          </a:stretch>
        </p:blipFill>
        <p:spPr>
          <a:xfrm>
            <a:off x="314176" y="8672364"/>
            <a:ext cx="10726043" cy="3555950"/>
          </a:xfrm>
          <a:prstGeom prst="rect">
            <a:avLst/>
          </a:prstGeom>
        </p:spPr>
      </p:pic>
      <p:sp>
        <p:nvSpPr>
          <p:cNvPr id="37" name="Text 34"/>
          <p:cNvSpPr/>
          <p:nvPr/>
        </p:nvSpPr>
        <p:spPr>
          <a:xfrm>
            <a:off x="314176" y="12342614"/>
            <a:ext cx="10940564" cy="295275"/>
          </a:xfrm>
          <a:prstGeom prst="rect">
            <a:avLst/>
          </a:prstGeom>
          <a:noFill/>
          <a:ln/>
        </p:spPr>
        <p:txBody>
          <a:bodyPr wrap="square" lIns="0" tIns="0" rIns="0" bIns="0" rtlCol="0" anchor="t"/>
          <a:lstStyle/>
          <a:p>
            <a:pPr algn="l" indent="0" marL="0">
              <a:spcBef>
                <a:spcPts val="600"/>
              </a:spcBef>
              <a:spcAft>
                <a:spcPts val="200"/>
              </a:spcAft>
              <a:buNone/>
            </a:pPr>
            <a:r>
              <a:rPr lang="en-US" sz="2000" b="1" dirty="0">
                <a:solidFill>
                  <a:srgbClr val="722F37"/>
                </a:solidFill>
                <a:latin typeface="Arial" pitchFamily="34" charset="0"/>
                <a:ea typeface="Arial" pitchFamily="34" charset="-122"/>
                <a:cs typeface="Arial" pitchFamily="34" charset="-120"/>
              </a:rPr>
              <a:t>Two Reading Strategies</a:t>
            </a:r>
            <a:endParaRPr lang="en-US" sz="2000" dirty="0"/>
          </a:p>
        </p:txBody>
      </p:sp>
      <p:sp>
        <p:nvSpPr>
          <p:cNvPr id="38" name="Text 35"/>
          <p:cNvSpPr/>
          <p:nvPr/>
        </p:nvSpPr>
        <p:spPr>
          <a:xfrm>
            <a:off x="314176" y="12688639"/>
            <a:ext cx="10940564" cy="438150"/>
          </a:xfrm>
          <a:prstGeom prst="rect">
            <a:avLst/>
          </a:prstGeom>
          <a:noFill/>
          <a:ln/>
        </p:spPr>
        <p:txBody>
          <a:bodyPr wrap="square" lIns="0" tIns="0" rIns="0" bIns="0" rtlCol="0" anchor="t"/>
          <a:lstStyle/>
          <a:p>
            <a:pPr algn="l" indent="0" marL="0">
              <a:spcBef>
                <a:spcPts val="400"/>
              </a:spcBef>
              <a:spcAft>
                <a:spcPts val="400"/>
              </a:spcAft>
              <a:buNone/>
            </a:pPr>
            <a:r>
              <a:rPr lang="en-US" sz="1500" b="1" dirty="0">
                <a:solidFill>
                  <a:srgbClr val="2D2926"/>
                </a:solidFill>
                <a:latin typeface="Georgia" pitchFamily="34" charset="0"/>
                <a:ea typeface="Georgia" pitchFamily="34" charset="-122"/>
                <a:cs typeface="Georgia" pitchFamily="34" charset="-120"/>
              </a:rPr>
              <a:t>Synoptic</a:t>
            </a:r>
            <a:pPr algn="l" indent="0" marL="0">
              <a:spcBef>
                <a:spcPts val="400"/>
              </a:spcBef>
              <a:spcAft>
                <a:spcPts val="400"/>
              </a:spcAft>
              <a:buNone/>
            </a:pPr>
            <a:r>
              <a:rPr lang="en-US" sz="1500" dirty="0">
                <a:solidFill>
                  <a:srgbClr val="2D2926"/>
                </a:solidFill>
                <a:latin typeface="Georgia" pitchFamily="34" charset="0"/>
                <a:ea typeface="Georgia" pitchFamily="34" charset="-122"/>
                <a:cs typeface="Georgia" pitchFamily="34" charset="-120"/>
              </a:rPr>
              <a:t> (min-cost flow): </a:t>
            </a:r>
            <a:pPr algn="l" indent="0" marL="0">
              <a:spcBef>
                <a:spcPts val="400"/>
              </a:spcBef>
              <a:spcAft>
                <a:spcPts val="400"/>
              </a:spcAft>
              <a:buNone/>
            </a:pPr>
            <a:r>
              <a:rPr lang="en-US" sz="1500" dirty="0">
                <a:solidFill>
                  <a:srgbClr val="2D2926"/>
                </a:solidFill>
                <a:latin typeface="Georgia" pitchFamily="34" charset="0"/>
                <a:ea typeface="Georgia" pitchFamily="34" charset="-122"/>
                <a:cs typeface="Georgia" pitchFamily="34" charset="-120"/>
              </a:rPr>
              <a:t> passages from 28 chapters. Favours character development (+8.3 pp) and plot (+10.2 pp). Zero LLM tokens, &lt;1 s.</a:t>
            </a:r>
            <a:endParaRPr lang="en-US" sz="1500" dirty="0"/>
          </a:p>
        </p:txBody>
      </p:sp>
      <p:sp>
        <p:nvSpPr>
          <p:cNvPr id="39" name="Text 36"/>
          <p:cNvSpPr/>
          <p:nvPr/>
        </p:nvSpPr>
        <p:spPr>
          <a:xfrm>
            <a:off x="314176" y="13177540"/>
            <a:ext cx="10940564" cy="438150"/>
          </a:xfrm>
          <a:prstGeom prst="rect">
            <a:avLst/>
          </a:prstGeom>
          <a:noFill/>
          <a:ln/>
        </p:spPr>
        <p:txBody>
          <a:bodyPr wrap="square" lIns="0" tIns="0" rIns="0" bIns="0" rtlCol="0" anchor="t"/>
          <a:lstStyle/>
          <a:p>
            <a:pPr algn="l" indent="0" marL="0">
              <a:spcBef>
                <a:spcPts val="400"/>
              </a:spcBef>
              <a:spcAft>
                <a:spcPts val="400"/>
              </a:spcAft>
              <a:buNone/>
            </a:pPr>
            <a:r>
              <a:rPr lang="en-US" sz="1500" b="1" dirty="0">
                <a:solidFill>
                  <a:srgbClr val="2D2926"/>
                </a:solidFill>
                <a:latin typeface="Georgia" pitchFamily="34" charset="0"/>
                <a:ea typeface="Georgia" pitchFamily="34" charset="-122"/>
                <a:cs typeface="Georgia" pitchFamily="34" charset="-120"/>
              </a:rPr>
              <a:t>Analytical</a:t>
            </a:r>
            <a:pPr algn="l" indent="0" marL="0">
              <a:spcBef>
                <a:spcPts val="400"/>
              </a:spcBef>
              <a:spcAft>
                <a:spcPts val="400"/>
              </a:spcAft>
              <a:buNone/>
            </a:pPr>
            <a:r>
              <a:rPr lang="en-US" sz="1500" dirty="0">
                <a:solidFill>
                  <a:srgbClr val="2D2926"/>
                </a:solidFill>
                <a:latin typeface="Georgia" pitchFamily="34" charset="0"/>
                <a:ea typeface="Georgia" pitchFamily="34" charset="-122"/>
                <a:cs typeface="Georgia" pitchFamily="34" charset="-120"/>
              </a:rPr>
              <a:t> (embeddings + LLM curation): </a:t>
            </a:r>
            <a:pPr algn="l" indent="0" marL="0">
              <a:spcBef>
                <a:spcPts val="400"/>
              </a:spcBef>
              <a:spcAft>
                <a:spcPts val="400"/>
              </a:spcAft>
              <a:buNone/>
            </a:pPr>
            <a:r>
              <a:rPr lang="en-US" sz="1500" dirty="0">
                <a:solidFill>
                  <a:srgbClr val="2D2926"/>
                </a:solidFill>
                <a:latin typeface="Georgia" pitchFamily="34" charset="0"/>
                <a:ea typeface="Georgia" pitchFamily="34" charset="-122"/>
                <a:cs typeface="Georgia" pitchFamily="34" charset="-120"/>
              </a:rPr>
              <a:t> passages from 20 chapters. Favours social critique (+13.4 pp) and thematic depth (+6.9 pp).</a:t>
            </a:r>
            <a:endParaRPr lang="en-US" sz="1500" dirty="0"/>
          </a:p>
        </p:txBody>
      </p:sp>
      <p:sp>
        <p:nvSpPr>
          <p:cNvPr id="40" name="Text 37"/>
          <p:cNvSpPr/>
          <p:nvPr/>
        </p:nvSpPr>
        <p:spPr>
          <a:xfrm>
            <a:off x="314176" y="13666440"/>
            <a:ext cx="10940564" cy="209550"/>
          </a:xfrm>
          <a:prstGeom prst="rect">
            <a:avLst/>
          </a:prstGeom>
          <a:noFill/>
          <a:ln/>
        </p:spPr>
        <p:txBody>
          <a:bodyPr wrap="square" lIns="0" tIns="0" rIns="0" bIns="0" rtlCol="0" anchor="t"/>
          <a:lstStyle/>
          <a:p>
            <a:pPr algn="l" indent="0" marL="0">
              <a:spcBef>
                <a:spcPts val="400"/>
              </a:spcBef>
              <a:spcAft>
                <a:spcPts val="400"/>
              </a:spcAft>
              <a:buNone/>
            </a:pPr>
            <a:r>
              <a:rPr lang="en-US" sz="1500" b="1" dirty="0">
                <a:solidFill>
                  <a:srgbClr val="2D2926"/>
                </a:solidFill>
                <a:latin typeface="Georgia" pitchFamily="34" charset="0"/>
                <a:ea typeface="Georgia" pitchFamily="34" charset="-122"/>
                <a:cs typeface="Georgia" pitchFamily="34" charset="-120"/>
              </a:rPr>
              <a:t>No-passages:</a:t>
            </a:r>
            <a:pPr algn="l" indent="0" marL="0">
              <a:spcBef>
                <a:spcPts val="400"/>
              </a:spcBef>
              <a:spcAft>
                <a:spcPts val="400"/>
              </a:spcAft>
              <a:buNone/>
            </a:pPr>
            <a:r>
              <a:rPr lang="en-US" sz="1500" dirty="0">
                <a:solidFill>
                  <a:srgbClr val="2D2926"/>
                </a:solidFill>
                <a:latin typeface="Georgia" pitchFamily="34" charset="0"/>
                <a:ea typeface="Georgia" pitchFamily="34" charset="-122"/>
                <a:cs typeface="Georgia" pitchFamily="34" charset="-120"/>
              </a:rPr>
              <a:t> LLM discusses from prior knowledge alone.</a:t>
            </a:r>
            <a:endParaRPr lang="en-US" sz="1500" dirty="0"/>
          </a:p>
        </p:txBody>
      </p:sp>
      <p:sp>
        <p:nvSpPr>
          <p:cNvPr id="41" name="Text 38"/>
          <p:cNvSpPr/>
          <p:nvPr/>
        </p:nvSpPr>
        <p:spPr>
          <a:xfrm>
            <a:off x="177701" y="14190166"/>
            <a:ext cx="10998994" cy="1838027"/>
          </a:xfrm>
          <a:prstGeom prst="roundRect">
            <a:avLst>
              <a:gd name="adj" fmla="val 2764"/>
            </a:avLst>
          </a:prstGeom>
          <a:solidFill>
            <a:srgbClr val="FFFFFF"/>
          </a:solidFill>
          <a:ln w="9525">
            <a:solidFill>
              <a:srgbClr val="E0DADA"/>
            </a:solidFill>
          </a:ln>
          <a:effectLst>
            <a:outerShdw sx="100000" sy="100000" kx="0" ky="0" algn="bl" rotWithShape="0" blurRad="101600" dist="17960" dir="2700000">
              <a:srgbClr val="000000">
                <a:alpha val="4000"/>
              </a:srgbClr>
            </a:outerShdw>
          </a:effectLst>
        </p:spPr>
        <p:txBody>
          <a:bodyPr wrap="square" rtlCol="0" anchor="ctr"/>
          <a:lstStyle/>
          <a:p>
            <a:pPr indent="0" marL="0">
              <a:buNone/>
            </a:pPr>
            <a:endParaRPr lang="en-US" dirty="0"/>
          </a:p>
        </p:txBody>
      </p:sp>
      <p:sp>
        <p:nvSpPr>
          <p:cNvPr id="42" name="Text 39"/>
          <p:cNvSpPr/>
          <p:nvPr/>
        </p:nvSpPr>
        <p:spPr>
          <a:xfrm>
            <a:off x="314176" y="14326642"/>
            <a:ext cx="10940564" cy="371475"/>
          </a:xfrm>
          <a:prstGeom prst="rect">
            <a:avLst/>
          </a:prstGeom>
          <a:noFill/>
          <a:ln/>
        </p:spPr>
        <p:txBody>
          <a:bodyPr wrap="square" lIns="0" tIns="0" rIns="0" bIns="0" rtlCol="0" anchor="t"/>
          <a:lstStyle/>
          <a:p>
            <a:pPr algn="l" indent="0" marL="0">
              <a:buNone/>
            </a:pPr>
            <a:r>
              <a:rPr lang="en-US" sz="2600" b="1" dirty="0">
                <a:solidFill>
                  <a:srgbClr val="722F37"/>
                </a:solidFill>
                <a:latin typeface="Arial" pitchFamily="34" charset="0"/>
                <a:ea typeface="Arial" pitchFamily="34" charset="-122"/>
                <a:cs typeface="Arial" pitchFamily="34" charset="-120"/>
              </a:rPr>
              <a:t>Why Not RAG?</a:t>
            </a:r>
            <a:endParaRPr lang="en-US" sz="2600" dirty="0"/>
          </a:p>
        </p:txBody>
      </p:sp>
      <p:sp>
        <p:nvSpPr>
          <p:cNvPr id="43" name="Text 40"/>
          <p:cNvSpPr/>
          <p:nvPr/>
        </p:nvSpPr>
        <p:spPr>
          <a:xfrm>
            <a:off x="314176" y="14723418"/>
            <a:ext cx="1777901" cy="38100"/>
          </a:xfrm>
          <a:prstGeom prst="rect">
            <a:avLst/>
          </a:prstGeom>
          <a:solidFill>
            <a:srgbClr val="B8860B"/>
          </a:solidFill>
          <a:ln/>
        </p:spPr>
        <p:txBody>
          <a:bodyPr wrap="square" rtlCol="0" anchor="ctr"/>
          <a:lstStyle/>
          <a:p>
            <a:pPr indent="0" marL="0">
              <a:buNone/>
            </a:pPr>
            <a:endParaRPr lang="en-US" dirty="0"/>
          </a:p>
        </p:txBody>
      </p:sp>
      <p:sp>
        <p:nvSpPr>
          <p:cNvPr id="44" name="Text 41"/>
          <p:cNvSpPr/>
          <p:nvPr/>
        </p:nvSpPr>
        <p:spPr>
          <a:xfrm>
            <a:off x="314176" y="14837718"/>
            <a:ext cx="10940564" cy="476250"/>
          </a:xfrm>
          <a:prstGeom prst="rect">
            <a:avLst/>
          </a:prstGeom>
          <a:noFill/>
          <a:ln/>
        </p:spPr>
        <p:txBody>
          <a:bodyPr wrap="square" lIns="0" tIns="0" rIns="0" bIns="0" rtlCol="0" anchor="t"/>
          <a:lstStyle/>
          <a:p>
            <a:pPr algn="l" indent="0" marL="0">
              <a:spcBef>
                <a:spcPts val="400"/>
              </a:spcBef>
              <a:spcAft>
                <a:spcPts val="400"/>
              </a:spcAft>
              <a:buNone/>
            </a:pPr>
            <a:r>
              <a:rPr lang="en-US" sz="1600" dirty="0">
                <a:solidFill>
                  <a:srgbClr val="2D2926"/>
                </a:solidFill>
                <a:latin typeface="Georgia" pitchFamily="34" charset="0"/>
                <a:ea typeface="Georgia" pitchFamily="34" charset="-122"/>
                <a:cs typeface="Georgia" pitchFamily="34" charset="-120"/>
              </a:rPr>
              <a:t>Standard RAG retrieves by embedding similarity and feeds results to an LLM. Effective but opaque: the user cannot see </a:t>
            </a:r>
            <a:pPr algn="l" indent="0" marL="0">
              <a:spcBef>
                <a:spcPts val="400"/>
              </a:spcBef>
              <a:spcAft>
                <a:spcPts val="400"/>
              </a:spcAft>
              <a:buNone/>
            </a:pPr>
            <a:r>
              <a:rPr lang="en-US" sz="1600" i="1" dirty="0">
                <a:solidFill>
                  <a:srgbClr val="2D2926"/>
                </a:solidFill>
                <a:latin typeface="Georgia" pitchFamily="34" charset="0"/>
                <a:ea typeface="Georgia" pitchFamily="34" charset="-122"/>
                <a:cs typeface="Georgia" pitchFamily="34" charset="-120"/>
              </a:rPr>
              <a:t>why</a:t>
            </a:r>
            <a:pPr algn="l" indent="0" marL="0">
              <a:spcBef>
                <a:spcPts val="400"/>
              </a:spcBef>
              <a:spcAft>
                <a:spcPts val="400"/>
              </a:spcAft>
              <a:buNone/>
            </a:pPr>
            <a:r>
              <a:rPr lang="en-US" sz="1600" dirty="0">
                <a:solidFill>
                  <a:srgbClr val="2D2926"/>
                </a:solidFill>
                <a:latin typeface="Georgia" pitchFamily="34" charset="0"/>
                <a:ea typeface="Georgia" pitchFamily="34" charset="-122"/>
                <a:cs typeface="Georgia" pitchFamily="34" charset="-120"/>
              </a:rPr>
              <a:t> a passage was selected, cannot adjust criteria, and cannot explore how different priorities reshape the output.</a:t>
            </a:r>
            <a:endParaRPr lang="en-US" sz="1600" dirty="0"/>
          </a:p>
        </p:txBody>
      </p:sp>
      <p:sp>
        <p:nvSpPr>
          <p:cNvPr id="45" name="Text 42"/>
          <p:cNvSpPr/>
          <p:nvPr/>
        </p:nvSpPr>
        <p:spPr>
          <a:xfrm>
            <a:off x="314176" y="15364718"/>
            <a:ext cx="10940564" cy="476250"/>
          </a:xfrm>
          <a:prstGeom prst="rect">
            <a:avLst/>
          </a:prstGeom>
          <a:noFill/>
          <a:ln/>
        </p:spPr>
        <p:txBody>
          <a:bodyPr wrap="square" lIns="0" tIns="0" rIns="0" bIns="0" rtlCol="0" anchor="t"/>
          <a:lstStyle/>
          <a:p>
            <a:pPr algn="l" indent="0" marL="0">
              <a:spcBef>
                <a:spcPts val="400"/>
              </a:spcBef>
              <a:spcAft>
                <a:spcPts val="400"/>
              </a:spcAft>
              <a:buNone/>
            </a:pPr>
            <a:r>
              <a:rPr lang="en-US" sz="1600" dirty="0">
                <a:solidFill>
                  <a:srgbClr val="2D2926"/>
                </a:solidFill>
                <a:latin typeface="Georgia" pitchFamily="34" charset="0"/>
                <a:ea typeface="Georgia" pitchFamily="34" charset="-122"/>
                <a:cs typeface="Georgia" pitchFamily="34" charset="-120"/>
              </a:rPr>
              <a:t>Min-cost flow makes every decision visible as a </a:t>
            </a:r>
            <a:pPr algn="l" indent="0" marL="0">
              <a:spcBef>
                <a:spcPts val="400"/>
              </a:spcBef>
              <a:spcAft>
                <a:spcPts val="400"/>
              </a:spcAft>
              <a:buNone/>
            </a:pPr>
            <a:r>
              <a:rPr lang="en-US" sz="1600" b="1" dirty="0">
                <a:solidFill>
                  <a:srgbClr val="2D2926"/>
                </a:solidFill>
                <a:latin typeface="Georgia" pitchFamily="34" charset="0"/>
                <a:ea typeface="Georgia" pitchFamily="34" charset="-122"/>
                <a:cs typeface="Georgia" pitchFamily="34" charset="-120"/>
              </a:rPr>
              <a:t>cost</a:t>
            </a:r>
            <a:pPr algn="l" indent="0" marL="0">
              <a:spcBef>
                <a:spcPts val="400"/>
              </a:spcBef>
              <a:spcAft>
                <a:spcPts val="400"/>
              </a:spcAft>
              <a:buNone/>
            </a:pPr>
            <a:r>
              <a:rPr lang="en-US" sz="1600" dirty="0">
                <a:solidFill>
                  <a:srgbClr val="2D2926"/>
                </a:solidFill>
                <a:latin typeface="Georgia" pitchFamily="34" charset="0"/>
                <a:ea typeface="Georgia" pitchFamily="34" charset="-122"/>
                <a:cs typeface="Georgia" pitchFamily="34" charset="-120"/>
              </a:rPr>
              <a:t>, a </a:t>
            </a:r>
            <a:pPr algn="l" indent="0" marL="0">
              <a:spcBef>
                <a:spcPts val="400"/>
              </a:spcBef>
              <a:spcAft>
                <a:spcPts val="400"/>
              </a:spcAft>
              <a:buNone/>
            </a:pPr>
            <a:r>
              <a:rPr lang="en-US" sz="1600" b="1" dirty="0">
                <a:solidFill>
                  <a:srgbClr val="2D2926"/>
                </a:solidFill>
                <a:latin typeface="Georgia" pitchFamily="34" charset="0"/>
                <a:ea typeface="Georgia" pitchFamily="34" charset="-122"/>
                <a:cs typeface="Georgia" pitchFamily="34" charset="-120"/>
              </a:rPr>
              <a:t>flow</a:t>
            </a:r>
            <a:pPr algn="l" indent="0" marL="0">
              <a:spcBef>
                <a:spcPts val="400"/>
              </a:spcBef>
              <a:spcAft>
                <a:spcPts val="400"/>
              </a:spcAft>
              <a:buNone/>
            </a:pPr>
            <a:r>
              <a:rPr lang="en-US" sz="1600" dirty="0">
                <a:solidFill>
                  <a:srgbClr val="2D2926"/>
                </a:solidFill>
                <a:latin typeface="Georgia" pitchFamily="34" charset="0"/>
                <a:ea typeface="Georgia" pitchFamily="34" charset="-122"/>
                <a:cs typeface="Georgia" pitchFamily="34" charset="-120"/>
              </a:rPr>
              <a:t>, and a </a:t>
            </a:r>
            <a:pPr algn="l" indent="0" marL="0">
              <a:spcBef>
                <a:spcPts val="400"/>
              </a:spcBef>
              <a:spcAft>
                <a:spcPts val="400"/>
              </a:spcAft>
              <a:buNone/>
            </a:pPr>
            <a:r>
              <a:rPr lang="en-US" sz="1600" b="1" dirty="0">
                <a:solidFill>
                  <a:srgbClr val="2D2926"/>
                </a:solidFill>
                <a:latin typeface="Georgia" pitchFamily="34" charset="0"/>
                <a:ea typeface="Georgia" pitchFamily="34" charset="-122"/>
                <a:cs typeface="Georgia" pitchFamily="34" charset="-120"/>
              </a:rPr>
              <a:t>constraint</a:t>
            </a:r>
            <a:pPr algn="l" indent="0" marL="0">
              <a:spcBef>
                <a:spcPts val="400"/>
              </a:spcBef>
              <a:spcAft>
                <a:spcPts val="400"/>
              </a:spcAft>
              <a:buNone/>
            </a:pPr>
            <a:r>
              <a:rPr lang="en-US" sz="1600" dirty="0">
                <a:solidFill>
                  <a:srgbClr val="2D2926"/>
                </a:solidFill>
                <a:latin typeface="Georgia" pitchFamily="34" charset="0"/>
                <a:ea typeface="Georgia" pitchFamily="34" charset="-122"/>
                <a:cs typeface="Georgia" pitchFamily="34" charset="-120"/>
              </a:rPr>
              <a:t>. Solving a flow costs &lt;1 s and zero LLM tokens — a </a:t>
            </a:r>
            <a:pPr algn="l" indent="0" marL="0">
              <a:spcBef>
                <a:spcPts val="400"/>
              </a:spcBef>
              <a:spcAft>
                <a:spcPts val="400"/>
              </a:spcAft>
              <a:buNone/>
            </a:pPr>
            <a:r>
              <a:rPr lang="en-US" sz="1600" b="1" dirty="0">
                <a:solidFill>
                  <a:srgbClr val="2D2926"/>
                </a:solidFill>
                <a:latin typeface="Georgia" pitchFamily="34" charset="0"/>
                <a:ea typeface="Georgia" pitchFamily="34" charset="-122"/>
                <a:cs typeface="Georgia" pitchFamily="34" charset="-120"/>
              </a:rPr>
              <a:t>thinking tool</a:t>
            </a:r>
            <a:pPr algn="l" indent="0" marL="0">
              <a:spcBef>
                <a:spcPts val="400"/>
              </a:spcBef>
              <a:spcAft>
                <a:spcPts val="400"/>
              </a:spcAft>
              <a:buNone/>
            </a:pPr>
            <a:r>
              <a:rPr lang="en-US" sz="1600" dirty="0">
                <a:solidFill>
                  <a:srgbClr val="2D2926"/>
                </a:solidFill>
                <a:latin typeface="Georgia" pitchFamily="34" charset="0"/>
                <a:ea typeface="Georgia" pitchFamily="34" charset="-122"/>
                <a:cs typeface="Georgia" pitchFamily="34" charset="-120"/>
              </a:rPr>
              <a:t> for rapid exploration of alternatives.</a:t>
            </a:r>
            <a:endParaRPr lang="en-US" sz="1600" dirty="0"/>
          </a:p>
        </p:txBody>
      </p:sp>
      <p:sp>
        <p:nvSpPr>
          <p:cNvPr id="46" name="Text 43"/>
          <p:cNvSpPr/>
          <p:nvPr/>
        </p:nvSpPr>
        <p:spPr>
          <a:xfrm>
            <a:off x="177701" y="16155144"/>
            <a:ext cx="10998994" cy="1910655"/>
          </a:xfrm>
          <a:prstGeom prst="roundRect">
            <a:avLst>
              <a:gd name="adj" fmla="val 2659"/>
            </a:avLst>
          </a:prstGeom>
          <a:solidFill>
            <a:srgbClr val="FFFFFF"/>
          </a:solidFill>
          <a:ln w="9525">
            <a:solidFill>
              <a:srgbClr val="E0DADA"/>
            </a:solidFill>
          </a:ln>
          <a:effectLst>
            <a:outerShdw sx="100000" sy="100000" kx="0" ky="0" algn="bl" rotWithShape="0" blurRad="101600" dist="17960" dir="2700000">
              <a:srgbClr val="000000">
                <a:alpha val="4000"/>
              </a:srgbClr>
            </a:outerShdw>
          </a:effectLst>
        </p:spPr>
        <p:txBody>
          <a:bodyPr wrap="square" rtlCol="0" anchor="ctr"/>
          <a:lstStyle/>
          <a:p>
            <a:pPr indent="0" marL="0">
              <a:buNone/>
            </a:pPr>
            <a:endParaRPr lang="en-US" dirty="0"/>
          </a:p>
        </p:txBody>
      </p:sp>
      <p:sp>
        <p:nvSpPr>
          <p:cNvPr id="47" name="Text 44"/>
          <p:cNvSpPr/>
          <p:nvPr/>
        </p:nvSpPr>
        <p:spPr>
          <a:xfrm>
            <a:off x="314176" y="16291620"/>
            <a:ext cx="10940564" cy="371475"/>
          </a:xfrm>
          <a:prstGeom prst="rect">
            <a:avLst/>
          </a:prstGeom>
          <a:noFill/>
          <a:ln/>
        </p:spPr>
        <p:txBody>
          <a:bodyPr wrap="square" lIns="0" tIns="0" rIns="0" bIns="0" rtlCol="0" anchor="t"/>
          <a:lstStyle/>
          <a:p>
            <a:pPr algn="l" indent="0" marL="0">
              <a:buNone/>
            </a:pPr>
            <a:r>
              <a:rPr lang="en-US" sz="2600" b="1" dirty="0">
                <a:solidFill>
                  <a:srgbClr val="722F37"/>
                </a:solidFill>
                <a:latin typeface="Arial" pitchFamily="34" charset="0"/>
                <a:ea typeface="Arial" pitchFamily="34" charset="-122"/>
                <a:cs typeface="Arial" pitchFamily="34" charset="-120"/>
              </a:rPr>
              <a:t>References</a:t>
            </a:r>
            <a:endParaRPr lang="en-US" sz="2600" dirty="0"/>
          </a:p>
        </p:txBody>
      </p:sp>
      <p:sp>
        <p:nvSpPr>
          <p:cNvPr id="48" name="Text 45"/>
          <p:cNvSpPr/>
          <p:nvPr/>
        </p:nvSpPr>
        <p:spPr>
          <a:xfrm>
            <a:off x="314176" y="16688395"/>
            <a:ext cx="1777901" cy="38100"/>
          </a:xfrm>
          <a:prstGeom prst="rect">
            <a:avLst/>
          </a:prstGeom>
          <a:solidFill>
            <a:srgbClr val="B8860B"/>
          </a:solidFill>
          <a:ln/>
        </p:spPr>
        <p:txBody>
          <a:bodyPr wrap="square" rtlCol="0" anchor="ctr"/>
          <a:lstStyle/>
          <a:p>
            <a:pPr indent="0" marL="0">
              <a:buNone/>
            </a:pPr>
            <a:endParaRPr lang="en-US" dirty="0"/>
          </a:p>
        </p:txBody>
      </p:sp>
      <p:sp>
        <p:nvSpPr>
          <p:cNvPr id="49" name="Text 46"/>
          <p:cNvSpPr/>
          <p:nvPr/>
        </p:nvSpPr>
        <p:spPr>
          <a:xfrm>
            <a:off x="314176" y="16802695"/>
            <a:ext cx="10940564" cy="200025"/>
          </a:xfrm>
          <a:prstGeom prst="rect">
            <a:avLst/>
          </a:prstGeom>
          <a:noFill/>
          <a:ln/>
        </p:spPr>
        <p:txBody>
          <a:bodyPr wrap="square" lIns="0" tIns="0" rIns="0" bIns="0" rtlCol="0" anchor="t"/>
          <a:lstStyle/>
          <a:p>
            <a:pPr algn="l" indent="0" marL="0">
              <a:spcBef>
                <a:spcPts val="200"/>
              </a:spcBef>
              <a:spcAft>
                <a:spcPts val="200"/>
              </a:spcAft>
              <a:buNone/>
            </a:pPr>
            <a:r>
              <a:rPr lang="en-US" sz="1400" dirty="0">
                <a:solidFill>
                  <a:srgbClr val="2D2926"/>
                </a:solidFill>
                <a:latin typeface="Georgia" pitchFamily="34" charset="0"/>
                <a:ea typeface="Georgia" pitchFamily="34" charset="-122"/>
                <a:cs typeface="Georgia" pitchFamily="34" charset="-120"/>
              </a:rPr>
              <a:t>Fish, S. (1980). </a:t>
            </a:r>
            <a:pPr algn="l" indent="0" marL="0">
              <a:spcBef>
                <a:spcPts val="200"/>
              </a:spcBef>
              <a:spcAft>
                <a:spcPts val="200"/>
              </a:spcAft>
              <a:buNone/>
            </a:pPr>
            <a:r>
              <a:rPr lang="en-US" sz="1400" i="1" dirty="0">
                <a:solidFill>
                  <a:srgbClr val="2D2926"/>
                </a:solidFill>
                <a:latin typeface="Georgia" pitchFamily="34" charset="0"/>
                <a:ea typeface="Georgia" pitchFamily="34" charset="-122"/>
                <a:cs typeface="Georgia" pitchFamily="34" charset="-120"/>
              </a:rPr>
              <a:t>Is There a Text in This Class?</a:t>
            </a:r>
            <a:pPr algn="l" indent="0" marL="0">
              <a:spcBef>
                <a:spcPts val="200"/>
              </a:spcBef>
              <a:spcAft>
                <a:spcPts val="200"/>
              </a:spcAft>
              <a:buNone/>
            </a:pPr>
            <a:r>
              <a:rPr lang="en-US" sz="1400" dirty="0">
                <a:solidFill>
                  <a:srgbClr val="2D2926"/>
                </a:solidFill>
                <a:latin typeface="Georgia" pitchFamily="34" charset="0"/>
                <a:ea typeface="Georgia" pitchFamily="34" charset="-122"/>
                <a:cs typeface="Georgia" pitchFamily="34" charset="-120"/>
              </a:rPr>
              <a:t> Harvard UP.</a:t>
            </a:r>
            <a:endParaRPr lang="en-US" sz="1400" dirty="0"/>
          </a:p>
        </p:txBody>
      </p:sp>
      <p:sp>
        <p:nvSpPr>
          <p:cNvPr id="50" name="Text 47"/>
          <p:cNvSpPr/>
          <p:nvPr/>
        </p:nvSpPr>
        <p:spPr>
          <a:xfrm>
            <a:off x="314176" y="17028021"/>
            <a:ext cx="10940564" cy="200025"/>
          </a:xfrm>
          <a:prstGeom prst="rect">
            <a:avLst/>
          </a:prstGeom>
          <a:noFill/>
          <a:ln/>
        </p:spPr>
        <p:txBody>
          <a:bodyPr wrap="square" lIns="0" tIns="0" rIns="0" bIns="0" rtlCol="0" anchor="t"/>
          <a:lstStyle/>
          <a:p>
            <a:pPr algn="l" indent="0" marL="0">
              <a:spcBef>
                <a:spcPts val="200"/>
              </a:spcBef>
              <a:spcAft>
                <a:spcPts val="200"/>
              </a:spcAft>
              <a:buNone/>
            </a:pPr>
            <a:r>
              <a:rPr lang="en-US" sz="1400" dirty="0">
                <a:solidFill>
                  <a:srgbClr val="2D2926"/>
                </a:solidFill>
                <a:latin typeface="Georgia" pitchFamily="34" charset="0"/>
                <a:ea typeface="Georgia" pitchFamily="34" charset="-122"/>
                <a:cs typeface="Georgia" pitchFamily="34" charset="-120"/>
              </a:rPr>
              <a:t>Bayard, P. (2007). </a:t>
            </a:r>
            <a:pPr algn="l" indent="0" marL="0">
              <a:spcBef>
                <a:spcPts val="200"/>
              </a:spcBef>
              <a:spcAft>
                <a:spcPts val="200"/>
              </a:spcAft>
              <a:buNone/>
            </a:pPr>
            <a:r>
              <a:rPr lang="en-US" sz="1400" i="1" dirty="0">
                <a:solidFill>
                  <a:srgbClr val="2D2926"/>
                </a:solidFill>
                <a:latin typeface="Georgia" pitchFamily="34" charset="0"/>
                <a:ea typeface="Georgia" pitchFamily="34" charset="-122"/>
                <a:cs typeface="Georgia" pitchFamily="34" charset="-120"/>
              </a:rPr>
              <a:t>How to Talk About Books You Haven't Read.</a:t>
            </a:r>
            <a:pPr algn="l" indent="0" marL="0">
              <a:spcBef>
                <a:spcPts val="200"/>
              </a:spcBef>
              <a:spcAft>
                <a:spcPts val="200"/>
              </a:spcAft>
              <a:buNone/>
            </a:pPr>
            <a:r>
              <a:rPr lang="en-US" sz="1400" dirty="0">
                <a:solidFill>
                  <a:srgbClr val="2D2926"/>
                </a:solidFill>
                <a:latin typeface="Georgia" pitchFamily="34" charset="0"/>
                <a:ea typeface="Georgia" pitchFamily="34" charset="-122"/>
                <a:cs typeface="Georgia" pitchFamily="34" charset="-120"/>
              </a:rPr>
              <a:t> Bloomsbury.</a:t>
            </a:r>
            <a:endParaRPr lang="en-US" sz="1400" dirty="0"/>
          </a:p>
        </p:txBody>
      </p:sp>
      <p:sp>
        <p:nvSpPr>
          <p:cNvPr id="51" name="Text 48"/>
          <p:cNvSpPr/>
          <p:nvPr/>
        </p:nvSpPr>
        <p:spPr>
          <a:xfrm>
            <a:off x="314176" y="17253347"/>
            <a:ext cx="10940564" cy="200025"/>
          </a:xfrm>
          <a:prstGeom prst="rect">
            <a:avLst/>
          </a:prstGeom>
          <a:noFill/>
          <a:ln/>
        </p:spPr>
        <p:txBody>
          <a:bodyPr wrap="square" lIns="0" tIns="0" rIns="0" bIns="0" rtlCol="0" anchor="t"/>
          <a:lstStyle/>
          <a:p>
            <a:pPr algn="l" indent="0" marL="0">
              <a:spcBef>
                <a:spcPts val="200"/>
              </a:spcBef>
              <a:spcAft>
                <a:spcPts val="200"/>
              </a:spcAft>
              <a:buNone/>
            </a:pPr>
            <a:r>
              <a:rPr lang="en-US" sz="1400" dirty="0">
                <a:solidFill>
                  <a:srgbClr val="2D2926"/>
                </a:solidFill>
                <a:latin typeface="Georgia" pitchFamily="34" charset="0"/>
                <a:ea typeface="Georgia" pitchFamily="34" charset="-122"/>
                <a:cs typeface="Georgia" pitchFamily="34" charset="-120"/>
              </a:rPr>
              <a:t>Carlini, N. et al. (2021, 2023). Extracting/quantifying memorization in LLMs. </a:t>
            </a:r>
            <a:pPr algn="l" indent="0" marL="0">
              <a:spcBef>
                <a:spcPts val="200"/>
              </a:spcBef>
              <a:spcAft>
                <a:spcPts val="200"/>
              </a:spcAft>
              <a:buNone/>
            </a:pPr>
            <a:r>
              <a:rPr lang="en-US" sz="1400" i="1" dirty="0">
                <a:solidFill>
                  <a:srgbClr val="2D2926"/>
                </a:solidFill>
                <a:latin typeface="Georgia" pitchFamily="34" charset="0"/>
                <a:ea typeface="Georgia" pitchFamily="34" charset="-122"/>
                <a:cs typeface="Georgia" pitchFamily="34" charset="-120"/>
              </a:rPr>
              <a:t>USENIX Security; ICLR.</a:t>
            </a:r>
            <a:endParaRPr lang="en-US" sz="1400" dirty="0"/>
          </a:p>
        </p:txBody>
      </p:sp>
      <p:sp>
        <p:nvSpPr>
          <p:cNvPr id="52" name="Text 49"/>
          <p:cNvSpPr/>
          <p:nvPr/>
        </p:nvSpPr>
        <p:spPr>
          <a:xfrm>
            <a:off x="314176" y="17478673"/>
            <a:ext cx="10940564" cy="200025"/>
          </a:xfrm>
          <a:prstGeom prst="rect">
            <a:avLst/>
          </a:prstGeom>
          <a:noFill/>
          <a:ln/>
        </p:spPr>
        <p:txBody>
          <a:bodyPr wrap="square" lIns="0" tIns="0" rIns="0" bIns="0" rtlCol="0" anchor="t"/>
          <a:lstStyle/>
          <a:p>
            <a:pPr algn="l" indent="0" marL="0">
              <a:spcBef>
                <a:spcPts val="200"/>
              </a:spcBef>
              <a:spcAft>
                <a:spcPts val="200"/>
              </a:spcAft>
              <a:buNone/>
            </a:pPr>
            <a:r>
              <a:rPr lang="en-US" sz="1400" dirty="0">
                <a:solidFill>
                  <a:srgbClr val="2D2926"/>
                </a:solidFill>
                <a:latin typeface="Georgia" pitchFamily="34" charset="0"/>
                <a:ea typeface="Georgia" pitchFamily="34" charset="-122"/>
                <a:cs typeface="Georgia" pitchFamily="34" charset="-120"/>
              </a:rPr>
              <a:t>Ahuja, R., Magnanti, T. &amp; Orlin, J. (1993). </a:t>
            </a:r>
            <a:pPr algn="l" indent="0" marL="0">
              <a:spcBef>
                <a:spcPts val="200"/>
              </a:spcBef>
              <a:spcAft>
                <a:spcPts val="200"/>
              </a:spcAft>
              <a:buNone/>
            </a:pPr>
            <a:r>
              <a:rPr lang="en-US" sz="1400" i="1" dirty="0">
                <a:solidFill>
                  <a:srgbClr val="2D2926"/>
                </a:solidFill>
                <a:latin typeface="Georgia" pitchFamily="34" charset="0"/>
                <a:ea typeface="Georgia" pitchFamily="34" charset="-122"/>
                <a:cs typeface="Georgia" pitchFamily="34" charset="-120"/>
              </a:rPr>
              <a:t>Network Flows.</a:t>
            </a:r>
            <a:pPr algn="l" indent="0" marL="0">
              <a:spcBef>
                <a:spcPts val="200"/>
              </a:spcBef>
              <a:spcAft>
                <a:spcPts val="200"/>
              </a:spcAft>
              <a:buNone/>
            </a:pPr>
            <a:r>
              <a:rPr lang="en-US" sz="1400" dirty="0">
                <a:solidFill>
                  <a:srgbClr val="2D2926"/>
                </a:solidFill>
                <a:latin typeface="Georgia" pitchFamily="34" charset="0"/>
                <a:ea typeface="Georgia" pitchFamily="34" charset="-122"/>
                <a:cs typeface="Georgia" pitchFamily="34" charset="-120"/>
              </a:rPr>
              <a:t> Prentice Hall.</a:t>
            </a:r>
            <a:endParaRPr lang="en-US" sz="1400" dirty="0"/>
          </a:p>
        </p:txBody>
      </p:sp>
      <p:sp>
        <p:nvSpPr>
          <p:cNvPr id="53" name="Text 50"/>
          <p:cNvSpPr/>
          <p:nvPr/>
        </p:nvSpPr>
        <p:spPr>
          <a:xfrm>
            <a:off x="314176" y="17703998"/>
            <a:ext cx="10940564" cy="200025"/>
          </a:xfrm>
          <a:prstGeom prst="rect">
            <a:avLst/>
          </a:prstGeom>
          <a:noFill/>
          <a:ln/>
        </p:spPr>
        <p:txBody>
          <a:bodyPr wrap="square" lIns="0" tIns="0" rIns="0" bIns="0" rtlCol="0" anchor="t"/>
          <a:lstStyle/>
          <a:p>
            <a:pPr algn="l" indent="0" marL="0">
              <a:spcBef>
                <a:spcPts val="200"/>
              </a:spcBef>
              <a:spcAft>
                <a:spcPts val="200"/>
              </a:spcAft>
              <a:buNone/>
            </a:pPr>
            <a:r>
              <a:rPr lang="en-US" sz="1400" dirty="0">
                <a:solidFill>
                  <a:srgbClr val="2D2926"/>
                </a:solidFill>
                <a:latin typeface="Georgia" pitchFamily="34" charset="0"/>
                <a:ea typeface="Georgia" pitchFamily="34" charset="-122"/>
                <a:cs typeface="Georgia" pitchFamily="34" charset="-120"/>
              </a:rPr>
              <a:t>Moretti, F. (2013). </a:t>
            </a:r>
            <a:pPr algn="l" indent="0" marL="0">
              <a:spcBef>
                <a:spcPts val="200"/>
              </a:spcBef>
              <a:spcAft>
                <a:spcPts val="200"/>
              </a:spcAft>
              <a:buNone/>
            </a:pPr>
            <a:r>
              <a:rPr lang="en-US" sz="1400" i="1" dirty="0">
                <a:solidFill>
                  <a:srgbClr val="2D2926"/>
                </a:solidFill>
                <a:latin typeface="Georgia" pitchFamily="34" charset="0"/>
                <a:ea typeface="Georgia" pitchFamily="34" charset="-122"/>
                <a:cs typeface="Georgia" pitchFamily="34" charset="-120"/>
              </a:rPr>
              <a:t>Distant Reading.</a:t>
            </a:r>
            <a:pPr algn="l" indent="0" marL="0">
              <a:spcBef>
                <a:spcPts val="200"/>
              </a:spcBef>
              <a:spcAft>
                <a:spcPts val="200"/>
              </a:spcAft>
              <a:buNone/>
            </a:pPr>
            <a:r>
              <a:rPr lang="en-US" sz="1400" dirty="0">
                <a:solidFill>
                  <a:srgbClr val="2D2926"/>
                </a:solidFill>
                <a:latin typeface="Georgia" pitchFamily="34" charset="0"/>
                <a:ea typeface="Georgia" pitchFamily="34" charset="-122"/>
                <a:cs typeface="Georgia" pitchFamily="34" charset="-120"/>
              </a:rPr>
              <a:t> Verso.</a:t>
            </a:r>
            <a:endParaRPr lang="en-US" sz="1400" dirty="0"/>
          </a:p>
        </p:txBody>
      </p:sp>
      <p:sp>
        <p:nvSpPr>
          <p:cNvPr id="54" name="Text 51"/>
          <p:cNvSpPr/>
          <p:nvPr/>
        </p:nvSpPr>
        <p:spPr>
          <a:xfrm>
            <a:off x="177701" y="18192750"/>
            <a:ext cx="10998994" cy="1514177"/>
          </a:xfrm>
          <a:prstGeom prst="roundRect">
            <a:avLst>
              <a:gd name="adj" fmla="val 3355"/>
            </a:avLst>
          </a:prstGeom>
          <a:solidFill>
            <a:srgbClr val="EDE5D8"/>
          </a:solidFill>
          <a:ln w="9525">
            <a:solidFill>
              <a:srgbClr val="C8B89A"/>
            </a:solidFill>
          </a:ln>
          <a:effectLst>
            <a:outerShdw sx="100000" sy="100000" kx="0" ky="0" algn="bl" rotWithShape="0" blurRad="101600" dist="17960" dir="2700000">
              <a:srgbClr val="000000">
                <a:alpha val="4000"/>
              </a:srgbClr>
            </a:outerShdw>
          </a:effectLst>
        </p:spPr>
        <p:txBody>
          <a:bodyPr wrap="square" rtlCol="0" anchor="ctr"/>
          <a:lstStyle/>
          <a:p>
            <a:pPr indent="0" marL="0">
              <a:buNone/>
            </a:pPr>
            <a:endParaRPr lang="en-US" dirty="0"/>
          </a:p>
        </p:txBody>
      </p:sp>
      <p:sp>
        <p:nvSpPr>
          <p:cNvPr id="55" name="Text 52"/>
          <p:cNvSpPr/>
          <p:nvPr/>
        </p:nvSpPr>
        <p:spPr>
          <a:xfrm>
            <a:off x="314176" y="18405425"/>
            <a:ext cx="10940564" cy="295275"/>
          </a:xfrm>
          <a:prstGeom prst="rect">
            <a:avLst/>
          </a:prstGeom>
          <a:noFill/>
          <a:ln/>
        </p:spPr>
        <p:txBody>
          <a:bodyPr wrap="square" lIns="0" tIns="0" rIns="0" bIns="0" rtlCol="0" anchor="t"/>
          <a:lstStyle/>
          <a:p>
            <a:pPr algn="l" indent="0" marL="0">
              <a:spcBef>
                <a:spcPts val="600"/>
              </a:spcBef>
              <a:spcAft>
                <a:spcPts val="200"/>
              </a:spcAft>
              <a:buNone/>
            </a:pPr>
            <a:r>
              <a:rPr lang="en-US" sz="2000" b="1" dirty="0">
                <a:solidFill>
                  <a:srgbClr val="722F37"/>
                </a:solidFill>
                <a:latin typeface="Arial" pitchFamily="34" charset="0"/>
                <a:ea typeface="Arial" pitchFamily="34" charset="-122"/>
                <a:cs typeface="Arial" pitchFamily="34" charset="-120"/>
              </a:rPr>
              <a:t>Interactive Demo &amp; Acknowledgements</a:t>
            </a:r>
            <a:endParaRPr lang="en-US" sz="2000" dirty="0"/>
          </a:p>
        </p:txBody>
      </p:sp>
      <p:sp>
        <p:nvSpPr>
          <p:cNvPr id="56" name="Text 53"/>
          <p:cNvSpPr/>
          <p:nvPr/>
        </p:nvSpPr>
        <p:spPr>
          <a:xfrm>
            <a:off x="314176" y="18751451"/>
            <a:ext cx="10940564" cy="266700"/>
          </a:xfrm>
          <a:prstGeom prst="rect">
            <a:avLst/>
          </a:prstGeom>
          <a:noFill/>
          <a:ln/>
        </p:spPr>
        <p:txBody>
          <a:bodyPr wrap="square" lIns="0" tIns="0" rIns="0" bIns="0" rtlCol="0" anchor="t"/>
          <a:lstStyle/>
          <a:p>
            <a:pPr algn="l" indent="0" marL="0">
              <a:spcBef>
                <a:spcPts val="400"/>
              </a:spcBef>
              <a:spcAft>
                <a:spcPts val="400"/>
              </a:spcAft>
              <a:buNone/>
            </a:pPr>
            <a:r>
              <a:rPr lang="en-US" sz="1800" b="1" dirty="0">
                <a:solidFill>
                  <a:srgbClr val="2D6B5E"/>
                </a:solidFill>
                <a:latin typeface="Arial" pitchFamily="34" charset="0"/>
                <a:ea typeface="Arial" pitchFamily="34" charset="-122"/>
                <a:cs typeface="Arial" pitchFamily="34" charset="-120"/>
              </a:rPr>
              <a:t>bleakhouse-demo.fly.dev</a:t>
            </a:r>
            <a:endParaRPr lang="en-US" sz="1800" dirty="0"/>
          </a:p>
        </p:txBody>
      </p:sp>
      <p:sp>
        <p:nvSpPr>
          <p:cNvPr id="57" name="Text 54"/>
          <p:cNvSpPr/>
          <p:nvPr/>
        </p:nvSpPr>
        <p:spPr>
          <a:xfrm>
            <a:off x="314176" y="19068901"/>
            <a:ext cx="10940564" cy="200025"/>
          </a:xfrm>
          <a:prstGeom prst="rect">
            <a:avLst/>
          </a:prstGeom>
          <a:noFill/>
          <a:ln/>
        </p:spPr>
        <p:txBody>
          <a:bodyPr wrap="square" lIns="0" tIns="0" rIns="0" bIns="0" rtlCol="0" anchor="t"/>
          <a:lstStyle/>
          <a:p>
            <a:pPr algn="l" indent="0" marL="0">
              <a:spcBef>
                <a:spcPts val="200"/>
              </a:spcBef>
              <a:spcAft>
                <a:spcPts val="200"/>
              </a:spcAft>
              <a:buNone/>
            </a:pPr>
            <a:r>
              <a:rPr lang="en-US" sz="1400" dirty="0">
                <a:solidFill>
                  <a:srgbClr val="2D2926"/>
                </a:solidFill>
                <a:latin typeface="Georgia" pitchFamily="34" charset="0"/>
                <a:ea typeface="Georgia" pitchFamily="34" charset="-122"/>
                <a:cs typeface="Georgia" pitchFamily="34" charset="-120"/>
              </a:rPr>
              <a:t>Browse 180 conditions, listen to episodes, inspect passage backlinks.</a:t>
            </a:r>
            <a:endParaRPr lang="en-US" sz="1400" dirty="0"/>
          </a:p>
        </p:txBody>
      </p:sp>
      <p:sp>
        <p:nvSpPr>
          <p:cNvPr id="58" name="Text 55"/>
          <p:cNvSpPr/>
          <p:nvPr/>
        </p:nvSpPr>
        <p:spPr>
          <a:xfrm>
            <a:off x="314176" y="19319677"/>
            <a:ext cx="10940564" cy="200025"/>
          </a:xfrm>
          <a:prstGeom prst="rect">
            <a:avLst/>
          </a:prstGeom>
          <a:noFill/>
          <a:ln/>
        </p:spPr>
        <p:txBody>
          <a:bodyPr wrap="square" lIns="0" tIns="0" rIns="0" bIns="0" rtlCol="0" anchor="t"/>
          <a:lstStyle/>
          <a:p>
            <a:pPr algn="l" indent="0" marL="0">
              <a:spcBef>
                <a:spcPts val="400"/>
              </a:spcBef>
              <a:spcAft>
                <a:spcPts val="400"/>
              </a:spcAft>
              <a:buNone/>
            </a:pPr>
            <a:r>
              <a:rPr lang="en-US" sz="1400" dirty="0">
                <a:solidFill>
                  <a:srgbClr val="7A6E62"/>
                </a:solidFill>
                <a:latin typeface="Georgia" pitchFamily="34" charset="0"/>
                <a:ea typeface="Georgia" pitchFamily="34" charset="-122"/>
                <a:cs typeface="Georgia" pitchFamily="34" charset="-120"/>
              </a:rPr>
              <a:t>Thanks to The Ohio State University College of Engineering and LexisNexis Legal &amp; Professional.</a:t>
            </a:r>
            <a:endParaRPr lang="en-US" sz="1400" dirty="0"/>
          </a:p>
        </p:txBody>
      </p:sp>
      <p:sp>
        <p:nvSpPr>
          <p:cNvPr id="59" name="Text 56"/>
          <p:cNvSpPr/>
          <p:nvPr/>
        </p:nvSpPr>
        <p:spPr>
          <a:xfrm>
            <a:off x="11303645" y="2504331"/>
            <a:ext cx="13968710" cy="4332684"/>
          </a:xfrm>
          <a:prstGeom prst="roundRect">
            <a:avLst>
              <a:gd name="adj" fmla="val 1172"/>
            </a:avLst>
          </a:prstGeom>
          <a:solidFill>
            <a:srgbClr val="FFFFFF"/>
          </a:solidFill>
          <a:ln w="9525">
            <a:solidFill>
              <a:srgbClr val="E0DADA"/>
            </a:solidFill>
          </a:ln>
          <a:effectLst>
            <a:outerShdw sx="100000" sy="100000" kx="0" ky="0" algn="bl" rotWithShape="0" blurRad="101600" dist="17960" dir="2700000">
              <a:srgbClr val="000000">
                <a:alpha val="4000"/>
              </a:srgbClr>
            </a:outerShdw>
          </a:effectLst>
        </p:spPr>
        <p:txBody>
          <a:bodyPr wrap="square" rtlCol="0" anchor="ctr"/>
          <a:lstStyle/>
          <a:p>
            <a:pPr indent="0" marL="0">
              <a:buNone/>
            </a:pPr>
            <a:endParaRPr lang="en-US" dirty="0"/>
          </a:p>
        </p:txBody>
      </p:sp>
      <p:sp>
        <p:nvSpPr>
          <p:cNvPr id="60" name="Text 57"/>
          <p:cNvSpPr/>
          <p:nvPr/>
        </p:nvSpPr>
        <p:spPr>
          <a:xfrm>
            <a:off x="11440120" y="2640806"/>
            <a:ext cx="13969675" cy="371475"/>
          </a:xfrm>
          <a:prstGeom prst="rect">
            <a:avLst/>
          </a:prstGeom>
          <a:noFill/>
          <a:ln/>
        </p:spPr>
        <p:txBody>
          <a:bodyPr wrap="square" lIns="0" tIns="0" rIns="0" bIns="0" rtlCol="0" anchor="t"/>
          <a:lstStyle/>
          <a:p>
            <a:pPr algn="l" indent="0" marL="0">
              <a:buNone/>
            </a:pPr>
            <a:r>
              <a:rPr lang="en-US" sz="2600" b="1" dirty="0">
                <a:solidFill>
                  <a:srgbClr val="722F37"/>
                </a:solidFill>
                <a:latin typeface="Arial" pitchFamily="34" charset="0"/>
                <a:ea typeface="Arial" pitchFamily="34" charset="-122"/>
                <a:cs typeface="Arial" pitchFamily="34" charset="-120"/>
              </a:rPr>
              <a:t>The Reader Makes the Reading</a:t>
            </a:r>
            <a:endParaRPr lang="en-US" sz="2600" dirty="0"/>
          </a:p>
        </p:txBody>
      </p:sp>
      <p:sp>
        <p:nvSpPr>
          <p:cNvPr id="61" name="Text 58"/>
          <p:cNvSpPr/>
          <p:nvPr/>
        </p:nvSpPr>
        <p:spPr>
          <a:xfrm>
            <a:off x="11440120" y="3037582"/>
            <a:ext cx="1777901" cy="38100"/>
          </a:xfrm>
          <a:prstGeom prst="rect">
            <a:avLst/>
          </a:prstGeom>
          <a:solidFill>
            <a:srgbClr val="B8860B"/>
          </a:solidFill>
          <a:ln/>
        </p:spPr>
        <p:txBody>
          <a:bodyPr wrap="square" rtlCol="0" anchor="ctr"/>
          <a:lstStyle/>
          <a:p>
            <a:pPr indent="0" marL="0">
              <a:buNone/>
            </a:pPr>
            <a:endParaRPr lang="en-US" dirty="0"/>
          </a:p>
        </p:txBody>
      </p:sp>
      <p:sp>
        <p:nvSpPr>
          <p:cNvPr id="62" name="Text 59"/>
          <p:cNvSpPr/>
          <p:nvPr/>
        </p:nvSpPr>
        <p:spPr>
          <a:xfrm>
            <a:off x="11440120" y="3151882"/>
            <a:ext cx="13969675" cy="476250"/>
          </a:xfrm>
          <a:prstGeom prst="rect">
            <a:avLst/>
          </a:prstGeom>
          <a:noFill/>
          <a:ln/>
        </p:spPr>
        <p:txBody>
          <a:bodyPr wrap="square" lIns="0" tIns="0" rIns="0" bIns="0" rtlCol="0" anchor="t"/>
          <a:lstStyle/>
          <a:p>
            <a:pPr algn="l" indent="0" marL="0">
              <a:spcBef>
                <a:spcPts val="400"/>
              </a:spcBef>
              <a:spcAft>
                <a:spcPts val="400"/>
              </a:spcAft>
              <a:buNone/>
            </a:pPr>
            <a:r>
              <a:rPr lang="en-US" sz="1600" i="1" dirty="0">
                <a:solidFill>
                  <a:srgbClr val="7A6E62"/>
                </a:solidFill>
                <a:latin typeface="Georgia" pitchFamily="34" charset="0"/>
                <a:ea typeface="Georgia" pitchFamily="34" charset="-122"/>
                <a:cs typeface="Georgia" pitchFamily="34" charset="-120"/>
              </a:rPr>
              <a:t>The pipeline privileges expert identity at every stage — enrichment dimensions match demand profiles, the selector optimises for demand satisfaction, host preparation targets specific experts, and the script prompt reinforces perspectives. Convergence follows from this engineering.</a:t>
            </a:r>
            <a:endParaRPr lang="en-US" sz="1600" dirty="0"/>
          </a:p>
        </p:txBody>
      </p:sp>
      <p:sp>
        <p:nvSpPr>
          <p:cNvPr id="63" name="Text 60"/>
          <p:cNvSpPr/>
          <p:nvPr/>
        </p:nvSpPr>
        <p:spPr>
          <a:xfrm>
            <a:off x="11440120" y="3678882"/>
            <a:ext cx="13969675" cy="714375"/>
          </a:xfrm>
          <a:prstGeom prst="rect">
            <a:avLst/>
          </a:prstGeom>
          <a:noFill/>
          <a:ln/>
        </p:spPr>
        <p:txBody>
          <a:bodyPr wrap="square" lIns="0" tIns="0" rIns="0" bIns="0" rtlCol="0" anchor="t"/>
          <a:lstStyle/>
          <a:p>
            <a:pPr algn="l" indent="0" marL="0">
              <a:spcBef>
                <a:spcPts val="400"/>
              </a:spcBef>
              <a:spcAft>
                <a:spcPts val="400"/>
              </a:spcAft>
              <a:buNone/>
            </a:pPr>
            <a:r>
              <a:rPr lang="en-US" sz="1600" dirty="0">
                <a:solidFill>
                  <a:srgbClr val="2D2926"/>
                </a:solidFill>
                <a:latin typeface="Georgia" pitchFamily="34" charset="0"/>
                <a:ea typeface="Georgia" pitchFamily="34" charset="-122"/>
                <a:cs typeface="Georgia" pitchFamily="34" charset="-120"/>
              </a:rPr>
              <a:t>The system exposes four independently manipulable levers: </a:t>
            </a:r>
            <a:pPr algn="l" indent="0" marL="0">
              <a:spcBef>
                <a:spcPts val="400"/>
              </a:spcBef>
              <a:spcAft>
                <a:spcPts val="400"/>
              </a:spcAft>
              <a:buNone/>
            </a:pPr>
            <a:r>
              <a:rPr lang="en-US" sz="1600" b="1" dirty="0">
                <a:solidFill>
                  <a:srgbClr val="2D2926"/>
                </a:solidFill>
                <a:latin typeface="Georgia" pitchFamily="34" charset="0"/>
                <a:ea typeface="Georgia" pitchFamily="34" charset="-122"/>
                <a:cs typeface="Georgia" pitchFamily="34" charset="-120"/>
              </a:rPr>
              <a:t>expert personas</a:t>
            </a:r>
            <a:pPr algn="l" indent="0" marL="0">
              <a:spcBef>
                <a:spcPts val="400"/>
              </a:spcBef>
              <a:spcAft>
                <a:spcPts val="400"/>
              </a:spcAft>
              <a:buNone/>
            </a:pPr>
            <a:r>
              <a:rPr lang="en-US" sz="1600" dirty="0">
                <a:solidFill>
                  <a:srgbClr val="2D2926"/>
                </a:solidFill>
                <a:latin typeface="Georgia" pitchFamily="34" charset="0"/>
                <a:ea typeface="Georgia" pitchFamily="34" charset="-122"/>
                <a:cs typeface="Georgia" pitchFamily="34" charset="-120"/>
              </a:rPr>
              <a:t> (demand profiles); </a:t>
            </a:r>
            <a:pPr algn="l" indent="0" marL="0">
              <a:spcBef>
                <a:spcPts val="400"/>
              </a:spcBef>
              <a:spcAft>
                <a:spcPts val="400"/>
              </a:spcAft>
              <a:buNone/>
            </a:pPr>
            <a:r>
              <a:rPr lang="en-US" sz="1600" b="1" dirty="0">
                <a:solidFill>
                  <a:srgbClr val="2D2926"/>
                </a:solidFill>
                <a:latin typeface="Georgia" pitchFamily="34" charset="0"/>
                <a:ea typeface="Georgia" pitchFamily="34" charset="-122"/>
                <a:cs typeface="Georgia" pitchFamily="34" charset="-120"/>
              </a:rPr>
              <a:t>passage grounding</a:t>
            </a:r>
            <a:pPr algn="l" indent="0" marL="0">
              <a:spcBef>
                <a:spcPts val="400"/>
              </a:spcBef>
              <a:spcAft>
                <a:spcPts val="400"/>
              </a:spcAft>
              <a:buNone/>
            </a:pPr>
            <a:r>
              <a:rPr lang="en-US" sz="1600" dirty="0">
                <a:solidFill>
                  <a:srgbClr val="2D2926"/>
                </a:solidFill>
                <a:latin typeface="Georgia" pitchFamily="34" charset="0"/>
                <a:ea typeface="Georgia" pitchFamily="34" charset="-122"/>
                <a:cs typeface="Georgia" pitchFamily="34" charset="-120"/>
              </a:rPr>
              <a:t> (anchoring quotation and preventing confabulation); </a:t>
            </a:r>
            <a:pPr algn="l" indent="0" marL="0">
              <a:spcBef>
                <a:spcPts val="400"/>
              </a:spcBef>
              <a:spcAft>
                <a:spcPts val="400"/>
              </a:spcAft>
              <a:buNone/>
            </a:pPr>
            <a:r>
              <a:rPr lang="en-US" sz="1600" b="1" dirty="0">
                <a:solidFill>
                  <a:srgbClr val="2D2926"/>
                </a:solidFill>
                <a:latin typeface="Georgia" pitchFamily="34" charset="0"/>
                <a:ea typeface="Georgia" pitchFamily="34" charset="-122"/>
                <a:cs typeface="Georgia" pitchFamily="34" charset="-120"/>
              </a:rPr>
              <a:t>conversational design</a:t>
            </a:r>
            <a:pPr algn="l" indent="0" marL="0">
              <a:spcBef>
                <a:spcPts val="400"/>
              </a:spcBef>
              <a:spcAft>
                <a:spcPts val="400"/>
              </a:spcAft>
              <a:buNone/>
            </a:pPr>
            <a:r>
              <a:rPr lang="en-US" sz="1600" dirty="0">
                <a:solidFill>
                  <a:srgbClr val="2D2926"/>
                </a:solidFill>
                <a:latin typeface="Georgia" pitchFamily="34" charset="0"/>
                <a:ea typeface="Georgia" pitchFamily="34" charset="-122"/>
                <a:cs typeface="Georgia" pitchFamily="34" charset="-120"/>
              </a:rPr>
              <a:t> (quote handling, reactive language, turn structure); and </a:t>
            </a:r>
            <a:pPr algn="l" indent="0" marL="0">
              <a:spcBef>
                <a:spcPts val="400"/>
              </a:spcBef>
              <a:spcAft>
                <a:spcPts val="400"/>
              </a:spcAft>
              <a:buNone/>
            </a:pPr>
            <a:r>
              <a:rPr lang="en-US" sz="1600" b="1" dirty="0">
                <a:solidFill>
                  <a:srgbClr val="2D2926"/>
                </a:solidFill>
                <a:latin typeface="Georgia" pitchFamily="34" charset="0"/>
                <a:ea typeface="Georgia" pitchFamily="34" charset="-122"/>
                <a:cs typeface="Georgia" pitchFamily="34" charset="-120"/>
              </a:rPr>
              <a:t>segment continuity</a:t>
            </a:r>
            <a:pPr algn="l" indent="0" marL="0">
              <a:spcBef>
                <a:spcPts val="400"/>
              </a:spcBef>
              <a:spcAft>
                <a:spcPts val="400"/>
              </a:spcAft>
              <a:buNone/>
            </a:pPr>
            <a:r>
              <a:rPr lang="en-US" sz="1600" dirty="0">
                <a:solidFill>
                  <a:srgbClr val="2D2926"/>
                </a:solidFill>
                <a:latin typeface="Georgia" pitchFamily="34" charset="0"/>
                <a:ea typeface="Georgia" pitchFamily="34" charset="-122"/>
                <a:cs typeface="Georgia" pitchFamily="34" charset="-120"/>
              </a:rPr>
              <a:t> (bridging between independently generated segments).</a:t>
            </a:r>
            <a:endParaRPr lang="en-US" sz="1600" dirty="0"/>
          </a:p>
        </p:txBody>
      </p:sp>
      <p:sp>
        <p:nvSpPr>
          <p:cNvPr id="64" name="Text 61"/>
          <p:cNvSpPr/>
          <p:nvPr/>
        </p:nvSpPr>
        <p:spPr>
          <a:xfrm>
            <a:off x="11440120" y="4494758"/>
            <a:ext cx="6238429" cy="1237655"/>
          </a:xfrm>
          <a:prstGeom prst="roundRect">
            <a:avLst>
              <a:gd name="adj" fmla="val 4105"/>
            </a:avLst>
          </a:prstGeom>
          <a:solidFill>
            <a:srgbClr val="E0F0EC">
              <a:alpha val="50000"/>
            </a:srgbClr>
          </a:solidFill>
          <a:ln w="9525">
            <a:solidFill>
              <a:srgbClr val="3D8B7A"/>
            </a:solidFill>
          </a:ln>
        </p:spPr>
        <p:txBody>
          <a:bodyPr wrap="square" rtlCol="0" anchor="ctr"/>
          <a:lstStyle/>
          <a:p>
            <a:pPr indent="0" marL="0">
              <a:buNone/>
            </a:pPr>
            <a:endParaRPr lang="en-US" dirty="0"/>
          </a:p>
        </p:txBody>
      </p:sp>
      <p:sp>
        <p:nvSpPr>
          <p:cNvPr id="65" name="Text 62"/>
          <p:cNvSpPr/>
          <p:nvPr/>
        </p:nvSpPr>
        <p:spPr>
          <a:xfrm>
            <a:off x="11551146" y="4605784"/>
            <a:ext cx="6136704" cy="295275"/>
          </a:xfrm>
          <a:prstGeom prst="rect">
            <a:avLst/>
          </a:prstGeom>
          <a:noFill/>
          <a:ln/>
        </p:spPr>
        <p:txBody>
          <a:bodyPr wrap="square" lIns="0" tIns="0" rIns="0" bIns="0" rtlCol="0" anchor="t"/>
          <a:lstStyle/>
          <a:p>
            <a:pPr algn="l" indent="0" marL="0">
              <a:spcAft>
                <a:spcPts val="200"/>
              </a:spcAft>
              <a:buNone/>
            </a:pPr>
            <a:r>
              <a:rPr lang="en-US" sz="2000" b="1" dirty="0">
                <a:solidFill>
                  <a:srgbClr val="2D6B5E"/>
                </a:solidFill>
                <a:latin typeface="Arial" pitchFamily="34" charset="0"/>
                <a:ea typeface="Arial" pitchFamily="34" charset="-122"/>
                <a:cs typeface="Arial" pitchFamily="34" charset="-120"/>
              </a:rPr>
              <a:t>Synoptic</a:t>
            </a:r>
            <a:endParaRPr lang="en-US" sz="2000" dirty="0"/>
          </a:p>
        </p:txBody>
      </p:sp>
      <p:sp>
        <p:nvSpPr>
          <p:cNvPr id="66" name="Text 63"/>
          <p:cNvSpPr/>
          <p:nvPr/>
        </p:nvSpPr>
        <p:spPr>
          <a:xfrm>
            <a:off x="11551146" y="4926360"/>
            <a:ext cx="6136704" cy="219075"/>
          </a:xfrm>
          <a:prstGeom prst="rect">
            <a:avLst/>
          </a:prstGeom>
          <a:noFill/>
          <a:ln/>
        </p:spPr>
        <p:txBody>
          <a:bodyPr wrap="square" lIns="0" tIns="0" rIns="0" bIns="0" rtlCol="0" anchor="t"/>
          <a:lstStyle/>
          <a:p>
            <a:pPr algn="l" indent="0" marL="0">
              <a:spcBef>
                <a:spcPts val="200"/>
              </a:spcBef>
              <a:spcAft>
                <a:spcPts val="200"/>
              </a:spcAft>
              <a:buNone/>
            </a:pPr>
            <a:r>
              <a:rPr lang="en-US" sz="1400" dirty="0">
                <a:solidFill>
                  <a:srgbClr val="2D2926"/>
                </a:solidFill>
                <a:latin typeface="Georgia" pitchFamily="34" charset="0"/>
                <a:ea typeface="Georgia" pitchFamily="34" charset="-122"/>
                <a:cs typeface="Georgia" pitchFamily="34" charset="-120"/>
              </a:rPr>
              <a:t>59 passages, 28 chapters</a:t>
            </a:r>
            <a:endParaRPr lang="en-US" sz="1400" dirty="0"/>
          </a:p>
        </p:txBody>
      </p:sp>
      <p:sp>
        <p:nvSpPr>
          <p:cNvPr id="67" name="Text 64"/>
          <p:cNvSpPr/>
          <p:nvPr/>
        </p:nvSpPr>
        <p:spPr>
          <a:xfrm>
            <a:off x="11551146" y="5170736"/>
            <a:ext cx="6136704" cy="200025"/>
          </a:xfrm>
          <a:prstGeom prst="rect">
            <a:avLst/>
          </a:prstGeom>
          <a:noFill/>
          <a:ln/>
        </p:spPr>
        <p:txBody>
          <a:bodyPr wrap="square" lIns="0" tIns="0" rIns="0" bIns="0" rtlCol="0" anchor="t"/>
          <a:lstStyle/>
          <a:p>
            <a:pPr algn="l" indent="0" marL="0">
              <a:spcBef>
                <a:spcPts val="200"/>
              </a:spcBef>
              <a:spcAft>
                <a:spcPts val="200"/>
              </a:spcAft>
              <a:buNone/>
            </a:pPr>
            <a:r>
              <a:rPr lang="en-US" sz="1400" dirty="0">
                <a:solidFill>
                  <a:srgbClr val="2D2926"/>
                </a:solidFill>
                <a:latin typeface="Georgia" pitchFamily="34" charset="0"/>
                <a:ea typeface="Georgia" pitchFamily="34" charset="-122"/>
                <a:cs typeface="Georgia" pitchFamily="34" charset="-120"/>
              </a:rPr>
              <a:t>Character &amp; plot focused</a:t>
            </a:r>
            <a:endParaRPr lang="en-US" sz="1400" dirty="0"/>
          </a:p>
        </p:txBody>
      </p:sp>
      <p:sp>
        <p:nvSpPr>
          <p:cNvPr id="68" name="Text 65"/>
          <p:cNvSpPr/>
          <p:nvPr/>
        </p:nvSpPr>
        <p:spPr>
          <a:xfrm>
            <a:off x="11551146" y="5396061"/>
            <a:ext cx="6136704" cy="200025"/>
          </a:xfrm>
          <a:prstGeom prst="rect">
            <a:avLst/>
          </a:prstGeom>
          <a:noFill/>
          <a:ln/>
        </p:spPr>
        <p:txBody>
          <a:bodyPr wrap="square" lIns="0" tIns="0" rIns="0" bIns="0" rtlCol="0" anchor="t"/>
          <a:lstStyle/>
          <a:p>
            <a:pPr algn="l" indent="0" marL="0">
              <a:spcBef>
                <a:spcPts val="200"/>
              </a:spcBef>
              <a:spcAft>
                <a:spcPts val="200"/>
              </a:spcAft>
              <a:buNone/>
            </a:pPr>
            <a:r>
              <a:rPr lang="en-US" sz="1400" dirty="0">
                <a:solidFill>
                  <a:srgbClr val="2D2926"/>
                </a:solidFill>
                <a:latin typeface="Georgia" pitchFamily="34" charset="0"/>
                <a:ea typeface="Georgia" pitchFamily="34" charset="-122"/>
                <a:cs typeface="Georgia" pitchFamily="34" charset="-120"/>
              </a:rPr>
              <a:t>Min-cost flow solver</a:t>
            </a:r>
            <a:endParaRPr lang="en-US" sz="1400" dirty="0"/>
          </a:p>
        </p:txBody>
      </p:sp>
      <p:sp>
        <p:nvSpPr>
          <p:cNvPr id="69" name="Text 66"/>
          <p:cNvSpPr/>
          <p:nvPr/>
        </p:nvSpPr>
        <p:spPr>
          <a:xfrm>
            <a:off x="17769891" y="4672459"/>
            <a:ext cx="1036219" cy="257175"/>
          </a:xfrm>
          <a:prstGeom prst="rect">
            <a:avLst/>
          </a:prstGeom>
          <a:noFill/>
          <a:ln/>
        </p:spPr>
        <p:txBody>
          <a:bodyPr wrap="square" lIns="0" tIns="0" rIns="0" bIns="0" rtlCol="0" anchor="t"/>
          <a:lstStyle/>
          <a:p>
            <a:pPr algn="ctr" indent="0" marL="0">
              <a:buNone/>
            </a:pPr>
            <a:r>
              <a:rPr lang="en-US" sz="1700" b="1" dirty="0">
                <a:solidFill>
                  <a:srgbClr val="722F37"/>
                </a:solidFill>
                <a:latin typeface="Arial" pitchFamily="34" charset="0"/>
                <a:ea typeface="Arial" pitchFamily="34" charset="-122"/>
                <a:cs typeface="Arial" pitchFamily="34" charset="-120"/>
              </a:rPr>
              <a:t>J = 0.057</a:t>
            </a:r>
            <a:endParaRPr lang="en-US" sz="1700" dirty="0"/>
          </a:p>
        </p:txBody>
      </p:sp>
      <p:sp>
        <p:nvSpPr>
          <p:cNvPr id="70" name="Text 67"/>
          <p:cNvSpPr/>
          <p:nvPr/>
        </p:nvSpPr>
        <p:spPr>
          <a:xfrm>
            <a:off x="17769891" y="4954935"/>
            <a:ext cx="1036219" cy="361950"/>
          </a:xfrm>
          <a:prstGeom prst="rect">
            <a:avLst/>
          </a:prstGeom>
          <a:noFill/>
          <a:ln/>
        </p:spPr>
        <p:txBody>
          <a:bodyPr wrap="square" lIns="0" tIns="0" rIns="0" bIns="0" rtlCol="0" anchor="t"/>
          <a:lstStyle/>
          <a:p>
            <a:pPr algn="ctr" indent="0" marL="0">
              <a:spcBef>
                <a:spcPts val="200"/>
              </a:spcBef>
              <a:spcAft>
                <a:spcPts val="200"/>
              </a:spcAft>
              <a:buNone/>
            </a:pPr>
            <a:r>
              <a:rPr lang="en-US" sz="1200" dirty="0">
                <a:solidFill>
                  <a:srgbClr val="7A6E62"/>
                </a:solidFill>
                <a:latin typeface="Georgia" pitchFamily="34" charset="0"/>
                <a:ea typeface="Georgia" pitchFamily="34" charset="-122"/>
                <a:cs typeface="Georgia" pitchFamily="34" charset="-120"/>
              </a:rPr>
              <a:t>&lt;6% overlap in passages</a:t>
            </a:r>
            <a:endParaRPr lang="en-US" sz="1200" dirty="0"/>
          </a:p>
        </p:txBody>
      </p:sp>
      <p:sp>
        <p:nvSpPr>
          <p:cNvPr id="71" name="Text 68"/>
          <p:cNvSpPr/>
          <p:nvPr/>
        </p:nvSpPr>
        <p:spPr>
          <a:xfrm>
            <a:off x="18897451" y="4494758"/>
            <a:ext cx="6238429" cy="1237655"/>
          </a:xfrm>
          <a:prstGeom prst="roundRect">
            <a:avLst>
              <a:gd name="adj" fmla="val 4105"/>
            </a:avLst>
          </a:prstGeom>
          <a:solidFill>
            <a:srgbClr val="F0E2C0">
              <a:alpha val="50000"/>
            </a:srgbClr>
          </a:solidFill>
          <a:ln w="9525">
            <a:solidFill>
              <a:srgbClr val="D4A843"/>
            </a:solidFill>
          </a:ln>
        </p:spPr>
        <p:txBody>
          <a:bodyPr wrap="square" rtlCol="0" anchor="ctr"/>
          <a:lstStyle/>
          <a:p>
            <a:pPr indent="0" marL="0">
              <a:buNone/>
            </a:pPr>
            <a:endParaRPr lang="en-US" dirty="0"/>
          </a:p>
        </p:txBody>
      </p:sp>
      <p:sp>
        <p:nvSpPr>
          <p:cNvPr id="72" name="Text 69"/>
          <p:cNvSpPr/>
          <p:nvPr/>
        </p:nvSpPr>
        <p:spPr>
          <a:xfrm>
            <a:off x="19008477" y="4605784"/>
            <a:ext cx="6136704" cy="295275"/>
          </a:xfrm>
          <a:prstGeom prst="rect">
            <a:avLst/>
          </a:prstGeom>
          <a:noFill/>
          <a:ln/>
        </p:spPr>
        <p:txBody>
          <a:bodyPr wrap="square" lIns="0" tIns="0" rIns="0" bIns="0" rtlCol="0" anchor="t"/>
          <a:lstStyle/>
          <a:p>
            <a:pPr algn="l" indent="0" marL="0">
              <a:spcAft>
                <a:spcPts val="200"/>
              </a:spcAft>
              <a:buNone/>
            </a:pPr>
            <a:r>
              <a:rPr lang="en-US" sz="2000" b="1" dirty="0">
                <a:solidFill>
                  <a:srgbClr val="B8860B"/>
                </a:solidFill>
                <a:latin typeface="Arial" pitchFamily="34" charset="0"/>
                <a:ea typeface="Arial" pitchFamily="34" charset="-122"/>
                <a:cs typeface="Arial" pitchFamily="34" charset="-120"/>
              </a:rPr>
              <a:t>Analytical</a:t>
            </a:r>
            <a:endParaRPr lang="en-US" sz="2000" dirty="0"/>
          </a:p>
        </p:txBody>
      </p:sp>
      <p:sp>
        <p:nvSpPr>
          <p:cNvPr id="73" name="Text 70"/>
          <p:cNvSpPr/>
          <p:nvPr/>
        </p:nvSpPr>
        <p:spPr>
          <a:xfrm>
            <a:off x="19008477" y="4926360"/>
            <a:ext cx="6136704" cy="219075"/>
          </a:xfrm>
          <a:prstGeom prst="rect">
            <a:avLst/>
          </a:prstGeom>
          <a:noFill/>
          <a:ln/>
        </p:spPr>
        <p:txBody>
          <a:bodyPr wrap="square" lIns="0" tIns="0" rIns="0" bIns="0" rtlCol="0" anchor="t"/>
          <a:lstStyle/>
          <a:p>
            <a:pPr algn="l" indent="0" marL="0">
              <a:spcBef>
                <a:spcPts val="200"/>
              </a:spcBef>
              <a:spcAft>
                <a:spcPts val="200"/>
              </a:spcAft>
              <a:buNone/>
            </a:pPr>
            <a:r>
              <a:rPr lang="en-US" sz="1400" dirty="0">
                <a:solidFill>
                  <a:srgbClr val="2D2926"/>
                </a:solidFill>
                <a:latin typeface="Georgia" pitchFamily="34" charset="0"/>
                <a:ea typeface="Georgia" pitchFamily="34" charset="-122"/>
                <a:cs typeface="Georgia" pitchFamily="34" charset="-120"/>
              </a:rPr>
              <a:t>32 passages, 20 chapters</a:t>
            </a:r>
            <a:endParaRPr lang="en-US" sz="1400" dirty="0"/>
          </a:p>
        </p:txBody>
      </p:sp>
      <p:sp>
        <p:nvSpPr>
          <p:cNvPr id="74" name="Text 71"/>
          <p:cNvSpPr/>
          <p:nvPr/>
        </p:nvSpPr>
        <p:spPr>
          <a:xfrm>
            <a:off x="19008477" y="5170736"/>
            <a:ext cx="6136704" cy="200025"/>
          </a:xfrm>
          <a:prstGeom prst="rect">
            <a:avLst/>
          </a:prstGeom>
          <a:noFill/>
          <a:ln/>
        </p:spPr>
        <p:txBody>
          <a:bodyPr wrap="square" lIns="0" tIns="0" rIns="0" bIns="0" rtlCol="0" anchor="t"/>
          <a:lstStyle/>
          <a:p>
            <a:pPr algn="l" indent="0" marL="0">
              <a:spcBef>
                <a:spcPts val="200"/>
              </a:spcBef>
              <a:spcAft>
                <a:spcPts val="200"/>
              </a:spcAft>
              <a:buNone/>
            </a:pPr>
            <a:r>
              <a:rPr lang="en-US" sz="1400" dirty="0">
                <a:solidFill>
                  <a:srgbClr val="2D2926"/>
                </a:solidFill>
                <a:latin typeface="Georgia" pitchFamily="34" charset="0"/>
                <a:ea typeface="Georgia" pitchFamily="34" charset="-122"/>
                <a:cs typeface="Georgia" pitchFamily="34" charset="-120"/>
              </a:rPr>
              <a:t>Critique &amp; theme focused</a:t>
            </a:r>
            <a:endParaRPr lang="en-US" sz="1400" dirty="0"/>
          </a:p>
        </p:txBody>
      </p:sp>
      <p:sp>
        <p:nvSpPr>
          <p:cNvPr id="75" name="Text 72"/>
          <p:cNvSpPr/>
          <p:nvPr/>
        </p:nvSpPr>
        <p:spPr>
          <a:xfrm>
            <a:off x="19008477" y="5396061"/>
            <a:ext cx="6136704" cy="200025"/>
          </a:xfrm>
          <a:prstGeom prst="rect">
            <a:avLst/>
          </a:prstGeom>
          <a:noFill/>
          <a:ln/>
        </p:spPr>
        <p:txBody>
          <a:bodyPr wrap="square" lIns="0" tIns="0" rIns="0" bIns="0" rtlCol="0" anchor="t"/>
          <a:lstStyle/>
          <a:p>
            <a:pPr algn="l" indent="0" marL="0">
              <a:spcBef>
                <a:spcPts val="200"/>
              </a:spcBef>
              <a:spcAft>
                <a:spcPts val="200"/>
              </a:spcAft>
              <a:buNone/>
            </a:pPr>
            <a:r>
              <a:rPr lang="en-US" sz="1400" dirty="0">
                <a:solidFill>
                  <a:srgbClr val="2D2926"/>
                </a:solidFill>
                <a:latin typeface="Georgia" pitchFamily="34" charset="0"/>
                <a:ea typeface="Georgia" pitchFamily="34" charset="-122"/>
                <a:cs typeface="Georgia" pitchFamily="34" charset="-120"/>
              </a:rPr>
              <a:t>Embedding retrieval + LLM</a:t>
            </a:r>
            <a:endParaRPr lang="en-US" sz="1400" dirty="0"/>
          </a:p>
        </p:txBody>
      </p:sp>
      <p:sp>
        <p:nvSpPr>
          <p:cNvPr id="76" name="Text 73"/>
          <p:cNvSpPr/>
          <p:nvPr/>
        </p:nvSpPr>
        <p:spPr>
          <a:xfrm>
            <a:off x="11440120" y="5833914"/>
            <a:ext cx="13969675" cy="295275"/>
          </a:xfrm>
          <a:prstGeom prst="rect">
            <a:avLst/>
          </a:prstGeom>
          <a:noFill/>
          <a:ln/>
        </p:spPr>
        <p:txBody>
          <a:bodyPr wrap="square" lIns="0" tIns="0" rIns="0" bIns="0" rtlCol="0" anchor="t"/>
          <a:lstStyle/>
          <a:p>
            <a:pPr algn="l" indent="0" marL="0">
              <a:spcBef>
                <a:spcPts val="600"/>
              </a:spcBef>
              <a:spcAft>
                <a:spcPts val="200"/>
              </a:spcAft>
              <a:buNone/>
            </a:pPr>
            <a:r>
              <a:rPr lang="en-US" sz="2000" b="1" dirty="0">
                <a:solidFill>
                  <a:srgbClr val="722F37"/>
                </a:solidFill>
                <a:latin typeface="Arial" pitchFamily="34" charset="0"/>
                <a:ea typeface="Arial" pitchFamily="34" charset="-122"/>
                <a:cs typeface="Arial" pitchFamily="34" charset="-120"/>
              </a:rPr>
              <a:t>Yet: Expert Airtime Stable to ±2%</a:t>
            </a:r>
            <a:endParaRPr lang="en-US" sz="2000" dirty="0"/>
          </a:p>
        </p:txBody>
      </p:sp>
      <p:sp>
        <p:nvSpPr>
          <p:cNvPr id="77" name="Text 74"/>
          <p:cNvSpPr/>
          <p:nvPr/>
        </p:nvSpPr>
        <p:spPr>
          <a:xfrm>
            <a:off x="11440120" y="6179939"/>
            <a:ext cx="13969675" cy="209550"/>
          </a:xfrm>
          <a:prstGeom prst="rect">
            <a:avLst/>
          </a:prstGeom>
          <a:noFill/>
          <a:ln/>
        </p:spPr>
        <p:txBody>
          <a:bodyPr wrap="square" lIns="0" tIns="0" rIns="0" bIns="0" rtlCol="0" anchor="t"/>
          <a:lstStyle/>
          <a:p>
            <a:pPr algn="l" indent="0" marL="0">
              <a:spcBef>
                <a:spcPts val="400"/>
              </a:spcBef>
              <a:spcAft>
                <a:spcPts val="400"/>
              </a:spcAft>
              <a:buNone/>
            </a:pPr>
            <a:r>
              <a:rPr lang="en-US" sz="1500" dirty="0">
                <a:solidFill>
                  <a:srgbClr val="2D2926"/>
                </a:solidFill>
                <a:latin typeface="Georgia" pitchFamily="34" charset="0"/>
                <a:ea typeface="Georgia" pitchFamily="34" charset="-122"/>
                <a:cs typeface="Georgia" pitchFamily="34" charset="-120"/>
              </a:rPr>
              <a:t>Eleanor Hartley (literary critic): </a:t>
            </a:r>
            <a:pPr algn="l" indent="0" marL="0">
              <a:spcBef>
                <a:spcPts val="400"/>
              </a:spcBef>
              <a:spcAft>
                <a:spcPts val="400"/>
              </a:spcAft>
              <a:buNone/>
            </a:pPr>
            <a:r>
              <a:rPr lang="en-US" sz="1500" b="1" dirty="0">
                <a:solidFill>
                  <a:srgbClr val="2D2926"/>
                </a:solidFill>
                <a:latin typeface="Georgia" pitchFamily="34" charset="0"/>
                <a:ea typeface="Georgia" pitchFamily="34" charset="-122"/>
                <a:cs typeface="Georgia" pitchFamily="34" charset="-120"/>
              </a:rPr>
              <a:t>32–37%</a:t>
            </a:r>
            <a:pPr algn="l" indent="0" marL="0">
              <a:spcBef>
                <a:spcPts val="400"/>
              </a:spcBef>
              <a:spcAft>
                <a:spcPts val="400"/>
              </a:spcAft>
              <a:buNone/>
            </a:pPr>
            <a:r>
              <a:rPr lang="en-US" sz="1500" dirty="0">
                <a:solidFill>
                  <a:srgbClr val="2D2926"/>
                </a:solidFill>
                <a:latin typeface="Georgia" pitchFamily="34" charset="0"/>
                <a:ea typeface="Georgia" pitchFamily="34" charset="-122"/>
                <a:cs typeface="Georgia" pitchFamily="34" charset="-120"/>
              </a:rPr>
              <a:t> James Blackstone (social historian): </a:t>
            </a:r>
            <a:pPr algn="l" indent="0" marL="0">
              <a:spcBef>
                <a:spcPts val="400"/>
              </a:spcBef>
              <a:spcAft>
                <a:spcPts val="400"/>
              </a:spcAft>
              <a:buNone/>
            </a:pPr>
            <a:r>
              <a:rPr lang="en-US" sz="1500" b="1" dirty="0">
                <a:solidFill>
                  <a:srgbClr val="2D2926"/>
                </a:solidFill>
                <a:latin typeface="Georgia" pitchFamily="34" charset="0"/>
                <a:ea typeface="Georgia" pitchFamily="34" charset="-122"/>
                <a:cs typeface="Georgia" pitchFamily="34" charset="-120"/>
              </a:rPr>
              <a:t>30–37%</a:t>
            </a:r>
            <a:pPr algn="l" indent="0" marL="0">
              <a:spcBef>
                <a:spcPts val="400"/>
              </a:spcBef>
              <a:spcAft>
                <a:spcPts val="400"/>
              </a:spcAft>
              <a:buNone/>
            </a:pPr>
            <a:r>
              <a:rPr lang="en-US" sz="1500" dirty="0">
                <a:solidFill>
                  <a:srgbClr val="2D2926"/>
                </a:solidFill>
                <a:latin typeface="Georgia" pitchFamily="34" charset="0"/>
                <a:ea typeface="Georgia" pitchFamily="34" charset="-122"/>
                <a:cs typeface="Georgia" pitchFamily="34" charset="-120"/>
              </a:rPr>
              <a:t> Caroline Woodcourt (close reader): </a:t>
            </a:r>
            <a:pPr algn="l" indent="0" marL="0">
              <a:spcBef>
                <a:spcPts val="400"/>
              </a:spcBef>
              <a:spcAft>
                <a:spcPts val="400"/>
              </a:spcAft>
              <a:buNone/>
            </a:pPr>
            <a:r>
              <a:rPr lang="en-US" sz="1500" b="1" dirty="0">
                <a:solidFill>
                  <a:srgbClr val="2D2926"/>
                </a:solidFill>
                <a:latin typeface="Georgia" pitchFamily="34" charset="0"/>
                <a:ea typeface="Georgia" pitchFamily="34" charset="-122"/>
                <a:cs typeface="Georgia" pitchFamily="34" charset="-120"/>
              </a:rPr>
              <a:t>29–34%</a:t>
            </a:r>
            <a:endParaRPr lang="en-US" sz="1500" dirty="0"/>
          </a:p>
        </p:txBody>
      </p:sp>
      <p:sp>
        <p:nvSpPr>
          <p:cNvPr id="78" name="Text 75"/>
          <p:cNvSpPr/>
          <p:nvPr/>
        </p:nvSpPr>
        <p:spPr>
          <a:xfrm>
            <a:off x="11440120" y="6440239"/>
            <a:ext cx="13969675" cy="209550"/>
          </a:xfrm>
          <a:prstGeom prst="rect">
            <a:avLst/>
          </a:prstGeom>
          <a:noFill/>
          <a:ln/>
        </p:spPr>
        <p:txBody>
          <a:bodyPr wrap="square" lIns="0" tIns="0" rIns="0" bIns="0" rtlCol="0" anchor="t"/>
          <a:lstStyle/>
          <a:p>
            <a:pPr algn="l" indent="0" marL="0">
              <a:spcBef>
                <a:spcPts val="400"/>
              </a:spcBef>
              <a:spcAft>
                <a:spcPts val="400"/>
              </a:spcAft>
              <a:buNone/>
            </a:pPr>
            <a:r>
              <a:rPr lang="en-US" sz="1500" dirty="0">
                <a:solidFill>
                  <a:srgbClr val="2D2926"/>
                </a:solidFill>
                <a:latin typeface="Georgia" pitchFamily="34" charset="0"/>
                <a:ea typeface="Georgia" pitchFamily="34" charset="-122"/>
                <a:cs typeface="Georgia" pitchFamily="34" charset="-120"/>
              </a:rPr>
              <a:t>Each stage reinforces the framework. The convergence is suggestive of Fish's (1980) thesis — but the engineering is the mechanism, and we name it honestly.</a:t>
            </a:r>
            <a:endParaRPr lang="en-US" sz="1500" dirty="0"/>
          </a:p>
        </p:txBody>
      </p:sp>
      <p:sp>
        <p:nvSpPr>
          <p:cNvPr id="79" name="Text 76"/>
          <p:cNvSpPr/>
          <p:nvPr/>
        </p:nvSpPr>
        <p:spPr>
          <a:xfrm>
            <a:off x="11303645" y="6963966"/>
            <a:ext cx="13968710" cy="10002441"/>
          </a:xfrm>
          <a:prstGeom prst="roundRect">
            <a:avLst>
              <a:gd name="adj" fmla="val 508"/>
            </a:avLst>
          </a:prstGeom>
          <a:solidFill>
            <a:srgbClr val="FFFFFF"/>
          </a:solidFill>
          <a:ln w="9525">
            <a:solidFill>
              <a:srgbClr val="E0DADA"/>
            </a:solidFill>
          </a:ln>
          <a:effectLst>
            <a:outerShdw sx="100000" sy="100000" kx="0" ky="0" algn="bl" rotWithShape="0" blurRad="101600" dist="17960" dir="2700000">
              <a:srgbClr val="000000">
                <a:alpha val="4000"/>
              </a:srgbClr>
            </a:outerShdw>
          </a:effectLst>
        </p:spPr>
        <p:txBody>
          <a:bodyPr wrap="square" rtlCol="0" anchor="ctr"/>
          <a:lstStyle/>
          <a:p>
            <a:pPr indent="0" marL="0">
              <a:buNone/>
            </a:pPr>
            <a:endParaRPr lang="en-US" dirty="0"/>
          </a:p>
        </p:txBody>
      </p:sp>
      <p:sp>
        <p:nvSpPr>
          <p:cNvPr id="80" name="Text 77"/>
          <p:cNvSpPr/>
          <p:nvPr/>
        </p:nvSpPr>
        <p:spPr>
          <a:xfrm>
            <a:off x="11440120" y="7100441"/>
            <a:ext cx="13969675" cy="371475"/>
          </a:xfrm>
          <a:prstGeom prst="rect">
            <a:avLst/>
          </a:prstGeom>
          <a:noFill/>
          <a:ln/>
        </p:spPr>
        <p:txBody>
          <a:bodyPr wrap="square" lIns="0" tIns="0" rIns="0" bIns="0" rtlCol="0" anchor="t"/>
          <a:lstStyle/>
          <a:p>
            <a:pPr algn="l" indent="0" marL="0">
              <a:buNone/>
            </a:pPr>
            <a:r>
              <a:rPr lang="en-US" sz="2600" dirty="0">
                <a:solidFill>
                  <a:srgbClr val="722F37"/>
                </a:solidFill>
                <a:latin typeface="Arial" pitchFamily="34" charset="0"/>
                <a:ea typeface="Arial" pitchFamily="34" charset="-122"/>
                <a:cs typeface="Arial" pitchFamily="34" charset="-120"/>
              </a:rPr>
              <a:t>Three Panels Discuss </a:t>
            </a:r>
            <a:pPr algn="l" indent="0" marL="0">
              <a:buNone/>
            </a:pPr>
            <a:r>
              <a:rPr lang="en-US" sz="2600" b="1" i="1" dirty="0">
                <a:solidFill>
                  <a:srgbClr val="722F37"/>
                </a:solidFill>
                <a:latin typeface="Arial" pitchFamily="34" charset="0"/>
                <a:ea typeface="Arial" pitchFamily="34" charset="-122"/>
                <a:cs typeface="Arial" pitchFamily="34" charset="-120"/>
              </a:rPr>
              <a:t>Bleak House</a:t>
            </a:r>
            <a:endParaRPr lang="en-US" sz="2600" dirty="0"/>
          </a:p>
        </p:txBody>
      </p:sp>
      <p:sp>
        <p:nvSpPr>
          <p:cNvPr id="81" name="Text 78"/>
          <p:cNvSpPr/>
          <p:nvPr/>
        </p:nvSpPr>
        <p:spPr>
          <a:xfrm>
            <a:off x="11440120" y="7497217"/>
            <a:ext cx="1777901" cy="38100"/>
          </a:xfrm>
          <a:prstGeom prst="rect">
            <a:avLst/>
          </a:prstGeom>
          <a:solidFill>
            <a:srgbClr val="B8860B"/>
          </a:solidFill>
          <a:ln/>
        </p:spPr>
        <p:txBody>
          <a:bodyPr wrap="square" rtlCol="0" anchor="ctr"/>
          <a:lstStyle/>
          <a:p>
            <a:pPr indent="0" marL="0">
              <a:buNone/>
            </a:pPr>
            <a:endParaRPr lang="en-US" dirty="0"/>
          </a:p>
        </p:txBody>
      </p:sp>
      <p:sp>
        <p:nvSpPr>
          <p:cNvPr id="82" name="Text 79"/>
          <p:cNvSpPr/>
          <p:nvPr/>
        </p:nvSpPr>
        <p:spPr>
          <a:xfrm>
            <a:off x="11440120" y="7611517"/>
            <a:ext cx="13969675" cy="295275"/>
          </a:xfrm>
          <a:prstGeom prst="rect">
            <a:avLst/>
          </a:prstGeom>
          <a:noFill/>
          <a:ln/>
        </p:spPr>
        <p:txBody>
          <a:bodyPr wrap="square" lIns="0" tIns="0" rIns="0" bIns="0" rtlCol="0" anchor="t"/>
          <a:lstStyle/>
          <a:p>
            <a:pPr algn="l" indent="0" marL="0">
              <a:spcBef>
                <a:spcPts val="600"/>
              </a:spcBef>
              <a:spcAft>
                <a:spcPts val="200"/>
              </a:spcAft>
              <a:buNone/>
            </a:pPr>
            <a:r>
              <a:rPr lang="en-US" sz="2000" b="1" dirty="0">
                <a:solidFill>
                  <a:srgbClr val="722F37"/>
                </a:solidFill>
                <a:latin typeface="Arial" pitchFamily="34" charset="0"/>
                <a:ea typeface="Arial" pitchFamily="34" charset="-122"/>
                <a:cs typeface="Arial" pitchFamily="34" charset="-120"/>
              </a:rPr>
              <a:t>Literary Panel</a:t>
            </a:r>
            <a:endParaRPr lang="en-US" sz="2000" dirty="0"/>
          </a:p>
        </p:txBody>
      </p:sp>
      <p:sp>
        <p:nvSpPr>
          <p:cNvPr id="83" name="Text 80"/>
          <p:cNvSpPr/>
          <p:nvPr/>
        </p:nvSpPr>
        <p:spPr>
          <a:xfrm>
            <a:off x="11440120" y="7944892"/>
            <a:ext cx="13695759" cy="764977"/>
          </a:xfrm>
          <a:prstGeom prst="rect">
            <a:avLst/>
          </a:prstGeom>
          <a:solidFill>
            <a:srgbClr val="722F37">
              <a:alpha val="9000"/>
            </a:srgbClr>
          </a:solidFill>
          <a:ln/>
        </p:spPr>
        <p:txBody>
          <a:bodyPr wrap="square" rtlCol="0" anchor="ctr"/>
          <a:lstStyle/>
          <a:p>
            <a:pPr indent="0" marL="0">
              <a:buNone/>
            </a:pPr>
            <a:endParaRPr lang="en-US" dirty="0"/>
          </a:p>
        </p:txBody>
      </p:sp>
      <p:sp>
        <p:nvSpPr>
          <p:cNvPr id="84" name="Shape 81"/>
          <p:cNvSpPr/>
          <p:nvPr/>
        </p:nvSpPr>
        <p:spPr>
          <a:xfrm>
            <a:off x="11463933" y="7944892"/>
            <a:ext cx="0" cy="764977"/>
          </a:xfrm>
          <a:prstGeom prst="line">
            <a:avLst/>
          </a:prstGeom>
          <a:noFill/>
          <a:ln w="47625">
            <a:solidFill>
              <a:srgbClr val="722F37"/>
            </a:solidFill>
            <a:prstDash val="solid"/>
          </a:ln>
        </p:spPr>
      </p:sp>
      <p:sp>
        <p:nvSpPr>
          <p:cNvPr id="85" name="Text 82"/>
          <p:cNvSpPr/>
          <p:nvPr/>
        </p:nvSpPr>
        <p:spPr>
          <a:xfrm>
            <a:off x="11589246" y="7995642"/>
            <a:ext cx="13714035" cy="219075"/>
          </a:xfrm>
          <a:prstGeom prst="rect">
            <a:avLst/>
          </a:prstGeom>
          <a:noFill/>
          <a:ln/>
        </p:spPr>
        <p:txBody>
          <a:bodyPr wrap="square" lIns="0" tIns="0" rIns="0" bIns="0" rtlCol="0" anchor="t"/>
          <a:lstStyle/>
          <a:p>
            <a:pPr algn="l" indent="0" marL="0">
              <a:spcAft>
                <a:spcPts val="200"/>
              </a:spcAft>
              <a:buNone/>
            </a:pPr>
            <a:r>
              <a:rPr lang="en-US" sz="1500" b="1" dirty="0">
                <a:solidFill>
                  <a:srgbClr val="722F37"/>
                </a:solidFill>
                <a:latin typeface="Arial" pitchFamily="34" charset="0"/>
                <a:ea typeface="Arial" pitchFamily="34" charset="-122"/>
                <a:cs typeface="Arial" pitchFamily="34" charset="-120"/>
              </a:rPr>
              <a:t>Eleanor Hartley (Literary Critic):</a:t>
            </a:r>
            <a:endParaRPr lang="en-US" sz="1500" dirty="0"/>
          </a:p>
        </p:txBody>
      </p:sp>
      <p:sp>
        <p:nvSpPr>
          <p:cNvPr id="86" name="Text 83"/>
          <p:cNvSpPr/>
          <p:nvPr/>
        </p:nvSpPr>
        <p:spPr>
          <a:xfrm>
            <a:off x="11589246" y="8240018"/>
            <a:ext cx="13714035" cy="419100"/>
          </a:xfrm>
          <a:prstGeom prst="rect">
            <a:avLst/>
          </a:prstGeom>
          <a:noFill/>
          <a:ln/>
        </p:spPr>
        <p:txBody>
          <a:bodyPr wrap="square" lIns="0" tIns="0" rIns="0" bIns="0" rtlCol="0" anchor="t"/>
          <a:lstStyle/>
          <a:p>
            <a:pPr algn="l" indent="0" marL="0">
              <a:buNone/>
            </a:pPr>
            <a:r>
              <a:rPr lang="en-US" sz="1500" i="1" dirty="0">
                <a:solidFill>
                  <a:srgbClr val="7A6E62"/>
                </a:solidFill>
                <a:latin typeface="Georgia" pitchFamily="34" charset="0"/>
                <a:ea typeface="Georgia" pitchFamily="34" charset="-122"/>
                <a:cs typeface="Georgia" pitchFamily="34" charset="-120"/>
              </a:rPr>
              <a:t>What strikes me about that Nemo sentence is the grammatical audacity of it. "A deserted infant" — Dickens reaches for the most helpless possible image of erasure. The infant image should be about beginning, and Dickens flips it into a closing.</a:t>
            </a:r>
            <a:endParaRPr lang="en-US" sz="1500" dirty="0"/>
          </a:p>
        </p:txBody>
      </p:sp>
      <p:sp>
        <p:nvSpPr>
          <p:cNvPr id="87" name="Text 84"/>
          <p:cNvSpPr/>
          <p:nvPr/>
        </p:nvSpPr>
        <p:spPr>
          <a:xfrm>
            <a:off x="11440120" y="8747968"/>
            <a:ext cx="13695759" cy="764977"/>
          </a:xfrm>
          <a:prstGeom prst="rect">
            <a:avLst/>
          </a:prstGeom>
          <a:solidFill>
            <a:srgbClr val="722F37">
              <a:alpha val="9000"/>
            </a:srgbClr>
          </a:solidFill>
          <a:ln/>
        </p:spPr>
        <p:txBody>
          <a:bodyPr wrap="square" rtlCol="0" anchor="ctr"/>
          <a:lstStyle/>
          <a:p>
            <a:pPr indent="0" marL="0">
              <a:buNone/>
            </a:pPr>
            <a:endParaRPr lang="en-US" dirty="0"/>
          </a:p>
        </p:txBody>
      </p:sp>
      <p:sp>
        <p:nvSpPr>
          <p:cNvPr id="88" name="Shape 85"/>
          <p:cNvSpPr/>
          <p:nvPr/>
        </p:nvSpPr>
        <p:spPr>
          <a:xfrm>
            <a:off x="11463933" y="8747968"/>
            <a:ext cx="0" cy="764977"/>
          </a:xfrm>
          <a:prstGeom prst="line">
            <a:avLst/>
          </a:prstGeom>
          <a:noFill/>
          <a:ln w="47625">
            <a:solidFill>
              <a:srgbClr val="722F37"/>
            </a:solidFill>
            <a:prstDash val="solid"/>
          </a:ln>
        </p:spPr>
      </p:sp>
      <p:sp>
        <p:nvSpPr>
          <p:cNvPr id="89" name="Text 86"/>
          <p:cNvSpPr/>
          <p:nvPr/>
        </p:nvSpPr>
        <p:spPr>
          <a:xfrm>
            <a:off x="11589246" y="8798719"/>
            <a:ext cx="13714035" cy="219075"/>
          </a:xfrm>
          <a:prstGeom prst="rect">
            <a:avLst/>
          </a:prstGeom>
          <a:noFill/>
          <a:ln/>
        </p:spPr>
        <p:txBody>
          <a:bodyPr wrap="square" lIns="0" tIns="0" rIns="0" bIns="0" rtlCol="0" anchor="t"/>
          <a:lstStyle/>
          <a:p>
            <a:pPr algn="l" indent="0" marL="0">
              <a:spcAft>
                <a:spcPts val="200"/>
              </a:spcAft>
              <a:buNone/>
            </a:pPr>
            <a:r>
              <a:rPr lang="en-US" sz="1500" b="1" dirty="0">
                <a:solidFill>
                  <a:srgbClr val="722F37"/>
                </a:solidFill>
                <a:latin typeface="Arial" pitchFamily="34" charset="0"/>
                <a:ea typeface="Arial" pitchFamily="34" charset="-122"/>
                <a:cs typeface="Arial" pitchFamily="34" charset="-120"/>
              </a:rPr>
              <a:t>James Blackstone (Social Historian):</a:t>
            </a:r>
            <a:endParaRPr lang="en-US" sz="1500" dirty="0"/>
          </a:p>
        </p:txBody>
      </p:sp>
      <p:sp>
        <p:nvSpPr>
          <p:cNvPr id="90" name="Text 87"/>
          <p:cNvSpPr/>
          <p:nvPr/>
        </p:nvSpPr>
        <p:spPr>
          <a:xfrm>
            <a:off x="11589246" y="9043095"/>
            <a:ext cx="13714035" cy="419100"/>
          </a:xfrm>
          <a:prstGeom prst="rect">
            <a:avLst/>
          </a:prstGeom>
          <a:noFill/>
          <a:ln/>
        </p:spPr>
        <p:txBody>
          <a:bodyPr wrap="square" lIns="0" tIns="0" rIns="0" bIns="0" rtlCol="0" anchor="t"/>
          <a:lstStyle/>
          <a:p>
            <a:pPr algn="l" indent="0" marL="0">
              <a:buNone/>
            </a:pPr>
            <a:r>
              <a:rPr lang="en-US" sz="1500" i="1" dirty="0">
                <a:solidFill>
                  <a:srgbClr val="7A6E62"/>
                </a:solidFill>
                <a:latin typeface="Georgia" pitchFamily="34" charset="0"/>
                <a:ea typeface="Georgia" pitchFamily="34" charset="-122"/>
                <a:cs typeface="Georgia" pitchFamily="34" charset="-120"/>
              </a:rPr>
              <a:t>The fog is not decoration. It is the Court of Chancery made visible. "Lies there with no more track behind him that any one can trace than a deserted infant." That sentence is the whole novel compressed into a single image.</a:t>
            </a:r>
            <a:endParaRPr lang="en-US" sz="1500" dirty="0"/>
          </a:p>
        </p:txBody>
      </p:sp>
      <p:sp>
        <p:nvSpPr>
          <p:cNvPr id="91" name="Text 88"/>
          <p:cNvSpPr/>
          <p:nvPr/>
        </p:nvSpPr>
        <p:spPr>
          <a:xfrm>
            <a:off x="11440120" y="9551045"/>
            <a:ext cx="13695759" cy="974527"/>
          </a:xfrm>
          <a:prstGeom prst="rect">
            <a:avLst/>
          </a:prstGeom>
          <a:solidFill>
            <a:srgbClr val="722F37">
              <a:alpha val="9000"/>
            </a:srgbClr>
          </a:solidFill>
          <a:ln/>
        </p:spPr>
        <p:txBody>
          <a:bodyPr wrap="square" rtlCol="0" anchor="ctr"/>
          <a:lstStyle/>
          <a:p>
            <a:pPr indent="0" marL="0">
              <a:buNone/>
            </a:pPr>
            <a:endParaRPr lang="en-US" dirty="0"/>
          </a:p>
        </p:txBody>
      </p:sp>
      <p:sp>
        <p:nvSpPr>
          <p:cNvPr id="92" name="Shape 89"/>
          <p:cNvSpPr/>
          <p:nvPr/>
        </p:nvSpPr>
        <p:spPr>
          <a:xfrm>
            <a:off x="11463933" y="9551045"/>
            <a:ext cx="0" cy="974527"/>
          </a:xfrm>
          <a:prstGeom prst="line">
            <a:avLst/>
          </a:prstGeom>
          <a:noFill/>
          <a:ln w="47625">
            <a:solidFill>
              <a:srgbClr val="722F37"/>
            </a:solidFill>
            <a:prstDash val="solid"/>
          </a:ln>
        </p:spPr>
      </p:sp>
      <p:sp>
        <p:nvSpPr>
          <p:cNvPr id="93" name="Text 90"/>
          <p:cNvSpPr/>
          <p:nvPr/>
        </p:nvSpPr>
        <p:spPr>
          <a:xfrm>
            <a:off x="11589246" y="9601795"/>
            <a:ext cx="13714035" cy="219075"/>
          </a:xfrm>
          <a:prstGeom prst="rect">
            <a:avLst/>
          </a:prstGeom>
          <a:noFill/>
          <a:ln/>
        </p:spPr>
        <p:txBody>
          <a:bodyPr wrap="square" lIns="0" tIns="0" rIns="0" bIns="0" rtlCol="0" anchor="t"/>
          <a:lstStyle/>
          <a:p>
            <a:pPr algn="l" indent="0" marL="0">
              <a:spcAft>
                <a:spcPts val="200"/>
              </a:spcAft>
              <a:buNone/>
            </a:pPr>
            <a:r>
              <a:rPr lang="en-US" sz="1500" b="1" dirty="0">
                <a:solidFill>
                  <a:srgbClr val="722F37"/>
                </a:solidFill>
                <a:latin typeface="Arial" pitchFamily="34" charset="0"/>
                <a:ea typeface="Arial" pitchFamily="34" charset="-122"/>
                <a:cs typeface="Arial" pitchFamily="34" charset="-120"/>
              </a:rPr>
              <a:t>Caroline Woodcourt (Close Reader):</a:t>
            </a:r>
            <a:endParaRPr lang="en-US" sz="1500" dirty="0"/>
          </a:p>
        </p:txBody>
      </p:sp>
      <p:sp>
        <p:nvSpPr>
          <p:cNvPr id="94" name="Text 91"/>
          <p:cNvSpPr/>
          <p:nvPr/>
        </p:nvSpPr>
        <p:spPr>
          <a:xfrm>
            <a:off x="11589246" y="9846171"/>
            <a:ext cx="13714035" cy="628650"/>
          </a:xfrm>
          <a:prstGeom prst="rect">
            <a:avLst/>
          </a:prstGeom>
          <a:noFill/>
          <a:ln/>
        </p:spPr>
        <p:txBody>
          <a:bodyPr wrap="square" lIns="0" tIns="0" rIns="0" bIns="0" rtlCol="0" anchor="t"/>
          <a:lstStyle/>
          <a:p>
            <a:pPr algn="l" indent="0" marL="0">
              <a:buNone/>
            </a:pPr>
            <a:r>
              <a:rPr lang="en-US" sz="1500" i="1" dirty="0">
                <a:solidFill>
                  <a:srgbClr val="7A6E62"/>
                </a:solidFill>
                <a:latin typeface="Georgia" pitchFamily="34" charset="0"/>
                <a:ea typeface="Georgia" pitchFamily="34" charset="-122"/>
                <a:cs typeface="Georgia" pitchFamily="34" charset="-120"/>
              </a:rPr>
              <a:t>Readers sometimes use the fog as a kind of permission — "this is a great symbolic novel, I'm in the presence of Literature with a capital L" — and then they stop actually listening to what Dickens is telling them. What moves me is something far quieter — the moment where a human life is described as leaving no trace.</a:t>
            </a:r>
            <a:endParaRPr lang="en-US" sz="1500" dirty="0"/>
          </a:p>
        </p:txBody>
      </p:sp>
      <p:sp>
        <p:nvSpPr>
          <p:cNvPr id="95" name="Text 92"/>
          <p:cNvSpPr/>
          <p:nvPr/>
        </p:nvSpPr>
        <p:spPr>
          <a:xfrm>
            <a:off x="11440120" y="10601771"/>
            <a:ext cx="13969675" cy="295275"/>
          </a:xfrm>
          <a:prstGeom prst="rect">
            <a:avLst/>
          </a:prstGeom>
          <a:noFill/>
          <a:ln/>
        </p:spPr>
        <p:txBody>
          <a:bodyPr wrap="square" lIns="0" tIns="0" rIns="0" bIns="0" rtlCol="0" anchor="t"/>
          <a:lstStyle/>
          <a:p>
            <a:pPr algn="l" indent="0" marL="0">
              <a:spcBef>
                <a:spcPts val="600"/>
              </a:spcBef>
              <a:spcAft>
                <a:spcPts val="200"/>
              </a:spcAft>
              <a:buNone/>
            </a:pPr>
            <a:r>
              <a:rPr lang="en-US" sz="2000" b="1" dirty="0">
                <a:solidFill>
                  <a:srgbClr val="722F37"/>
                </a:solidFill>
                <a:latin typeface="Arial" pitchFamily="34" charset="0"/>
                <a:ea typeface="Arial" pitchFamily="34" charset="-122"/>
                <a:cs typeface="Arial" pitchFamily="34" charset="-120"/>
              </a:rPr>
              <a:t>Interdisciplinary Panel</a:t>
            </a:r>
            <a:endParaRPr lang="en-US" sz="2000" dirty="0"/>
          </a:p>
        </p:txBody>
      </p:sp>
      <p:sp>
        <p:nvSpPr>
          <p:cNvPr id="96" name="Text 93"/>
          <p:cNvSpPr/>
          <p:nvPr/>
        </p:nvSpPr>
        <p:spPr>
          <a:xfrm>
            <a:off x="11440120" y="10935146"/>
            <a:ext cx="13695759" cy="764977"/>
          </a:xfrm>
          <a:prstGeom prst="rect">
            <a:avLst/>
          </a:prstGeom>
          <a:solidFill>
            <a:srgbClr val="2D6B5E">
              <a:alpha val="9000"/>
            </a:srgbClr>
          </a:solidFill>
          <a:ln/>
        </p:spPr>
        <p:txBody>
          <a:bodyPr wrap="square" rtlCol="0" anchor="ctr"/>
          <a:lstStyle/>
          <a:p>
            <a:pPr indent="0" marL="0">
              <a:buNone/>
            </a:pPr>
            <a:endParaRPr lang="en-US" dirty="0"/>
          </a:p>
        </p:txBody>
      </p:sp>
      <p:sp>
        <p:nvSpPr>
          <p:cNvPr id="97" name="Shape 94"/>
          <p:cNvSpPr/>
          <p:nvPr/>
        </p:nvSpPr>
        <p:spPr>
          <a:xfrm>
            <a:off x="11463933" y="10935146"/>
            <a:ext cx="0" cy="764977"/>
          </a:xfrm>
          <a:prstGeom prst="line">
            <a:avLst/>
          </a:prstGeom>
          <a:noFill/>
          <a:ln w="47625">
            <a:solidFill>
              <a:srgbClr val="2D6B5E"/>
            </a:solidFill>
            <a:prstDash val="solid"/>
          </a:ln>
        </p:spPr>
      </p:sp>
      <p:sp>
        <p:nvSpPr>
          <p:cNvPr id="98" name="Text 95"/>
          <p:cNvSpPr/>
          <p:nvPr/>
        </p:nvSpPr>
        <p:spPr>
          <a:xfrm>
            <a:off x="11589246" y="10985897"/>
            <a:ext cx="13714035" cy="219075"/>
          </a:xfrm>
          <a:prstGeom prst="rect">
            <a:avLst/>
          </a:prstGeom>
          <a:noFill/>
          <a:ln/>
        </p:spPr>
        <p:txBody>
          <a:bodyPr wrap="square" lIns="0" tIns="0" rIns="0" bIns="0" rtlCol="0" anchor="t"/>
          <a:lstStyle/>
          <a:p>
            <a:pPr algn="l" indent="0" marL="0">
              <a:spcAft>
                <a:spcPts val="200"/>
              </a:spcAft>
              <a:buNone/>
            </a:pPr>
            <a:r>
              <a:rPr lang="en-US" sz="1500" b="1" dirty="0">
                <a:solidFill>
                  <a:srgbClr val="2D6B5E"/>
                </a:solidFill>
                <a:latin typeface="Arial" pitchFamily="34" charset="0"/>
                <a:ea typeface="Arial" pitchFamily="34" charset="-122"/>
                <a:cs typeface="Arial" pitchFamily="34" charset="-120"/>
              </a:rPr>
              <a:t>Sarah Chen (NLP Scientist):</a:t>
            </a:r>
            <a:endParaRPr lang="en-US" sz="1500" dirty="0"/>
          </a:p>
        </p:txBody>
      </p:sp>
      <p:sp>
        <p:nvSpPr>
          <p:cNvPr id="99" name="Text 96"/>
          <p:cNvSpPr/>
          <p:nvPr/>
        </p:nvSpPr>
        <p:spPr>
          <a:xfrm>
            <a:off x="11589246" y="11230273"/>
            <a:ext cx="13714035" cy="419100"/>
          </a:xfrm>
          <a:prstGeom prst="rect">
            <a:avLst/>
          </a:prstGeom>
          <a:noFill/>
          <a:ln/>
        </p:spPr>
        <p:txBody>
          <a:bodyPr wrap="square" lIns="0" tIns="0" rIns="0" bIns="0" rtlCol="0" anchor="t"/>
          <a:lstStyle/>
          <a:p>
            <a:pPr algn="l" indent="0" marL="0">
              <a:buNone/>
            </a:pPr>
            <a:r>
              <a:rPr lang="en-US" sz="1500" i="1" dirty="0">
                <a:solidFill>
                  <a:srgbClr val="7A6E62"/>
                </a:solidFill>
                <a:latin typeface="Georgia" pitchFamily="34" charset="0"/>
                <a:ea typeface="Georgia" pitchFamily="34" charset="-122"/>
                <a:cs typeface="Georgia" pitchFamily="34" charset="-120"/>
              </a:rPr>
              <a:t>That is a noun phrase with four pre-nominal modifiers, each compounded — and then "brazen-faced" pulls the floor out. The first three feel like nautical specifications — they're doing the register of technical competence — and the fourth is an insult.</a:t>
            </a:r>
            <a:endParaRPr lang="en-US" sz="1500" dirty="0"/>
          </a:p>
        </p:txBody>
      </p:sp>
      <p:sp>
        <p:nvSpPr>
          <p:cNvPr id="100" name="Text 97"/>
          <p:cNvSpPr/>
          <p:nvPr/>
        </p:nvSpPr>
        <p:spPr>
          <a:xfrm>
            <a:off x="11440120" y="11738223"/>
            <a:ext cx="13695759" cy="764977"/>
          </a:xfrm>
          <a:prstGeom prst="rect">
            <a:avLst/>
          </a:prstGeom>
          <a:solidFill>
            <a:srgbClr val="2D6B5E">
              <a:alpha val="9000"/>
            </a:srgbClr>
          </a:solidFill>
          <a:ln/>
        </p:spPr>
        <p:txBody>
          <a:bodyPr wrap="square" rtlCol="0" anchor="ctr"/>
          <a:lstStyle/>
          <a:p>
            <a:pPr indent="0" marL="0">
              <a:buNone/>
            </a:pPr>
            <a:endParaRPr lang="en-US" dirty="0"/>
          </a:p>
        </p:txBody>
      </p:sp>
      <p:sp>
        <p:nvSpPr>
          <p:cNvPr id="101" name="Shape 98"/>
          <p:cNvSpPr/>
          <p:nvPr/>
        </p:nvSpPr>
        <p:spPr>
          <a:xfrm>
            <a:off x="11463933" y="11738223"/>
            <a:ext cx="0" cy="764977"/>
          </a:xfrm>
          <a:prstGeom prst="line">
            <a:avLst/>
          </a:prstGeom>
          <a:noFill/>
          <a:ln w="47625">
            <a:solidFill>
              <a:srgbClr val="2D6B5E"/>
            </a:solidFill>
            <a:prstDash val="solid"/>
          </a:ln>
        </p:spPr>
      </p:sp>
      <p:sp>
        <p:nvSpPr>
          <p:cNvPr id="102" name="Text 99"/>
          <p:cNvSpPr/>
          <p:nvPr/>
        </p:nvSpPr>
        <p:spPr>
          <a:xfrm>
            <a:off x="11589246" y="11788973"/>
            <a:ext cx="13714035" cy="219075"/>
          </a:xfrm>
          <a:prstGeom prst="rect">
            <a:avLst/>
          </a:prstGeom>
          <a:noFill/>
          <a:ln/>
        </p:spPr>
        <p:txBody>
          <a:bodyPr wrap="square" lIns="0" tIns="0" rIns="0" bIns="0" rtlCol="0" anchor="t"/>
          <a:lstStyle/>
          <a:p>
            <a:pPr algn="l" indent="0" marL="0">
              <a:spcAft>
                <a:spcPts val="200"/>
              </a:spcAft>
              <a:buNone/>
            </a:pPr>
            <a:r>
              <a:rPr lang="en-US" sz="1500" b="1" dirty="0">
                <a:solidFill>
                  <a:srgbClr val="2D6B5E"/>
                </a:solidFill>
                <a:latin typeface="Arial" pitchFamily="34" charset="0"/>
                <a:ea typeface="Arial" pitchFamily="34" charset="-122"/>
                <a:cs typeface="Arial" pitchFamily="34" charset="-120"/>
              </a:rPr>
              <a:t>Elena Volkov (Musicologist):</a:t>
            </a:r>
            <a:endParaRPr lang="en-US" sz="1500" dirty="0"/>
          </a:p>
        </p:txBody>
      </p:sp>
      <p:sp>
        <p:nvSpPr>
          <p:cNvPr id="103" name="Text 100"/>
          <p:cNvSpPr/>
          <p:nvPr/>
        </p:nvSpPr>
        <p:spPr>
          <a:xfrm>
            <a:off x="11589246" y="12033349"/>
            <a:ext cx="13714035" cy="419100"/>
          </a:xfrm>
          <a:prstGeom prst="rect">
            <a:avLst/>
          </a:prstGeom>
          <a:noFill/>
          <a:ln/>
        </p:spPr>
        <p:txBody>
          <a:bodyPr wrap="square" lIns="0" tIns="0" rIns="0" bIns="0" rtlCol="0" anchor="t"/>
          <a:lstStyle/>
          <a:p>
            <a:pPr algn="l" indent="0" marL="0">
              <a:buNone/>
            </a:pPr>
            <a:r>
              <a:rPr lang="en-US" sz="1500" i="1" dirty="0">
                <a:solidFill>
                  <a:srgbClr val="7A6E62"/>
                </a:solidFill>
                <a:latin typeface="Georgia" pitchFamily="34" charset="0"/>
                <a:ea typeface="Georgia" pitchFamily="34" charset="-122"/>
                <a:cs typeface="Georgia" pitchFamily="34" charset="-120"/>
              </a:rPr>
              <a:t>Institutions don't announce their corruption — they announce their solidity, their procedure, their continuity. I spent years studying how Soviet conservatories presented themselves as nurturing talent while systematically destroying composers who stepped out of line.</a:t>
            </a:r>
            <a:endParaRPr lang="en-US" sz="1500" dirty="0"/>
          </a:p>
        </p:txBody>
      </p:sp>
      <p:sp>
        <p:nvSpPr>
          <p:cNvPr id="104" name="Text 101"/>
          <p:cNvSpPr/>
          <p:nvPr/>
        </p:nvSpPr>
        <p:spPr>
          <a:xfrm>
            <a:off x="11440120" y="12541300"/>
            <a:ext cx="13695759" cy="764977"/>
          </a:xfrm>
          <a:prstGeom prst="rect">
            <a:avLst/>
          </a:prstGeom>
          <a:solidFill>
            <a:srgbClr val="2D6B5E">
              <a:alpha val="9000"/>
            </a:srgbClr>
          </a:solidFill>
          <a:ln/>
        </p:spPr>
        <p:txBody>
          <a:bodyPr wrap="square" rtlCol="0" anchor="ctr"/>
          <a:lstStyle/>
          <a:p>
            <a:pPr indent="0" marL="0">
              <a:buNone/>
            </a:pPr>
            <a:endParaRPr lang="en-US" dirty="0"/>
          </a:p>
        </p:txBody>
      </p:sp>
      <p:sp>
        <p:nvSpPr>
          <p:cNvPr id="105" name="Shape 102"/>
          <p:cNvSpPr/>
          <p:nvPr/>
        </p:nvSpPr>
        <p:spPr>
          <a:xfrm>
            <a:off x="11463933" y="12541300"/>
            <a:ext cx="0" cy="764977"/>
          </a:xfrm>
          <a:prstGeom prst="line">
            <a:avLst/>
          </a:prstGeom>
          <a:noFill/>
          <a:ln w="47625">
            <a:solidFill>
              <a:srgbClr val="2D6B5E"/>
            </a:solidFill>
            <a:prstDash val="solid"/>
          </a:ln>
        </p:spPr>
      </p:sp>
      <p:sp>
        <p:nvSpPr>
          <p:cNvPr id="106" name="Text 103"/>
          <p:cNvSpPr/>
          <p:nvPr/>
        </p:nvSpPr>
        <p:spPr>
          <a:xfrm>
            <a:off x="11589246" y="12592050"/>
            <a:ext cx="13714035" cy="219075"/>
          </a:xfrm>
          <a:prstGeom prst="rect">
            <a:avLst/>
          </a:prstGeom>
          <a:noFill/>
          <a:ln/>
        </p:spPr>
        <p:txBody>
          <a:bodyPr wrap="square" lIns="0" tIns="0" rIns="0" bIns="0" rtlCol="0" anchor="t"/>
          <a:lstStyle/>
          <a:p>
            <a:pPr algn="l" indent="0" marL="0">
              <a:spcAft>
                <a:spcPts val="200"/>
              </a:spcAft>
              <a:buNone/>
            </a:pPr>
            <a:r>
              <a:rPr lang="en-US" sz="1500" b="1" dirty="0">
                <a:solidFill>
                  <a:srgbClr val="2D6B5E"/>
                </a:solidFill>
                <a:latin typeface="Arial" pitchFamily="34" charset="0"/>
                <a:ea typeface="Arial" pitchFamily="34" charset="-122"/>
                <a:cs typeface="Arial" pitchFamily="34" charset="-120"/>
              </a:rPr>
              <a:t>Rebecca Martinez (Astronomer):</a:t>
            </a:r>
            <a:endParaRPr lang="en-US" sz="1500" dirty="0"/>
          </a:p>
        </p:txBody>
      </p:sp>
      <p:sp>
        <p:nvSpPr>
          <p:cNvPr id="107" name="Text 104"/>
          <p:cNvSpPr/>
          <p:nvPr/>
        </p:nvSpPr>
        <p:spPr>
          <a:xfrm>
            <a:off x="11589246" y="12836426"/>
            <a:ext cx="13714035" cy="419100"/>
          </a:xfrm>
          <a:prstGeom prst="rect">
            <a:avLst/>
          </a:prstGeom>
          <a:noFill/>
          <a:ln/>
        </p:spPr>
        <p:txBody>
          <a:bodyPr wrap="square" lIns="0" tIns="0" rIns="0" bIns="0" rtlCol="0" anchor="t"/>
          <a:lstStyle/>
          <a:p>
            <a:pPr algn="l" indent="0" marL="0">
              <a:buNone/>
            </a:pPr>
            <a:r>
              <a:rPr lang="en-US" sz="1500" i="1" dirty="0">
                <a:solidFill>
                  <a:srgbClr val="7A6E62"/>
                </a:solidFill>
                <a:latin typeface="Georgia" pitchFamily="34" charset="0"/>
                <a:ea typeface="Georgia" pitchFamily="34" charset="-122"/>
                <a:cs typeface="Georgia" pitchFamily="34" charset="-120"/>
              </a:rPr>
              <a:t>The ships of Law and Equity aren't sunk, they're in reserve. In my field, we'd say the system is in a quasi-stable state. The energy is there. Nothing has been resolved. The fog is the natural atmosphere of a system that has never actually resolved anything.</a:t>
            </a:r>
            <a:endParaRPr lang="en-US" sz="1500" dirty="0"/>
          </a:p>
        </p:txBody>
      </p:sp>
      <p:sp>
        <p:nvSpPr>
          <p:cNvPr id="108" name="Text 105"/>
          <p:cNvSpPr/>
          <p:nvPr/>
        </p:nvSpPr>
        <p:spPr>
          <a:xfrm>
            <a:off x="11440120" y="13382476"/>
            <a:ext cx="13969675" cy="419100"/>
          </a:xfrm>
          <a:prstGeom prst="rect">
            <a:avLst/>
          </a:prstGeom>
          <a:noFill/>
          <a:ln/>
        </p:spPr>
        <p:txBody>
          <a:bodyPr wrap="square" lIns="0" tIns="0" rIns="0" bIns="0" rtlCol="0" anchor="t"/>
          <a:lstStyle/>
          <a:p>
            <a:pPr algn="l" indent="0" marL="0">
              <a:spcBef>
                <a:spcPts val="600"/>
              </a:spcBef>
              <a:buNone/>
            </a:pPr>
            <a:r>
              <a:rPr lang="en-US" sz="1500" dirty="0">
                <a:solidFill>
                  <a:srgbClr val="2D2926"/>
                </a:solidFill>
                <a:latin typeface="Georgia" pitchFamily="34" charset="0"/>
                <a:ea typeface="Georgia" pitchFamily="34" charset="-122"/>
                <a:cs typeface="Georgia" pitchFamily="34" charset="-120"/>
              </a:rPr>
              <a:t>The experts bring their </a:t>
            </a:r>
            <a:pPr algn="l" indent="0" marL="0">
              <a:spcBef>
                <a:spcPts val="600"/>
              </a:spcBef>
              <a:buNone/>
            </a:pPr>
            <a:r>
              <a:rPr lang="en-US" sz="1500" b="1" dirty="0">
                <a:solidFill>
                  <a:srgbClr val="2D2926"/>
                </a:solidFill>
                <a:latin typeface="Georgia" pitchFamily="34" charset="0"/>
                <a:ea typeface="Georgia" pitchFamily="34" charset="-122"/>
                <a:cs typeface="Georgia" pitchFamily="34" charset="-120"/>
              </a:rPr>
              <a:t>metaphors</a:t>
            </a:r>
            <a:pPr algn="l" indent="0" marL="0">
              <a:spcBef>
                <a:spcPts val="600"/>
              </a:spcBef>
              <a:buNone/>
            </a:pPr>
            <a:r>
              <a:rPr lang="en-US" sz="1500" dirty="0">
                <a:solidFill>
                  <a:srgbClr val="2D2926"/>
                </a:solidFill>
                <a:latin typeface="Georgia" pitchFamily="34" charset="0"/>
                <a:ea typeface="Georgia" pitchFamily="34" charset="-122"/>
                <a:cs typeface="Georgia" pitchFamily="34" charset="-120"/>
              </a:rPr>
              <a:t> (quasi-stable states, leitmotifs, phrase structure) but not their </a:t>
            </a:r>
            <a:pPr algn="l" indent="0" marL="0">
              <a:spcBef>
                <a:spcPts val="600"/>
              </a:spcBef>
              <a:buNone/>
            </a:pPr>
            <a:r>
              <a:rPr lang="en-US" sz="1500" b="1" dirty="0">
                <a:solidFill>
                  <a:srgbClr val="2D2926"/>
                </a:solidFill>
                <a:latin typeface="Georgia" pitchFamily="34" charset="0"/>
                <a:ea typeface="Georgia" pitchFamily="34" charset="-122"/>
                <a:cs typeface="Georgia" pitchFamily="34" charset="-120"/>
              </a:rPr>
              <a:t>methods</a:t>
            </a:r>
            <a:pPr algn="l" indent="0" marL="0">
              <a:spcBef>
                <a:spcPts val="600"/>
              </a:spcBef>
              <a:buNone/>
            </a:pPr>
            <a:r>
              <a:rPr lang="en-US" sz="1500" dirty="0">
                <a:solidFill>
                  <a:srgbClr val="2D2926"/>
                </a:solidFill>
                <a:latin typeface="Georgia" pitchFamily="34" charset="0"/>
                <a:ea typeface="Georgia" pitchFamily="34" charset="-122"/>
                <a:cs typeface="Georgia" pitchFamily="34" charset="-120"/>
              </a:rPr>
              <a:t> — the scaffold imports literary-critical norms regardless of the persona.</a:t>
            </a:r>
            <a:endParaRPr lang="en-US" sz="1500" dirty="0"/>
          </a:p>
        </p:txBody>
      </p:sp>
      <p:sp>
        <p:nvSpPr>
          <p:cNvPr id="109" name="Text 106"/>
          <p:cNvSpPr/>
          <p:nvPr/>
        </p:nvSpPr>
        <p:spPr>
          <a:xfrm>
            <a:off x="11440120" y="13877776"/>
            <a:ext cx="13969675" cy="295275"/>
          </a:xfrm>
          <a:prstGeom prst="rect">
            <a:avLst/>
          </a:prstGeom>
          <a:noFill/>
          <a:ln/>
        </p:spPr>
        <p:txBody>
          <a:bodyPr wrap="square" lIns="0" tIns="0" rIns="0" bIns="0" rtlCol="0" anchor="t"/>
          <a:lstStyle/>
          <a:p>
            <a:pPr algn="l" indent="0" marL="0">
              <a:spcBef>
                <a:spcPts val="600"/>
              </a:spcBef>
              <a:spcAft>
                <a:spcPts val="200"/>
              </a:spcAft>
              <a:buNone/>
            </a:pPr>
            <a:r>
              <a:rPr lang="en-US" sz="2000" b="1" dirty="0">
                <a:solidFill>
                  <a:srgbClr val="722F37"/>
                </a:solidFill>
                <a:latin typeface="Arial" pitchFamily="34" charset="0"/>
                <a:ea typeface="Arial" pitchFamily="34" charset="-122"/>
                <a:cs typeface="Arial" pitchFamily="34" charset="-120"/>
              </a:rPr>
              <a:t>Alternative Panel</a:t>
            </a:r>
            <a:endParaRPr lang="en-US" sz="2000" dirty="0"/>
          </a:p>
        </p:txBody>
      </p:sp>
      <p:sp>
        <p:nvSpPr>
          <p:cNvPr id="110" name="Text 107"/>
          <p:cNvSpPr/>
          <p:nvPr/>
        </p:nvSpPr>
        <p:spPr>
          <a:xfrm>
            <a:off x="11440120" y="14211151"/>
            <a:ext cx="13695759" cy="764977"/>
          </a:xfrm>
          <a:prstGeom prst="rect">
            <a:avLst/>
          </a:prstGeom>
          <a:solidFill>
            <a:srgbClr val="8B6030">
              <a:alpha val="9000"/>
            </a:srgbClr>
          </a:solidFill>
          <a:ln/>
        </p:spPr>
        <p:txBody>
          <a:bodyPr wrap="square" rtlCol="0" anchor="ctr"/>
          <a:lstStyle/>
          <a:p>
            <a:pPr indent="0" marL="0">
              <a:buNone/>
            </a:pPr>
            <a:endParaRPr lang="en-US" dirty="0"/>
          </a:p>
        </p:txBody>
      </p:sp>
      <p:sp>
        <p:nvSpPr>
          <p:cNvPr id="111" name="Shape 108"/>
          <p:cNvSpPr/>
          <p:nvPr/>
        </p:nvSpPr>
        <p:spPr>
          <a:xfrm>
            <a:off x="11463933" y="14211151"/>
            <a:ext cx="0" cy="764977"/>
          </a:xfrm>
          <a:prstGeom prst="line">
            <a:avLst/>
          </a:prstGeom>
          <a:noFill/>
          <a:ln w="47625">
            <a:solidFill>
              <a:srgbClr val="8B6030"/>
            </a:solidFill>
            <a:prstDash val="solid"/>
          </a:ln>
        </p:spPr>
      </p:sp>
      <p:sp>
        <p:nvSpPr>
          <p:cNvPr id="112" name="Text 109"/>
          <p:cNvSpPr/>
          <p:nvPr/>
        </p:nvSpPr>
        <p:spPr>
          <a:xfrm>
            <a:off x="11589246" y="14261902"/>
            <a:ext cx="13714035" cy="219075"/>
          </a:xfrm>
          <a:prstGeom prst="rect">
            <a:avLst/>
          </a:prstGeom>
          <a:noFill/>
          <a:ln/>
        </p:spPr>
        <p:txBody>
          <a:bodyPr wrap="square" lIns="0" tIns="0" rIns="0" bIns="0" rtlCol="0" anchor="t"/>
          <a:lstStyle/>
          <a:p>
            <a:pPr algn="l" indent="0" marL="0">
              <a:spcAft>
                <a:spcPts val="200"/>
              </a:spcAft>
              <a:buNone/>
            </a:pPr>
            <a:r>
              <a:rPr lang="en-US" sz="1500" b="1" dirty="0">
                <a:solidFill>
                  <a:srgbClr val="8B6030"/>
                </a:solidFill>
                <a:latin typeface="Arial" pitchFamily="34" charset="0"/>
                <a:ea typeface="Arial" pitchFamily="34" charset="-122"/>
                <a:cs typeface="Arial" pitchFamily="34" charset="-120"/>
              </a:rPr>
              <a:t>Oliver Trevelyan (Actor &amp; Narrator):</a:t>
            </a:r>
            <a:endParaRPr lang="en-US" sz="1500" dirty="0"/>
          </a:p>
        </p:txBody>
      </p:sp>
      <p:sp>
        <p:nvSpPr>
          <p:cNvPr id="113" name="Text 110"/>
          <p:cNvSpPr/>
          <p:nvPr/>
        </p:nvSpPr>
        <p:spPr>
          <a:xfrm>
            <a:off x="11589246" y="14506277"/>
            <a:ext cx="13714035" cy="419100"/>
          </a:xfrm>
          <a:prstGeom prst="rect">
            <a:avLst/>
          </a:prstGeom>
          <a:noFill/>
          <a:ln/>
        </p:spPr>
        <p:txBody>
          <a:bodyPr wrap="square" lIns="0" tIns="0" rIns="0" bIns="0" rtlCol="0" anchor="t"/>
          <a:lstStyle/>
          <a:p>
            <a:pPr algn="l" indent="0" marL="0">
              <a:buNone/>
            </a:pPr>
            <a:r>
              <a:rPr lang="en-US" sz="1500" dirty="0">
                <a:solidFill>
                  <a:srgbClr val="7A6E62"/>
                </a:solidFill>
                <a:latin typeface="Georgia" pitchFamily="34" charset="0"/>
                <a:ea typeface="Georgia" pitchFamily="34" charset="-122"/>
                <a:cs typeface="Georgia" pitchFamily="34" charset="-120"/>
              </a:rPr>
              <a:t>When I first read it aloud — really </a:t>
            </a:r>
            <a:pPr algn="l" indent="0" marL="0">
              <a:buNone/>
            </a:pPr>
            <a:r>
              <a:rPr lang="en-US" sz="1500" i="1" dirty="0">
                <a:solidFill>
                  <a:srgbClr val="7A6E62"/>
                </a:solidFill>
                <a:latin typeface="Georgia" pitchFamily="34" charset="0"/>
                <a:ea typeface="Georgia" pitchFamily="34" charset="-122"/>
                <a:cs typeface="Georgia" pitchFamily="34" charset="-120"/>
              </a:rPr>
              <a:t>performed</a:t>
            </a:r>
            <a:pPr algn="l" indent="0" marL="0">
              <a:buNone/>
            </a:pPr>
            <a:r>
              <a:rPr lang="en-US" sz="1500" dirty="0">
                <a:solidFill>
                  <a:srgbClr val="7A6E62"/>
                </a:solidFill>
                <a:latin typeface="Georgia" pitchFamily="34" charset="0"/>
                <a:ea typeface="Georgia" pitchFamily="34" charset="-122"/>
                <a:cs typeface="Georgia" pitchFamily="34" charset="-120"/>
              </a:rPr>
              <a:t> it — I remember stopping and thinking: this is incantation, not description. He builds an atmosphere so thick and particular it becomes a character in its own right.</a:t>
            </a:r>
            <a:endParaRPr lang="en-US" sz="1500" dirty="0"/>
          </a:p>
        </p:txBody>
      </p:sp>
      <p:sp>
        <p:nvSpPr>
          <p:cNvPr id="114" name="Text 111"/>
          <p:cNvSpPr/>
          <p:nvPr/>
        </p:nvSpPr>
        <p:spPr>
          <a:xfrm>
            <a:off x="11440120" y="15014228"/>
            <a:ext cx="13695759" cy="974527"/>
          </a:xfrm>
          <a:prstGeom prst="rect">
            <a:avLst/>
          </a:prstGeom>
          <a:solidFill>
            <a:srgbClr val="8B6030">
              <a:alpha val="9000"/>
            </a:srgbClr>
          </a:solidFill>
          <a:ln/>
        </p:spPr>
        <p:txBody>
          <a:bodyPr wrap="square" rtlCol="0" anchor="ctr"/>
          <a:lstStyle/>
          <a:p>
            <a:pPr indent="0" marL="0">
              <a:buNone/>
            </a:pPr>
            <a:endParaRPr lang="en-US" dirty="0"/>
          </a:p>
        </p:txBody>
      </p:sp>
      <p:sp>
        <p:nvSpPr>
          <p:cNvPr id="115" name="Shape 112"/>
          <p:cNvSpPr/>
          <p:nvPr/>
        </p:nvSpPr>
        <p:spPr>
          <a:xfrm>
            <a:off x="11463933" y="15014228"/>
            <a:ext cx="0" cy="974527"/>
          </a:xfrm>
          <a:prstGeom prst="line">
            <a:avLst/>
          </a:prstGeom>
          <a:noFill/>
          <a:ln w="47625">
            <a:solidFill>
              <a:srgbClr val="8B6030"/>
            </a:solidFill>
            <a:prstDash val="solid"/>
          </a:ln>
        </p:spPr>
      </p:sp>
      <p:sp>
        <p:nvSpPr>
          <p:cNvPr id="116" name="Text 113"/>
          <p:cNvSpPr/>
          <p:nvPr/>
        </p:nvSpPr>
        <p:spPr>
          <a:xfrm>
            <a:off x="11589246" y="15064978"/>
            <a:ext cx="13714035" cy="219075"/>
          </a:xfrm>
          <a:prstGeom prst="rect">
            <a:avLst/>
          </a:prstGeom>
          <a:noFill/>
          <a:ln/>
        </p:spPr>
        <p:txBody>
          <a:bodyPr wrap="square" lIns="0" tIns="0" rIns="0" bIns="0" rtlCol="0" anchor="t"/>
          <a:lstStyle/>
          <a:p>
            <a:pPr algn="l" indent="0" marL="0">
              <a:spcAft>
                <a:spcPts val="200"/>
              </a:spcAft>
              <a:buNone/>
            </a:pPr>
            <a:r>
              <a:rPr lang="en-US" sz="1500" b="1" dirty="0">
                <a:solidFill>
                  <a:srgbClr val="8B6030"/>
                </a:solidFill>
                <a:latin typeface="Arial" pitchFamily="34" charset="0"/>
                <a:ea typeface="Arial" pitchFamily="34" charset="-122"/>
                <a:cs typeface="Arial" pitchFamily="34" charset="-120"/>
              </a:rPr>
              <a:t>Daniel Rosen (Marxist Historian):</a:t>
            </a:r>
            <a:endParaRPr lang="en-US" sz="1500" dirty="0"/>
          </a:p>
        </p:txBody>
      </p:sp>
      <p:sp>
        <p:nvSpPr>
          <p:cNvPr id="117" name="Text 114"/>
          <p:cNvSpPr/>
          <p:nvPr/>
        </p:nvSpPr>
        <p:spPr>
          <a:xfrm>
            <a:off x="11589246" y="15309354"/>
            <a:ext cx="13714035" cy="628650"/>
          </a:xfrm>
          <a:prstGeom prst="rect">
            <a:avLst/>
          </a:prstGeom>
          <a:noFill/>
          <a:ln/>
        </p:spPr>
        <p:txBody>
          <a:bodyPr wrap="square" lIns="0" tIns="0" rIns="0" bIns="0" rtlCol="0" anchor="t"/>
          <a:lstStyle/>
          <a:p>
            <a:pPr algn="l" indent="0" marL="0">
              <a:buNone/>
            </a:pPr>
            <a:r>
              <a:rPr lang="en-US" sz="1500" i="1" dirty="0">
                <a:solidFill>
                  <a:srgbClr val="7A6E62"/>
                </a:solidFill>
                <a:latin typeface="Georgia" pitchFamily="34" charset="0"/>
                <a:ea typeface="Georgia" pitchFamily="34" charset="-122"/>
                <a:cs typeface="Georgia" pitchFamily="34" charset="-120"/>
              </a:rPr>
              <a:t>The fog is doing what Chancery does throughout the novel — it penetrates everywhere, it afflicts everyone, but it does not afflict everyone equally. The ancient Greenwich pensioners wheeze by their firesides — they at least have firesides. The boy on deck has nothing between him and the weather but his own skin.</a:t>
            </a:r>
            <a:endParaRPr lang="en-US" sz="1500" dirty="0"/>
          </a:p>
        </p:txBody>
      </p:sp>
      <p:sp>
        <p:nvSpPr>
          <p:cNvPr id="118" name="Text 115"/>
          <p:cNvSpPr/>
          <p:nvPr/>
        </p:nvSpPr>
        <p:spPr>
          <a:xfrm>
            <a:off x="11440120" y="16026854"/>
            <a:ext cx="13695759" cy="764977"/>
          </a:xfrm>
          <a:prstGeom prst="rect">
            <a:avLst/>
          </a:prstGeom>
          <a:solidFill>
            <a:srgbClr val="8B6030">
              <a:alpha val="9000"/>
            </a:srgbClr>
          </a:solidFill>
          <a:ln/>
        </p:spPr>
        <p:txBody>
          <a:bodyPr wrap="square" rtlCol="0" anchor="ctr"/>
          <a:lstStyle/>
          <a:p>
            <a:pPr indent="0" marL="0">
              <a:buNone/>
            </a:pPr>
            <a:endParaRPr lang="en-US" dirty="0"/>
          </a:p>
        </p:txBody>
      </p:sp>
      <p:sp>
        <p:nvSpPr>
          <p:cNvPr id="119" name="Shape 116"/>
          <p:cNvSpPr/>
          <p:nvPr/>
        </p:nvSpPr>
        <p:spPr>
          <a:xfrm>
            <a:off x="11463933" y="16026854"/>
            <a:ext cx="0" cy="764977"/>
          </a:xfrm>
          <a:prstGeom prst="line">
            <a:avLst/>
          </a:prstGeom>
          <a:noFill/>
          <a:ln w="47625">
            <a:solidFill>
              <a:srgbClr val="8B6030"/>
            </a:solidFill>
            <a:prstDash val="solid"/>
          </a:ln>
        </p:spPr>
      </p:sp>
      <p:sp>
        <p:nvSpPr>
          <p:cNvPr id="120" name="Text 117"/>
          <p:cNvSpPr/>
          <p:nvPr/>
        </p:nvSpPr>
        <p:spPr>
          <a:xfrm>
            <a:off x="11589246" y="16077605"/>
            <a:ext cx="13714035" cy="219075"/>
          </a:xfrm>
          <a:prstGeom prst="rect">
            <a:avLst/>
          </a:prstGeom>
          <a:noFill/>
          <a:ln/>
        </p:spPr>
        <p:txBody>
          <a:bodyPr wrap="square" lIns="0" tIns="0" rIns="0" bIns="0" rtlCol="0" anchor="t"/>
          <a:lstStyle/>
          <a:p>
            <a:pPr algn="l" indent="0" marL="0">
              <a:spcAft>
                <a:spcPts val="200"/>
              </a:spcAft>
              <a:buNone/>
            </a:pPr>
            <a:r>
              <a:rPr lang="en-US" sz="1500" b="1" dirty="0">
                <a:solidFill>
                  <a:srgbClr val="8B6030"/>
                </a:solidFill>
                <a:latin typeface="Arial" pitchFamily="34" charset="0"/>
                <a:ea typeface="Arial" pitchFamily="34" charset="-122"/>
                <a:cs typeface="Arial" pitchFamily="34" charset="-120"/>
              </a:rPr>
              <a:t>Edmund Leigh (Moral Philosopher):</a:t>
            </a:r>
            <a:endParaRPr lang="en-US" sz="1500" dirty="0"/>
          </a:p>
        </p:txBody>
      </p:sp>
      <p:sp>
        <p:nvSpPr>
          <p:cNvPr id="121" name="Text 118"/>
          <p:cNvSpPr/>
          <p:nvPr/>
        </p:nvSpPr>
        <p:spPr>
          <a:xfrm>
            <a:off x="11589246" y="16321980"/>
            <a:ext cx="13714035" cy="419100"/>
          </a:xfrm>
          <a:prstGeom prst="rect">
            <a:avLst/>
          </a:prstGeom>
          <a:noFill/>
          <a:ln/>
        </p:spPr>
        <p:txBody>
          <a:bodyPr wrap="square" lIns="0" tIns="0" rIns="0" bIns="0" rtlCol="0" anchor="t"/>
          <a:lstStyle/>
          <a:p>
            <a:pPr algn="l" indent="0" marL="0">
              <a:buNone/>
            </a:pPr>
            <a:r>
              <a:rPr lang="en-US" sz="1500" i="1" dirty="0">
                <a:solidFill>
                  <a:srgbClr val="7A6E62"/>
                </a:solidFill>
                <a:latin typeface="Georgia" pitchFamily="34" charset="0"/>
                <a:ea typeface="Georgia" pitchFamily="34" charset="-122"/>
                <a:cs typeface="Georgia" pitchFamily="34" charset="-120"/>
              </a:rPr>
              <a:t>One must be a little careful not to flatten the novel into a single spatial metaphor, however seductive. Dickens gives us Bleak House — the actual building — and Esther's description of it is one of the warmest passages in the book.</a:t>
            </a:r>
            <a:endParaRPr lang="en-US" sz="1500" dirty="0"/>
          </a:p>
        </p:txBody>
      </p:sp>
      <p:sp>
        <p:nvSpPr>
          <p:cNvPr id="122" name="Text 119"/>
          <p:cNvSpPr/>
          <p:nvPr/>
        </p:nvSpPr>
        <p:spPr>
          <a:xfrm>
            <a:off x="11303645" y="17093357"/>
            <a:ext cx="13968710" cy="1549152"/>
          </a:xfrm>
          <a:prstGeom prst="roundRect">
            <a:avLst>
              <a:gd name="adj" fmla="val 3279"/>
            </a:avLst>
          </a:prstGeom>
          <a:solidFill>
            <a:srgbClr val="FFFFFF"/>
          </a:solidFill>
          <a:ln w="9525">
            <a:solidFill>
              <a:srgbClr val="E0DADA"/>
            </a:solidFill>
          </a:ln>
          <a:effectLst>
            <a:outerShdw sx="100000" sy="100000" kx="0" ky="0" algn="bl" rotWithShape="0" blurRad="101600" dist="17960" dir="2700000">
              <a:srgbClr val="000000">
                <a:alpha val="4000"/>
              </a:srgbClr>
            </a:outerShdw>
          </a:effectLst>
        </p:spPr>
        <p:txBody>
          <a:bodyPr wrap="square" rtlCol="0" anchor="ctr"/>
          <a:lstStyle/>
          <a:p>
            <a:pPr indent="0" marL="0">
              <a:buNone/>
            </a:pPr>
            <a:endParaRPr lang="en-US" dirty="0"/>
          </a:p>
        </p:txBody>
      </p:sp>
      <p:sp>
        <p:nvSpPr>
          <p:cNvPr id="123" name="Text 120"/>
          <p:cNvSpPr/>
          <p:nvPr/>
        </p:nvSpPr>
        <p:spPr>
          <a:xfrm>
            <a:off x="11440120" y="17229832"/>
            <a:ext cx="13969675" cy="371475"/>
          </a:xfrm>
          <a:prstGeom prst="rect">
            <a:avLst/>
          </a:prstGeom>
          <a:noFill/>
          <a:ln/>
        </p:spPr>
        <p:txBody>
          <a:bodyPr wrap="square" lIns="0" tIns="0" rIns="0" bIns="0" rtlCol="0" anchor="t"/>
          <a:lstStyle/>
          <a:p>
            <a:pPr algn="l" indent="0" marL="0">
              <a:buNone/>
            </a:pPr>
            <a:r>
              <a:rPr lang="en-US" sz="2600" b="1" dirty="0">
                <a:solidFill>
                  <a:srgbClr val="722F37"/>
                </a:solidFill>
                <a:latin typeface="Arial" pitchFamily="34" charset="0"/>
                <a:ea typeface="Arial" pitchFamily="34" charset="-122"/>
                <a:cs typeface="Arial" pitchFamily="34" charset="-120"/>
              </a:rPr>
              <a:t>Deliberate Stereotypes</a:t>
            </a:r>
            <a:endParaRPr lang="en-US" sz="2600" dirty="0"/>
          </a:p>
        </p:txBody>
      </p:sp>
      <p:sp>
        <p:nvSpPr>
          <p:cNvPr id="124" name="Text 121"/>
          <p:cNvSpPr/>
          <p:nvPr/>
        </p:nvSpPr>
        <p:spPr>
          <a:xfrm>
            <a:off x="11440120" y="17626608"/>
            <a:ext cx="1777901" cy="38100"/>
          </a:xfrm>
          <a:prstGeom prst="rect">
            <a:avLst/>
          </a:prstGeom>
          <a:solidFill>
            <a:srgbClr val="B8860B"/>
          </a:solidFill>
          <a:ln/>
        </p:spPr>
        <p:txBody>
          <a:bodyPr wrap="square" rtlCol="0" anchor="ctr"/>
          <a:lstStyle/>
          <a:p>
            <a:pPr indent="0" marL="0">
              <a:buNone/>
            </a:pPr>
            <a:endParaRPr lang="en-US" dirty="0"/>
          </a:p>
        </p:txBody>
      </p:sp>
      <p:sp>
        <p:nvSpPr>
          <p:cNvPr id="125" name="Text 122"/>
          <p:cNvSpPr/>
          <p:nvPr/>
        </p:nvSpPr>
        <p:spPr>
          <a:xfrm>
            <a:off x="11440120" y="17740908"/>
            <a:ext cx="13969675" cy="714375"/>
          </a:xfrm>
          <a:prstGeom prst="rect">
            <a:avLst/>
          </a:prstGeom>
          <a:noFill/>
          <a:ln/>
        </p:spPr>
        <p:txBody>
          <a:bodyPr wrap="square" lIns="0" tIns="0" rIns="0" bIns="0" rtlCol="0" anchor="t"/>
          <a:lstStyle/>
          <a:p>
            <a:pPr algn="l" indent="0" marL="0">
              <a:spcBef>
                <a:spcPts val="400"/>
              </a:spcBef>
              <a:spcAft>
                <a:spcPts val="400"/>
              </a:spcAft>
              <a:buNone/>
            </a:pPr>
            <a:r>
              <a:rPr lang="en-US" sz="1600" dirty="0">
                <a:solidFill>
                  <a:srgbClr val="2D2926"/>
                </a:solidFill>
                <a:latin typeface="Georgia" pitchFamily="34" charset="0"/>
                <a:ea typeface="Georgia" pitchFamily="34" charset="-122"/>
                <a:cs typeface="Georgia" pitchFamily="34" charset="-120"/>
              </a:rPr>
              <a:t>The expert personas are deliberately </a:t>
            </a:r>
            <a:pPr algn="l" indent="0" marL="0">
              <a:spcBef>
                <a:spcPts val="400"/>
              </a:spcBef>
              <a:spcAft>
                <a:spcPts val="400"/>
              </a:spcAft>
              <a:buNone/>
            </a:pPr>
            <a:r>
              <a:rPr lang="en-US" sz="1600" i="1" dirty="0">
                <a:solidFill>
                  <a:srgbClr val="2D2926"/>
                </a:solidFill>
                <a:latin typeface="Georgia" pitchFamily="34" charset="0"/>
                <a:ea typeface="Georgia" pitchFamily="34" charset="-122"/>
                <a:cs typeface="Georgia" pitchFamily="34" charset="-120"/>
              </a:rPr>
              <a:t>caricatures</a:t>
            </a:r>
            <a:pPr algn="l" indent="0" marL="0">
              <a:spcBef>
                <a:spcPts val="400"/>
              </a:spcBef>
              <a:spcAft>
                <a:spcPts val="400"/>
              </a:spcAft>
              <a:buNone/>
            </a:pPr>
            <a:r>
              <a:rPr lang="en-US" sz="1600" dirty="0">
                <a:solidFill>
                  <a:srgbClr val="2D2926"/>
                </a:solidFill>
                <a:latin typeface="Georgia" pitchFamily="34" charset="0"/>
                <a:ea typeface="Georgia" pitchFamily="34" charset="-122"/>
                <a:cs typeface="Georgia" pitchFamily="34" charset="-120"/>
              </a:rPr>
              <a:t>: the literary critic always finds prose rhythm; the social historian always finds institutional critique; the close reader always finds texture. By making the stereotypes explicit — encoded as </a:t>
            </a:r>
            <a:pPr algn="l" indent="0" marL="0">
              <a:spcBef>
                <a:spcPts val="400"/>
              </a:spcBef>
              <a:spcAft>
                <a:spcPts val="400"/>
              </a:spcAft>
              <a:buNone/>
            </a:pPr>
            <a:r>
              <a:rPr lang="en-US" sz="1600" b="1" dirty="0">
                <a:solidFill>
                  <a:srgbClr val="2D2926"/>
                </a:solidFill>
                <a:latin typeface="Georgia" pitchFamily="34" charset="0"/>
                <a:ea typeface="Georgia" pitchFamily="34" charset="-122"/>
                <a:cs typeface="Georgia" pitchFamily="34" charset="-120"/>
              </a:rPr>
              <a:t>demand vectors</a:t>
            </a:r>
            <a:pPr algn="l" indent="0" marL="0">
              <a:spcBef>
                <a:spcPts val="400"/>
              </a:spcBef>
              <a:spcAft>
                <a:spcPts val="400"/>
              </a:spcAft>
              <a:buNone/>
            </a:pPr>
            <a:r>
              <a:rPr lang="en-US" sz="1600" dirty="0">
                <a:solidFill>
                  <a:srgbClr val="2D2926"/>
                </a:solidFill>
                <a:latin typeface="Georgia" pitchFamily="34" charset="0"/>
                <a:ea typeface="Georgia" pitchFamily="34" charset="-122"/>
                <a:cs typeface="Georgia" pitchFamily="34" charset="-120"/>
              </a:rPr>
              <a:t> rather than implicit in a prompt — the system turns editorial bias into a first-class object that can be inspected, compared, and argued about.</a:t>
            </a:r>
            <a:endParaRPr lang="en-US" sz="1600" dirty="0"/>
          </a:p>
        </p:txBody>
      </p:sp>
      <p:sp>
        <p:nvSpPr>
          <p:cNvPr id="126" name="Text 123"/>
          <p:cNvSpPr/>
          <p:nvPr/>
        </p:nvSpPr>
        <p:spPr>
          <a:xfrm>
            <a:off x="25399305" y="2504331"/>
            <a:ext cx="10998994" cy="5511403"/>
          </a:xfrm>
          <a:prstGeom prst="roundRect">
            <a:avLst>
              <a:gd name="adj" fmla="val 922"/>
            </a:avLst>
          </a:prstGeom>
          <a:solidFill>
            <a:srgbClr val="FFFFFF"/>
          </a:solidFill>
          <a:ln w="9525">
            <a:solidFill>
              <a:srgbClr val="E0DADA"/>
            </a:solidFill>
          </a:ln>
          <a:effectLst>
            <a:outerShdw sx="100000" sy="100000" kx="0" ky="0" algn="bl" rotWithShape="0" blurRad="101600" dist="17960" dir="2700000">
              <a:srgbClr val="000000">
                <a:alpha val="4000"/>
              </a:srgbClr>
            </a:outerShdw>
          </a:effectLst>
        </p:spPr>
        <p:txBody>
          <a:bodyPr wrap="square" rtlCol="0" anchor="ctr"/>
          <a:lstStyle/>
          <a:p>
            <a:pPr indent="0" marL="0">
              <a:buNone/>
            </a:pPr>
            <a:endParaRPr lang="en-US" dirty="0"/>
          </a:p>
        </p:txBody>
      </p:sp>
      <p:sp>
        <p:nvSpPr>
          <p:cNvPr id="127" name="Text 124"/>
          <p:cNvSpPr/>
          <p:nvPr/>
        </p:nvSpPr>
        <p:spPr>
          <a:xfrm>
            <a:off x="25535781" y="2640806"/>
            <a:ext cx="10940564" cy="371475"/>
          </a:xfrm>
          <a:prstGeom prst="rect">
            <a:avLst/>
          </a:prstGeom>
          <a:noFill/>
          <a:ln/>
        </p:spPr>
        <p:txBody>
          <a:bodyPr wrap="square" lIns="0" tIns="0" rIns="0" bIns="0" rtlCol="0" anchor="t"/>
          <a:lstStyle/>
          <a:p>
            <a:pPr algn="l" indent="0" marL="0">
              <a:buNone/>
            </a:pPr>
            <a:r>
              <a:rPr lang="en-US" sz="2600" b="1" dirty="0">
                <a:solidFill>
                  <a:srgbClr val="722F37"/>
                </a:solidFill>
                <a:latin typeface="Arial" pitchFamily="34" charset="0"/>
                <a:ea typeface="Arial" pitchFamily="34" charset="-122"/>
                <a:cs typeface="Arial" pitchFamily="34" charset="-120"/>
              </a:rPr>
              <a:t>The Knowledge Gradient</a:t>
            </a:r>
            <a:endParaRPr lang="en-US" sz="2600" dirty="0"/>
          </a:p>
        </p:txBody>
      </p:sp>
      <p:sp>
        <p:nvSpPr>
          <p:cNvPr id="128" name="Text 125"/>
          <p:cNvSpPr/>
          <p:nvPr/>
        </p:nvSpPr>
        <p:spPr>
          <a:xfrm>
            <a:off x="25535781" y="3037582"/>
            <a:ext cx="1777901" cy="38100"/>
          </a:xfrm>
          <a:prstGeom prst="rect">
            <a:avLst/>
          </a:prstGeom>
          <a:solidFill>
            <a:srgbClr val="B8860B"/>
          </a:solidFill>
          <a:ln/>
        </p:spPr>
        <p:txBody>
          <a:bodyPr wrap="square" rtlCol="0" anchor="ctr"/>
          <a:lstStyle/>
          <a:p>
            <a:pPr indent="0" marL="0">
              <a:buNone/>
            </a:pPr>
            <a:endParaRPr lang="en-US" dirty="0"/>
          </a:p>
        </p:txBody>
      </p:sp>
      <p:sp>
        <p:nvSpPr>
          <p:cNvPr id="129" name="Text 126"/>
          <p:cNvSpPr/>
          <p:nvPr/>
        </p:nvSpPr>
        <p:spPr>
          <a:xfrm>
            <a:off x="25535781" y="3151882"/>
            <a:ext cx="10726043" cy="603052"/>
          </a:xfrm>
          <a:prstGeom prst="roundRect">
            <a:avLst>
              <a:gd name="adj" fmla="val 8424"/>
            </a:avLst>
          </a:prstGeom>
          <a:solidFill>
            <a:srgbClr val="E0F0EC">
              <a:alpha val="38000"/>
            </a:srgbClr>
          </a:solidFill>
          <a:ln/>
        </p:spPr>
        <p:txBody>
          <a:bodyPr wrap="square" rtlCol="0" anchor="ctr"/>
          <a:lstStyle/>
          <a:p>
            <a:pPr indent="0" marL="0">
              <a:buNone/>
            </a:pPr>
            <a:endParaRPr lang="en-US" dirty="0"/>
          </a:p>
        </p:txBody>
      </p:sp>
      <p:sp>
        <p:nvSpPr>
          <p:cNvPr id="130" name="Text 127"/>
          <p:cNvSpPr/>
          <p:nvPr/>
        </p:nvSpPr>
        <p:spPr>
          <a:xfrm>
            <a:off x="25637282" y="3253383"/>
            <a:ext cx="10733502" cy="400050"/>
          </a:xfrm>
          <a:prstGeom prst="rect">
            <a:avLst/>
          </a:prstGeom>
          <a:noFill/>
          <a:ln/>
        </p:spPr>
        <p:txBody>
          <a:bodyPr wrap="square" lIns="0" tIns="0" rIns="0" bIns="0" rtlCol="0" anchor="t"/>
          <a:lstStyle/>
          <a:p>
            <a:pPr algn="l" indent="0" marL="0">
              <a:buNone/>
            </a:pPr>
            <a:r>
              <a:rPr lang="en-US" sz="2800" b="1" dirty="0">
                <a:solidFill>
                  <a:srgbClr val="2D6B5E"/>
                </a:solidFill>
                <a:latin typeface="Georgia" pitchFamily="34" charset="0"/>
                <a:ea typeface="Georgia" pitchFamily="34" charset="-122"/>
                <a:cs typeface="Georgia" pitchFamily="34" charset="-120"/>
              </a:rPr>
              <a:t>82%</a:t>
            </a:r>
            <a:pPr algn="l" indent="0" marL="0">
              <a:buNone/>
            </a:pPr>
            <a:r>
              <a:rPr lang="en-US" sz="1500" dirty="0">
                <a:solidFill>
                  <a:srgbClr val="2D2926"/>
                </a:solidFill>
                <a:latin typeface="Georgia" pitchFamily="34" charset="0"/>
                <a:ea typeface="Georgia" pitchFamily="34" charset="-122"/>
                <a:cs typeface="Georgia" pitchFamily="34" charset="-120"/>
              </a:rPr>
              <a:t> of invented quotes draw 90–100% of their words from the novel's own vocabulary. Mean overlap: 95.1%.</a:t>
            </a:r>
            <a:endParaRPr lang="en-US" sz="1500" dirty="0"/>
          </a:p>
        </p:txBody>
      </p:sp>
      <p:sp>
        <p:nvSpPr>
          <p:cNvPr id="131" name="Text 128"/>
          <p:cNvSpPr/>
          <p:nvPr/>
        </p:nvSpPr>
        <p:spPr>
          <a:xfrm>
            <a:off x="25535781" y="3831134"/>
            <a:ext cx="10940564" cy="476250"/>
          </a:xfrm>
          <a:prstGeom prst="rect">
            <a:avLst/>
          </a:prstGeom>
          <a:noFill/>
          <a:ln/>
        </p:spPr>
        <p:txBody>
          <a:bodyPr wrap="square" lIns="0" tIns="0" rIns="0" bIns="0" rtlCol="0" anchor="t"/>
          <a:lstStyle/>
          <a:p>
            <a:pPr algn="l" indent="0" marL="0">
              <a:spcBef>
                <a:spcPts val="400"/>
              </a:spcBef>
              <a:spcAft>
                <a:spcPts val="400"/>
              </a:spcAft>
              <a:buNone/>
            </a:pPr>
            <a:r>
              <a:rPr lang="en-US" sz="1600" i="1" dirty="0">
                <a:solidFill>
                  <a:srgbClr val="7A6E62"/>
                </a:solidFill>
                <a:latin typeface="Georgia" pitchFamily="34" charset="0"/>
                <a:ea typeface="Georgia" pitchFamily="34" charset="-122"/>
                <a:cs typeface="Georgia" pitchFamily="34" charset="-120"/>
              </a:rPr>
              <a:t>Without passage grounding, the LLM produces graduated pastiche — not hallucination. Fidelity tracks novel prominence.</a:t>
            </a:r>
            <a:endParaRPr lang="en-US" sz="1600" dirty="0"/>
          </a:p>
        </p:txBody>
      </p:sp>
      <p:sp>
        <p:nvSpPr>
          <p:cNvPr id="132" name="Text 129"/>
          <p:cNvSpPr/>
          <p:nvPr/>
        </p:nvSpPr>
        <p:spPr>
          <a:xfrm>
            <a:off x="25535781" y="4383584"/>
            <a:ext cx="10940564" cy="295275"/>
          </a:xfrm>
          <a:prstGeom prst="rect">
            <a:avLst/>
          </a:prstGeom>
          <a:noFill/>
          <a:ln/>
        </p:spPr>
        <p:txBody>
          <a:bodyPr wrap="square" lIns="0" tIns="0" rIns="0" bIns="0" rtlCol="0" anchor="t"/>
          <a:lstStyle/>
          <a:p>
            <a:pPr algn="l" indent="0" marL="0">
              <a:spcBef>
                <a:spcPts val="600"/>
              </a:spcBef>
              <a:spcAft>
                <a:spcPts val="200"/>
              </a:spcAft>
              <a:buNone/>
            </a:pPr>
            <a:r>
              <a:rPr lang="en-US" sz="2000" b="1" dirty="0">
                <a:solidFill>
                  <a:srgbClr val="722F37"/>
                </a:solidFill>
                <a:latin typeface="Arial" pitchFamily="34" charset="0"/>
                <a:ea typeface="Arial" pitchFamily="34" charset="-122"/>
                <a:cs typeface="Arial" pitchFamily="34" charset="-120"/>
              </a:rPr>
              <a:t>Ungrounded Quote Verification (%)</a:t>
            </a:r>
            <a:endParaRPr lang="en-US" sz="2000" dirty="0"/>
          </a:p>
        </p:txBody>
      </p:sp>
      <p:sp>
        <p:nvSpPr>
          <p:cNvPr id="133" name="Text 130"/>
          <p:cNvSpPr/>
          <p:nvPr/>
        </p:nvSpPr>
        <p:spPr>
          <a:xfrm>
            <a:off x="25491332" y="4721721"/>
            <a:ext cx="2266899" cy="200025"/>
          </a:xfrm>
          <a:prstGeom prst="rect">
            <a:avLst/>
          </a:prstGeom>
          <a:noFill/>
          <a:ln/>
        </p:spPr>
        <p:txBody>
          <a:bodyPr wrap="square" lIns="0" tIns="0" rIns="0" bIns="0" rtlCol="0" anchor="t"/>
          <a:lstStyle/>
          <a:p>
            <a:pPr algn="r" indent="0" marL="0">
              <a:buNone/>
            </a:pPr>
            <a:r>
              <a:rPr lang="en-US" sz="1400" dirty="0">
                <a:solidFill>
                  <a:srgbClr val="2D2926"/>
                </a:solidFill>
                <a:latin typeface="Georgia" pitchFamily="34" charset="0"/>
                <a:ea typeface="Georgia" pitchFamily="34" charset="-122"/>
                <a:cs typeface="Georgia" pitchFamily="34" charset="-120"/>
              </a:rPr>
              <a:t>Middlemarch </a:t>
            </a:r>
            <a:pPr algn="r" indent="0" marL="0">
              <a:buNone/>
            </a:pPr>
            <a:r>
              <a:rPr lang="en-US" sz="1200" i="1" dirty="0">
                <a:solidFill>
                  <a:srgbClr val="7A6E62"/>
                </a:solidFill>
                <a:latin typeface="Georgia" pitchFamily="34" charset="0"/>
                <a:ea typeface="Georgia" pitchFamily="34" charset="-122"/>
                <a:cs typeface="Georgia" pitchFamily="34" charset="-120"/>
              </a:rPr>
              <a:t>Eliot</a:t>
            </a:r>
            <a:endParaRPr lang="en-US" sz="1400" dirty="0"/>
          </a:p>
        </p:txBody>
      </p:sp>
      <p:sp>
        <p:nvSpPr>
          <p:cNvPr id="134" name="Text 131"/>
          <p:cNvSpPr/>
          <p:nvPr/>
        </p:nvSpPr>
        <p:spPr>
          <a:xfrm>
            <a:off x="27834431" y="4732883"/>
            <a:ext cx="2539901" cy="177701"/>
          </a:xfrm>
          <a:prstGeom prst="roundRect">
            <a:avLst>
              <a:gd name="adj" fmla="val 14294"/>
            </a:avLst>
          </a:prstGeom>
          <a:solidFill>
            <a:srgbClr val="2D6B5E"/>
          </a:solidFill>
          <a:ln/>
        </p:spPr>
        <p:txBody>
          <a:bodyPr wrap="square" rtlCol="0" anchor="ctr"/>
          <a:lstStyle/>
          <a:p>
            <a:pPr indent="0" marL="0">
              <a:buNone/>
            </a:pPr>
            <a:endParaRPr lang="en-US" dirty="0"/>
          </a:p>
        </p:txBody>
      </p:sp>
      <p:sp>
        <p:nvSpPr>
          <p:cNvPr id="135" name="Text 132"/>
          <p:cNvSpPr/>
          <p:nvPr/>
        </p:nvSpPr>
        <p:spPr>
          <a:xfrm>
            <a:off x="30475833" y="4716959"/>
            <a:ext cx="217688" cy="209550"/>
          </a:xfrm>
          <a:prstGeom prst="rect">
            <a:avLst/>
          </a:prstGeom>
          <a:noFill/>
          <a:ln/>
        </p:spPr>
        <p:txBody>
          <a:bodyPr wrap="square" lIns="0" tIns="0" rIns="0" bIns="0" rtlCol="0" anchor="t"/>
          <a:lstStyle/>
          <a:p>
            <a:pPr algn="l" indent="0" marL="0">
              <a:buNone/>
            </a:pPr>
            <a:r>
              <a:rPr lang="en-US" sz="1400" dirty="0">
                <a:solidFill>
                  <a:srgbClr val="2D2926"/>
                </a:solidFill>
                <a:latin typeface="Courier New" pitchFamily="34" charset="0"/>
                <a:ea typeface="Courier New" pitchFamily="34" charset="-122"/>
                <a:cs typeface="Courier New" pitchFamily="34" charset="-120"/>
              </a:rPr>
              <a:t>57</a:t>
            </a:r>
            <a:endParaRPr lang="en-US" sz="1400" dirty="0"/>
          </a:p>
        </p:txBody>
      </p:sp>
      <p:sp>
        <p:nvSpPr>
          <p:cNvPr id="136" name="Text 133"/>
          <p:cNvSpPr/>
          <p:nvPr/>
        </p:nvSpPr>
        <p:spPr>
          <a:xfrm>
            <a:off x="25491332" y="4969371"/>
            <a:ext cx="2266899" cy="200025"/>
          </a:xfrm>
          <a:prstGeom prst="rect">
            <a:avLst/>
          </a:prstGeom>
          <a:noFill/>
          <a:ln/>
        </p:spPr>
        <p:txBody>
          <a:bodyPr wrap="square" lIns="0" tIns="0" rIns="0" bIns="0" rtlCol="0" anchor="t"/>
          <a:lstStyle/>
          <a:p>
            <a:pPr algn="r" indent="0" marL="0">
              <a:buNone/>
            </a:pPr>
            <a:r>
              <a:rPr lang="en-US" sz="1400" dirty="0">
                <a:solidFill>
                  <a:srgbClr val="2D2926"/>
                </a:solidFill>
                <a:latin typeface="Georgia" pitchFamily="34" charset="0"/>
                <a:ea typeface="Georgia" pitchFamily="34" charset="-122"/>
                <a:cs typeface="Georgia" pitchFamily="34" charset="-120"/>
              </a:rPr>
              <a:t>Bleak House </a:t>
            </a:r>
            <a:pPr algn="r" indent="0" marL="0">
              <a:buNone/>
            </a:pPr>
            <a:r>
              <a:rPr lang="en-US" sz="1200" i="1" dirty="0">
                <a:solidFill>
                  <a:srgbClr val="7A6E62"/>
                </a:solidFill>
                <a:latin typeface="Georgia" pitchFamily="34" charset="0"/>
                <a:ea typeface="Georgia" pitchFamily="34" charset="-122"/>
                <a:cs typeface="Georgia" pitchFamily="34" charset="-120"/>
              </a:rPr>
              <a:t>Dickens</a:t>
            </a:r>
            <a:endParaRPr lang="en-US" sz="1400" dirty="0"/>
          </a:p>
        </p:txBody>
      </p:sp>
      <p:sp>
        <p:nvSpPr>
          <p:cNvPr id="137" name="Text 134"/>
          <p:cNvSpPr/>
          <p:nvPr/>
        </p:nvSpPr>
        <p:spPr>
          <a:xfrm>
            <a:off x="27834431" y="4980533"/>
            <a:ext cx="2362200" cy="177701"/>
          </a:xfrm>
          <a:prstGeom prst="roundRect">
            <a:avLst>
              <a:gd name="adj" fmla="val 14294"/>
            </a:avLst>
          </a:prstGeom>
          <a:solidFill>
            <a:srgbClr val="3D8B7A"/>
          </a:solidFill>
          <a:ln/>
        </p:spPr>
        <p:txBody>
          <a:bodyPr wrap="square" rtlCol="0" anchor="ctr"/>
          <a:lstStyle/>
          <a:p>
            <a:pPr indent="0" marL="0">
              <a:buNone/>
            </a:pPr>
            <a:endParaRPr lang="en-US" dirty="0"/>
          </a:p>
        </p:txBody>
      </p:sp>
      <p:sp>
        <p:nvSpPr>
          <p:cNvPr id="138" name="Text 135"/>
          <p:cNvSpPr/>
          <p:nvPr/>
        </p:nvSpPr>
        <p:spPr>
          <a:xfrm>
            <a:off x="30247382" y="4980533"/>
            <a:ext cx="177701" cy="177701"/>
          </a:xfrm>
          <a:prstGeom prst="roundRect">
            <a:avLst>
              <a:gd name="adj" fmla="val 14294"/>
            </a:avLst>
          </a:prstGeom>
          <a:solidFill>
            <a:srgbClr val="EEEEEE"/>
          </a:solidFill>
          <a:ln/>
        </p:spPr>
        <p:txBody>
          <a:bodyPr wrap="square" rtlCol="0" anchor="ctr"/>
          <a:lstStyle/>
          <a:p>
            <a:pPr indent="0" marL="0">
              <a:buNone/>
            </a:pPr>
            <a:endParaRPr lang="en-US" dirty="0"/>
          </a:p>
        </p:txBody>
      </p:sp>
      <p:sp>
        <p:nvSpPr>
          <p:cNvPr id="139" name="Text 136"/>
          <p:cNvSpPr/>
          <p:nvPr/>
        </p:nvSpPr>
        <p:spPr>
          <a:xfrm>
            <a:off x="30475833" y="4964609"/>
            <a:ext cx="217688" cy="209550"/>
          </a:xfrm>
          <a:prstGeom prst="rect">
            <a:avLst/>
          </a:prstGeom>
          <a:noFill/>
          <a:ln/>
        </p:spPr>
        <p:txBody>
          <a:bodyPr wrap="square" lIns="0" tIns="0" rIns="0" bIns="0" rtlCol="0" anchor="t"/>
          <a:lstStyle/>
          <a:p>
            <a:pPr algn="l" indent="0" marL="0">
              <a:buNone/>
            </a:pPr>
            <a:r>
              <a:rPr lang="en-US" sz="1400" dirty="0">
                <a:solidFill>
                  <a:srgbClr val="2D2926"/>
                </a:solidFill>
                <a:latin typeface="Courier New" pitchFamily="34" charset="0"/>
                <a:ea typeface="Courier New" pitchFamily="34" charset="-122"/>
                <a:cs typeface="Courier New" pitchFamily="34" charset="-120"/>
              </a:rPr>
              <a:t>53</a:t>
            </a:r>
            <a:endParaRPr lang="en-US" sz="1400" dirty="0"/>
          </a:p>
        </p:txBody>
      </p:sp>
      <p:sp>
        <p:nvSpPr>
          <p:cNvPr id="140" name="Text 137"/>
          <p:cNvSpPr/>
          <p:nvPr/>
        </p:nvSpPr>
        <p:spPr>
          <a:xfrm>
            <a:off x="25491332" y="5217021"/>
            <a:ext cx="2266899" cy="200025"/>
          </a:xfrm>
          <a:prstGeom prst="rect">
            <a:avLst/>
          </a:prstGeom>
          <a:noFill/>
          <a:ln/>
        </p:spPr>
        <p:txBody>
          <a:bodyPr wrap="square" lIns="0" tIns="0" rIns="0" bIns="0" rtlCol="0" anchor="t"/>
          <a:lstStyle/>
          <a:p>
            <a:pPr algn="r" indent="0" marL="0">
              <a:buNone/>
            </a:pPr>
            <a:r>
              <a:rPr lang="en-US" sz="1400" dirty="0">
                <a:solidFill>
                  <a:srgbClr val="2D2926"/>
                </a:solidFill>
                <a:latin typeface="Georgia" pitchFamily="34" charset="0"/>
                <a:ea typeface="Georgia" pitchFamily="34" charset="-122"/>
                <a:cs typeface="Georgia" pitchFamily="34" charset="-120"/>
              </a:rPr>
              <a:t>David Copperfield </a:t>
            </a:r>
            <a:pPr algn="r" indent="0" marL="0">
              <a:buNone/>
            </a:pPr>
            <a:r>
              <a:rPr lang="en-US" sz="1200" i="1" dirty="0">
                <a:solidFill>
                  <a:srgbClr val="7A6E62"/>
                </a:solidFill>
                <a:latin typeface="Georgia" pitchFamily="34" charset="0"/>
                <a:ea typeface="Georgia" pitchFamily="34" charset="-122"/>
                <a:cs typeface="Georgia" pitchFamily="34" charset="-120"/>
              </a:rPr>
              <a:t>Dickens</a:t>
            </a:r>
            <a:endParaRPr lang="en-US" sz="1400" dirty="0"/>
          </a:p>
        </p:txBody>
      </p:sp>
      <p:sp>
        <p:nvSpPr>
          <p:cNvPr id="141" name="Text 138"/>
          <p:cNvSpPr/>
          <p:nvPr/>
        </p:nvSpPr>
        <p:spPr>
          <a:xfrm>
            <a:off x="27834431" y="5228183"/>
            <a:ext cx="1955750" cy="177701"/>
          </a:xfrm>
          <a:prstGeom prst="roundRect">
            <a:avLst>
              <a:gd name="adj" fmla="val 14294"/>
            </a:avLst>
          </a:prstGeom>
          <a:solidFill>
            <a:srgbClr val="5BA08F"/>
          </a:solidFill>
          <a:ln/>
        </p:spPr>
        <p:txBody>
          <a:bodyPr wrap="square" rtlCol="0" anchor="ctr"/>
          <a:lstStyle/>
          <a:p>
            <a:pPr indent="0" marL="0">
              <a:buNone/>
            </a:pPr>
            <a:endParaRPr lang="en-US" dirty="0"/>
          </a:p>
        </p:txBody>
      </p:sp>
      <p:sp>
        <p:nvSpPr>
          <p:cNvPr id="142" name="Text 139"/>
          <p:cNvSpPr/>
          <p:nvPr/>
        </p:nvSpPr>
        <p:spPr>
          <a:xfrm>
            <a:off x="29840932" y="5228183"/>
            <a:ext cx="584150" cy="177701"/>
          </a:xfrm>
          <a:prstGeom prst="roundRect">
            <a:avLst>
              <a:gd name="adj" fmla="val 14294"/>
            </a:avLst>
          </a:prstGeom>
          <a:solidFill>
            <a:srgbClr val="EEEEEE"/>
          </a:solidFill>
          <a:ln/>
        </p:spPr>
        <p:txBody>
          <a:bodyPr wrap="square" rtlCol="0" anchor="ctr"/>
          <a:lstStyle/>
          <a:p>
            <a:pPr indent="0" marL="0">
              <a:buNone/>
            </a:pPr>
            <a:endParaRPr lang="en-US" dirty="0"/>
          </a:p>
        </p:txBody>
      </p:sp>
      <p:sp>
        <p:nvSpPr>
          <p:cNvPr id="143" name="Text 140"/>
          <p:cNvSpPr/>
          <p:nvPr/>
        </p:nvSpPr>
        <p:spPr>
          <a:xfrm>
            <a:off x="30475833" y="5212259"/>
            <a:ext cx="217688" cy="209550"/>
          </a:xfrm>
          <a:prstGeom prst="rect">
            <a:avLst/>
          </a:prstGeom>
          <a:noFill/>
          <a:ln/>
        </p:spPr>
        <p:txBody>
          <a:bodyPr wrap="square" lIns="0" tIns="0" rIns="0" bIns="0" rtlCol="0" anchor="t"/>
          <a:lstStyle/>
          <a:p>
            <a:pPr algn="l" indent="0" marL="0">
              <a:buNone/>
            </a:pPr>
            <a:r>
              <a:rPr lang="en-US" sz="1400" dirty="0">
                <a:solidFill>
                  <a:srgbClr val="2D2926"/>
                </a:solidFill>
                <a:latin typeface="Courier New" pitchFamily="34" charset="0"/>
                <a:ea typeface="Courier New" pitchFamily="34" charset="-122"/>
                <a:cs typeface="Courier New" pitchFamily="34" charset="-120"/>
              </a:rPr>
              <a:t>44</a:t>
            </a:r>
            <a:endParaRPr lang="en-US" sz="1400" dirty="0"/>
          </a:p>
        </p:txBody>
      </p:sp>
      <p:sp>
        <p:nvSpPr>
          <p:cNvPr id="144" name="Text 141"/>
          <p:cNvSpPr/>
          <p:nvPr/>
        </p:nvSpPr>
        <p:spPr>
          <a:xfrm>
            <a:off x="25491332" y="5464671"/>
            <a:ext cx="2266899" cy="200025"/>
          </a:xfrm>
          <a:prstGeom prst="rect">
            <a:avLst/>
          </a:prstGeom>
          <a:noFill/>
          <a:ln/>
        </p:spPr>
        <p:txBody>
          <a:bodyPr wrap="square" lIns="0" tIns="0" rIns="0" bIns="0" rtlCol="0" anchor="t"/>
          <a:lstStyle/>
          <a:p>
            <a:pPr algn="r" indent="0" marL="0">
              <a:buNone/>
            </a:pPr>
            <a:r>
              <a:rPr lang="en-US" sz="1400" dirty="0">
                <a:solidFill>
                  <a:srgbClr val="2D2926"/>
                </a:solidFill>
                <a:latin typeface="Georgia" pitchFamily="34" charset="0"/>
                <a:ea typeface="Georgia" pitchFamily="34" charset="-122"/>
                <a:cs typeface="Georgia" pitchFamily="34" charset="-120"/>
              </a:rPr>
              <a:t>Passage to India </a:t>
            </a:r>
            <a:pPr algn="r" indent="0" marL="0">
              <a:buNone/>
            </a:pPr>
            <a:r>
              <a:rPr lang="en-US" sz="1200" i="1" dirty="0">
                <a:solidFill>
                  <a:srgbClr val="7A6E62"/>
                </a:solidFill>
                <a:latin typeface="Georgia" pitchFamily="34" charset="0"/>
                <a:ea typeface="Georgia" pitchFamily="34" charset="-122"/>
                <a:cs typeface="Georgia" pitchFamily="34" charset="-120"/>
              </a:rPr>
              <a:t>Forster</a:t>
            </a:r>
            <a:endParaRPr lang="en-US" sz="1400" dirty="0"/>
          </a:p>
        </p:txBody>
      </p:sp>
      <p:sp>
        <p:nvSpPr>
          <p:cNvPr id="145" name="Text 142"/>
          <p:cNvSpPr/>
          <p:nvPr/>
        </p:nvSpPr>
        <p:spPr>
          <a:xfrm>
            <a:off x="27834431" y="5475833"/>
            <a:ext cx="1739801" cy="177701"/>
          </a:xfrm>
          <a:prstGeom prst="roundRect">
            <a:avLst>
              <a:gd name="adj" fmla="val 14294"/>
            </a:avLst>
          </a:prstGeom>
          <a:solidFill>
            <a:srgbClr val="7EB5A6"/>
          </a:solidFill>
          <a:ln/>
        </p:spPr>
        <p:txBody>
          <a:bodyPr wrap="square" rtlCol="0" anchor="ctr"/>
          <a:lstStyle/>
          <a:p>
            <a:pPr indent="0" marL="0">
              <a:buNone/>
            </a:pPr>
            <a:endParaRPr lang="en-US" dirty="0"/>
          </a:p>
        </p:txBody>
      </p:sp>
      <p:sp>
        <p:nvSpPr>
          <p:cNvPr id="146" name="Text 143"/>
          <p:cNvSpPr/>
          <p:nvPr/>
        </p:nvSpPr>
        <p:spPr>
          <a:xfrm>
            <a:off x="29624982" y="5475833"/>
            <a:ext cx="800100" cy="177701"/>
          </a:xfrm>
          <a:prstGeom prst="roundRect">
            <a:avLst>
              <a:gd name="adj" fmla="val 14294"/>
            </a:avLst>
          </a:prstGeom>
          <a:solidFill>
            <a:srgbClr val="EEEEEE"/>
          </a:solidFill>
          <a:ln/>
        </p:spPr>
        <p:txBody>
          <a:bodyPr wrap="square" rtlCol="0" anchor="ctr"/>
          <a:lstStyle/>
          <a:p>
            <a:pPr indent="0" marL="0">
              <a:buNone/>
            </a:pPr>
            <a:endParaRPr lang="en-US" dirty="0"/>
          </a:p>
        </p:txBody>
      </p:sp>
      <p:sp>
        <p:nvSpPr>
          <p:cNvPr id="147" name="Text 144"/>
          <p:cNvSpPr/>
          <p:nvPr/>
        </p:nvSpPr>
        <p:spPr>
          <a:xfrm>
            <a:off x="30475833" y="5459909"/>
            <a:ext cx="217688" cy="209550"/>
          </a:xfrm>
          <a:prstGeom prst="rect">
            <a:avLst/>
          </a:prstGeom>
          <a:noFill/>
          <a:ln/>
        </p:spPr>
        <p:txBody>
          <a:bodyPr wrap="square" lIns="0" tIns="0" rIns="0" bIns="0" rtlCol="0" anchor="t"/>
          <a:lstStyle/>
          <a:p>
            <a:pPr algn="l" indent="0" marL="0">
              <a:buNone/>
            </a:pPr>
            <a:r>
              <a:rPr lang="en-US" sz="1400" dirty="0">
                <a:solidFill>
                  <a:srgbClr val="2D2926"/>
                </a:solidFill>
                <a:latin typeface="Courier New" pitchFamily="34" charset="0"/>
                <a:ea typeface="Courier New" pitchFamily="34" charset="-122"/>
                <a:cs typeface="Courier New" pitchFamily="34" charset="-120"/>
              </a:rPr>
              <a:t>39</a:t>
            </a:r>
            <a:endParaRPr lang="en-US" sz="1400" dirty="0"/>
          </a:p>
        </p:txBody>
      </p:sp>
      <p:sp>
        <p:nvSpPr>
          <p:cNvPr id="148" name="Text 145"/>
          <p:cNvSpPr/>
          <p:nvPr/>
        </p:nvSpPr>
        <p:spPr>
          <a:xfrm>
            <a:off x="25491332" y="5712321"/>
            <a:ext cx="2266899" cy="200025"/>
          </a:xfrm>
          <a:prstGeom prst="rect">
            <a:avLst/>
          </a:prstGeom>
          <a:noFill/>
          <a:ln/>
        </p:spPr>
        <p:txBody>
          <a:bodyPr wrap="square" lIns="0" tIns="0" rIns="0" bIns="0" rtlCol="0" anchor="t"/>
          <a:lstStyle/>
          <a:p>
            <a:pPr algn="r" indent="0" marL="0">
              <a:buNone/>
            </a:pPr>
            <a:r>
              <a:rPr lang="en-US" sz="1400" dirty="0">
                <a:solidFill>
                  <a:srgbClr val="2D2926"/>
                </a:solidFill>
                <a:latin typeface="Georgia" pitchFamily="34" charset="0"/>
                <a:ea typeface="Georgia" pitchFamily="34" charset="-122"/>
                <a:cs typeface="Georgia" pitchFamily="34" charset="-120"/>
              </a:rPr>
              <a:t>Cranford </a:t>
            </a:r>
            <a:pPr algn="r" indent="0" marL="0">
              <a:buNone/>
            </a:pPr>
            <a:r>
              <a:rPr lang="en-US" sz="1200" i="1" dirty="0">
                <a:solidFill>
                  <a:srgbClr val="7A6E62"/>
                </a:solidFill>
                <a:latin typeface="Georgia" pitchFamily="34" charset="0"/>
                <a:ea typeface="Georgia" pitchFamily="34" charset="-122"/>
                <a:cs typeface="Georgia" pitchFamily="34" charset="-120"/>
              </a:rPr>
              <a:t>Gaskell</a:t>
            </a:r>
            <a:endParaRPr lang="en-US" sz="1400" dirty="0"/>
          </a:p>
        </p:txBody>
      </p:sp>
      <p:sp>
        <p:nvSpPr>
          <p:cNvPr id="149" name="Text 146"/>
          <p:cNvSpPr/>
          <p:nvPr/>
        </p:nvSpPr>
        <p:spPr>
          <a:xfrm>
            <a:off x="27834431" y="5723483"/>
            <a:ext cx="1473101" cy="177701"/>
          </a:xfrm>
          <a:prstGeom prst="roundRect">
            <a:avLst>
              <a:gd name="adj" fmla="val 14294"/>
            </a:avLst>
          </a:prstGeom>
          <a:solidFill>
            <a:srgbClr val="B8860B"/>
          </a:solidFill>
          <a:ln/>
        </p:spPr>
        <p:txBody>
          <a:bodyPr wrap="square" rtlCol="0" anchor="ctr"/>
          <a:lstStyle/>
          <a:p>
            <a:pPr indent="0" marL="0">
              <a:buNone/>
            </a:pPr>
            <a:endParaRPr lang="en-US" dirty="0"/>
          </a:p>
        </p:txBody>
      </p:sp>
      <p:sp>
        <p:nvSpPr>
          <p:cNvPr id="150" name="Text 147"/>
          <p:cNvSpPr/>
          <p:nvPr/>
        </p:nvSpPr>
        <p:spPr>
          <a:xfrm>
            <a:off x="29358282" y="5723483"/>
            <a:ext cx="1066800" cy="177701"/>
          </a:xfrm>
          <a:prstGeom prst="roundRect">
            <a:avLst>
              <a:gd name="adj" fmla="val 14294"/>
            </a:avLst>
          </a:prstGeom>
          <a:solidFill>
            <a:srgbClr val="EEEEEE"/>
          </a:solidFill>
          <a:ln/>
        </p:spPr>
        <p:txBody>
          <a:bodyPr wrap="square" rtlCol="0" anchor="ctr"/>
          <a:lstStyle/>
          <a:p>
            <a:pPr indent="0" marL="0">
              <a:buNone/>
            </a:pPr>
            <a:endParaRPr lang="en-US" dirty="0"/>
          </a:p>
        </p:txBody>
      </p:sp>
      <p:sp>
        <p:nvSpPr>
          <p:cNvPr id="151" name="Text 148"/>
          <p:cNvSpPr/>
          <p:nvPr/>
        </p:nvSpPr>
        <p:spPr>
          <a:xfrm>
            <a:off x="30475833" y="5707559"/>
            <a:ext cx="217688" cy="209550"/>
          </a:xfrm>
          <a:prstGeom prst="rect">
            <a:avLst/>
          </a:prstGeom>
          <a:noFill/>
          <a:ln/>
        </p:spPr>
        <p:txBody>
          <a:bodyPr wrap="square" lIns="0" tIns="0" rIns="0" bIns="0" rtlCol="0" anchor="t"/>
          <a:lstStyle/>
          <a:p>
            <a:pPr algn="l" indent="0" marL="0">
              <a:buNone/>
            </a:pPr>
            <a:r>
              <a:rPr lang="en-US" sz="1400" dirty="0">
                <a:solidFill>
                  <a:srgbClr val="2D2926"/>
                </a:solidFill>
                <a:latin typeface="Courier New" pitchFamily="34" charset="0"/>
                <a:ea typeface="Courier New" pitchFamily="34" charset="-122"/>
                <a:cs typeface="Courier New" pitchFamily="34" charset="-120"/>
              </a:rPr>
              <a:t>33</a:t>
            </a:r>
            <a:endParaRPr lang="en-US" sz="1400" dirty="0"/>
          </a:p>
        </p:txBody>
      </p:sp>
      <p:sp>
        <p:nvSpPr>
          <p:cNvPr id="152" name="Text 149"/>
          <p:cNvSpPr/>
          <p:nvPr/>
        </p:nvSpPr>
        <p:spPr>
          <a:xfrm>
            <a:off x="25491332" y="5959971"/>
            <a:ext cx="2266899" cy="200025"/>
          </a:xfrm>
          <a:prstGeom prst="rect">
            <a:avLst/>
          </a:prstGeom>
          <a:noFill/>
          <a:ln/>
        </p:spPr>
        <p:txBody>
          <a:bodyPr wrap="square" lIns="0" tIns="0" rIns="0" bIns="0" rtlCol="0" anchor="t"/>
          <a:lstStyle/>
          <a:p>
            <a:pPr algn="r" indent="0" marL="0">
              <a:buNone/>
            </a:pPr>
            <a:r>
              <a:rPr lang="en-US" sz="1400" dirty="0">
                <a:solidFill>
                  <a:srgbClr val="2D2926"/>
                </a:solidFill>
                <a:latin typeface="Georgia" pitchFamily="34" charset="0"/>
                <a:ea typeface="Georgia" pitchFamily="34" charset="-122"/>
                <a:cs typeface="Georgia" pitchFamily="34" charset="-120"/>
              </a:rPr>
              <a:t>Our Mutual Friend </a:t>
            </a:r>
            <a:pPr algn="r" indent="0" marL="0">
              <a:buNone/>
            </a:pPr>
            <a:r>
              <a:rPr lang="en-US" sz="1200" i="1" dirty="0">
                <a:solidFill>
                  <a:srgbClr val="7A6E62"/>
                </a:solidFill>
                <a:latin typeface="Georgia" pitchFamily="34" charset="0"/>
                <a:ea typeface="Georgia" pitchFamily="34" charset="-122"/>
                <a:cs typeface="Georgia" pitchFamily="34" charset="-120"/>
              </a:rPr>
              <a:t>Dickens</a:t>
            </a:r>
            <a:endParaRPr lang="en-US" sz="1400" dirty="0"/>
          </a:p>
        </p:txBody>
      </p:sp>
      <p:sp>
        <p:nvSpPr>
          <p:cNvPr id="153" name="Text 150"/>
          <p:cNvSpPr/>
          <p:nvPr/>
        </p:nvSpPr>
        <p:spPr>
          <a:xfrm>
            <a:off x="27834431" y="5971133"/>
            <a:ext cx="1295400" cy="177701"/>
          </a:xfrm>
          <a:prstGeom prst="roundRect">
            <a:avLst>
              <a:gd name="adj" fmla="val 14294"/>
            </a:avLst>
          </a:prstGeom>
          <a:solidFill>
            <a:srgbClr val="C8962B"/>
          </a:solidFill>
          <a:ln/>
        </p:spPr>
        <p:txBody>
          <a:bodyPr wrap="square" rtlCol="0" anchor="ctr"/>
          <a:lstStyle/>
          <a:p>
            <a:pPr indent="0" marL="0">
              <a:buNone/>
            </a:pPr>
            <a:endParaRPr lang="en-US" dirty="0"/>
          </a:p>
        </p:txBody>
      </p:sp>
      <p:sp>
        <p:nvSpPr>
          <p:cNvPr id="154" name="Text 151"/>
          <p:cNvSpPr/>
          <p:nvPr/>
        </p:nvSpPr>
        <p:spPr>
          <a:xfrm>
            <a:off x="29180582" y="5971133"/>
            <a:ext cx="1244501" cy="177701"/>
          </a:xfrm>
          <a:prstGeom prst="roundRect">
            <a:avLst>
              <a:gd name="adj" fmla="val 14294"/>
            </a:avLst>
          </a:prstGeom>
          <a:solidFill>
            <a:srgbClr val="EEEEEE"/>
          </a:solidFill>
          <a:ln/>
        </p:spPr>
        <p:txBody>
          <a:bodyPr wrap="square" rtlCol="0" anchor="ctr"/>
          <a:lstStyle/>
          <a:p>
            <a:pPr indent="0" marL="0">
              <a:buNone/>
            </a:pPr>
            <a:endParaRPr lang="en-US" dirty="0"/>
          </a:p>
        </p:txBody>
      </p:sp>
      <p:sp>
        <p:nvSpPr>
          <p:cNvPr id="155" name="Text 152"/>
          <p:cNvSpPr/>
          <p:nvPr/>
        </p:nvSpPr>
        <p:spPr>
          <a:xfrm>
            <a:off x="30475833" y="5955209"/>
            <a:ext cx="217688" cy="209550"/>
          </a:xfrm>
          <a:prstGeom prst="rect">
            <a:avLst/>
          </a:prstGeom>
          <a:noFill/>
          <a:ln/>
        </p:spPr>
        <p:txBody>
          <a:bodyPr wrap="square" lIns="0" tIns="0" rIns="0" bIns="0" rtlCol="0" anchor="t"/>
          <a:lstStyle/>
          <a:p>
            <a:pPr algn="l" indent="0" marL="0">
              <a:buNone/>
            </a:pPr>
            <a:r>
              <a:rPr lang="en-US" sz="1400" dirty="0">
                <a:solidFill>
                  <a:srgbClr val="2D2926"/>
                </a:solidFill>
                <a:latin typeface="Courier New" pitchFamily="34" charset="0"/>
                <a:ea typeface="Courier New" pitchFamily="34" charset="-122"/>
                <a:cs typeface="Courier New" pitchFamily="34" charset="-120"/>
              </a:rPr>
              <a:t>29</a:t>
            </a:r>
            <a:endParaRPr lang="en-US" sz="1400" dirty="0"/>
          </a:p>
        </p:txBody>
      </p:sp>
      <p:sp>
        <p:nvSpPr>
          <p:cNvPr id="156" name="Text 153"/>
          <p:cNvSpPr/>
          <p:nvPr/>
        </p:nvSpPr>
        <p:spPr>
          <a:xfrm>
            <a:off x="25491332" y="6207621"/>
            <a:ext cx="2266899" cy="200025"/>
          </a:xfrm>
          <a:prstGeom prst="rect">
            <a:avLst/>
          </a:prstGeom>
          <a:noFill/>
          <a:ln/>
        </p:spPr>
        <p:txBody>
          <a:bodyPr wrap="square" lIns="0" tIns="0" rIns="0" bIns="0" rtlCol="0" anchor="t"/>
          <a:lstStyle/>
          <a:p>
            <a:pPr algn="r" indent="0" marL="0">
              <a:buNone/>
            </a:pPr>
            <a:r>
              <a:rPr lang="en-US" sz="1400" dirty="0">
                <a:solidFill>
                  <a:srgbClr val="2D2926"/>
                </a:solidFill>
                <a:latin typeface="Georgia" pitchFamily="34" charset="0"/>
                <a:ea typeface="Georgia" pitchFamily="34" charset="-122"/>
                <a:cs typeface="Georgia" pitchFamily="34" charset="-120"/>
              </a:rPr>
              <a:t>New Grub Street </a:t>
            </a:r>
            <a:pPr algn="r" indent="0" marL="0">
              <a:buNone/>
            </a:pPr>
            <a:r>
              <a:rPr lang="en-US" sz="1200" i="1" dirty="0">
                <a:solidFill>
                  <a:srgbClr val="7A6E62"/>
                </a:solidFill>
                <a:latin typeface="Georgia" pitchFamily="34" charset="0"/>
                <a:ea typeface="Georgia" pitchFamily="34" charset="-122"/>
                <a:cs typeface="Georgia" pitchFamily="34" charset="-120"/>
              </a:rPr>
              <a:t>Gissing</a:t>
            </a:r>
            <a:endParaRPr lang="en-US" sz="1400" dirty="0"/>
          </a:p>
        </p:txBody>
      </p:sp>
      <p:sp>
        <p:nvSpPr>
          <p:cNvPr id="157" name="Text 154"/>
          <p:cNvSpPr/>
          <p:nvPr/>
        </p:nvSpPr>
        <p:spPr>
          <a:xfrm>
            <a:off x="27834431" y="6218783"/>
            <a:ext cx="888950" cy="177701"/>
          </a:xfrm>
          <a:prstGeom prst="roundRect">
            <a:avLst>
              <a:gd name="adj" fmla="val 14294"/>
            </a:avLst>
          </a:prstGeom>
          <a:solidFill>
            <a:srgbClr val="B07D6A"/>
          </a:solidFill>
          <a:ln/>
        </p:spPr>
        <p:txBody>
          <a:bodyPr wrap="square" rtlCol="0" anchor="ctr"/>
          <a:lstStyle/>
          <a:p>
            <a:pPr indent="0" marL="0">
              <a:buNone/>
            </a:pPr>
            <a:endParaRPr lang="en-US" dirty="0"/>
          </a:p>
        </p:txBody>
      </p:sp>
      <p:sp>
        <p:nvSpPr>
          <p:cNvPr id="158" name="Text 155"/>
          <p:cNvSpPr/>
          <p:nvPr/>
        </p:nvSpPr>
        <p:spPr>
          <a:xfrm>
            <a:off x="28774132" y="6218783"/>
            <a:ext cx="1650950" cy="177701"/>
          </a:xfrm>
          <a:prstGeom prst="roundRect">
            <a:avLst>
              <a:gd name="adj" fmla="val 14294"/>
            </a:avLst>
          </a:prstGeom>
          <a:solidFill>
            <a:srgbClr val="EEEEEE"/>
          </a:solidFill>
          <a:ln/>
        </p:spPr>
        <p:txBody>
          <a:bodyPr wrap="square" rtlCol="0" anchor="ctr"/>
          <a:lstStyle/>
          <a:p>
            <a:pPr indent="0" marL="0">
              <a:buNone/>
            </a:pPr>
            <a:endParaRPr lang="en-US" dirty="0"/>
          </a:p>
        </p:txBody>
      </p:sp>
      <p:sp>
        <p:nvSpPr>
          <p:cNvPr id="159" name="Text 156"/>
          <p:cNvSpPr/>
          <p:nvPr/>
        </p:nvSpPr>
        <p:spPr>
          <a:xfrm>
            <a:off x="30475833" y="6202859"/>
            <a:ext cx="217688" cy="209550"/>
          </a:xfrm>
          <a:prstGeom prst="rect">
            <a:avLst/>
          </a:prstGeom>
          <a:noFill/>
          <a:ln/>
        </p:spPr>
        <p:txBody>
          <a:bodyPr wrap="square" lIns="0" tIns="0" rIns="0" bIns="0" rtlCol="0" anchor="t"/>
          <a:lstStyle/>
          <a:p>
            <a:pPr algn="l" indent="0" marL="0">
              <a:buNone/>
            </a:pPr>
            <a:r>
              <a:rPr lang="en-US" sz="1400" dirty="0">
                <a:solidFill>
                  <a:srgbClr val="2D2926"/>
                </a:solidFill>
                <a:latin typeface="Courier New" pitchFamily="34" charset="0"/>
                <a:ea typeface="Courier New" pitchFamily="34" charset="-122"/>
                <a:cs typeface="Courier New" pitchFamily="34" charset="-120"/>
              </a:rPr>
              <a:t>20</a:t>
            </a:r>
            <a:endParaRPr lang="en-US" sz="1400" dirty="0"/>
          </a:p>
        </p:txBody>
      </p:sp>
      <p:sp>
        <p:nvSpPr>
          <p:cNvPr id="160" name="Text 157"/>
          <p:cNvSpPr/>
          <p:nvPr/>
        </p:nvSpPr>
        <p:spPr>
          <a:xfrm>
            <a:off x="25491332" y="6455271"/>
            <a:ext cx="2266899" cy="200025"/>
          </a:xfrm>
          <a:prstGeom prst="rect">
            <a:avLst/>
          </a:prstGeom>
          <a:noFill/>
          <a:ln/>
        </p:spPr>
        <p:txBody>
          <a:bodyPr wrap="square" lIns="0" tIns="0" rIns="0" bIns="0" rtlCol="0" anchor="t"/>
          <a:lstStyle/>
          <a:p>
            <a:pPr algn="r" indent="0" marL="0">
              <a:buNone/>
            </a:pPr>
            <a:r>
              <a:rPr lang="en-US" sz="1400" dirty="0">
                <a:solidFill>
                  <a:srgbClr val="2D2926"/>
                </a:solidFill>
                <a:latin typeface="Georgia" pitchFamily="34" charset="0"/>
                <a:ea typeface="Georgia" pitchFamily="34" charset="-122"/>
                <a:cs typeface="Georgia" pitchFamily="34" charset="-120"/>
              </a:rPr>
              <a:t>The Odd Women </a:t>
            </a:r>
            <a:pPr algn="r" indent="0" marL="0">
              <a:buNone/>
            </a:pPr>
            <a:r>
              <a:rPr lang="en-US" sz="1200" i="1" dirty="0">
                <a:solidFill>
                  <a:srgbClr val="7A6E62"/>
                </a:solidFill>
                <a:latin typeface="Georgia" pitchFamily="34" charset="0"/>
                <a:ea typeface="Georgia" pitchFamily="34" charset="-122"/>
                <a:cs typeface="Georgia" pitchFamily="34" charset="-120"/>
              </a:rPr>
              <a:t>Gissing</a:t>
            </a:r>
            <a:endParaRPr lang="en-US" sz="1400" dirty="0"/>
          </a:p>
        </p:txBody>
      </p:sp>
      <p:sp>
        <p:nvSpPr>
          <p:cNvPr id="161" name="Text 158"/>
          <p:cNvSpPr/>
          <p:nvPr/>
        </p:nvSpPr>
        <p:spPr>
          <a:xfrm>
            <a:off x="27834431" y="6466433"/>
            <a:ext cx="266700" cy="177701"/>
          </a:xfrm>
          <a:prstGeom prst="roundRect">
            <a:avLst>
              <a:gd name="adj" fmla="val 14294"/>
            </a:avLst>
          </a:prstGeom>
          <a:solidFill>
            <a:srgbClr val="9B4A54"/>
          </a:solidFill>
          <a:ln/>
        </p:spPr>
        <p:txBody>
          <a:bodyPr wrap="square" rtlCol="0" anchor="ctr"/>
          <a:lstStyle/>
          <a:p>
            <a:pPr indent="0" marL="0">
              <a:buNone/>
            </a:pPr>
            <a:endParaRPr lang="en-US" dirty="0"/>
          </a:p>
        </p:txBody>
      </p:sp>
      <p:sp>
        <p:nvSpPr>
          <p:cNvPr id="162" name="Text 159"/>
          <p:cNvSpPr/>
          <p:nvPr/>
        </p:nvSpPr>
        <p:spPr>
          <a:xfrm>
            <a:off x="28151882" y="6466433"/>
            <a:ext cx="2273201" cy="177701"/>
          </a:xfrm>
          <a:prstGeom prst="roundRect">
            <a:avLst>
              <a:gd name="adj" fmla="val 14294"/>
            </a:avLst>
          </a:prstGeom>
          <a:solidFill>
            <a:srgbClr val="EEEEEE"/>
          </a:solidFill>
          <a:ln/>
        </p:spPr>
        <p:txBody>
          <a:bodyPr wrap="square" rtlCol="0" anchor="ctr"/>
          <a:lstStyle/>
          <a:p>
            <a:pPr indent="0" marL="0">
              <a:buNone/>
            </a:pPr>
            <a:endParaRPr lang="en-US" dirty="0"/>
          </a:p>
        </p:txBody>
      </p:sp>
      <p:sp>
        <p:nvSpPr>
          <p:cNvPr id="163" name="Text 160"/>
          <p:cNvSpPr/>
          <p:nvPr/>
        </p:nvSpPr>
        <p:spPr>
          <a:xfrm>
            <a:off x="30475833" y="6450509"/>
            <a:ext cx="108844" cy="209550"/>
          </a:xfrm>
          <a:prstGeom prst="rect">
            <a:avLst/>
          </a:prstGeom>
          <a:noFill/>
          <a:ln/>
        </p:spPr>
        <p:txBody>
          <a:bodyPr wrap="square" lIns="0" tIns="0" rIns="0" bIns="0" rtlCol="0" anchor="t"/>
          <a:lstStyle/>
          <a:p>
            <a:pPr algn="l" indent="0" marL="0">
              <a:buNone/>
            </a:pPr>
            <a:r>
              <a:rPr lang="en-US" sz="1400" dirty="0">
                <a:solidFill>
                  <a:srgbClr val="2D2926"/>
                </a:solidFill>
                <a:latin typeface="Courier New" pitchFamily="34" charset="0"/>
                <a:ea typeface="Courier New" pitchFamily="34" charset="-122"/>
                <a:cs typeface="Courier New" pitchFamily="34" charset="-120"/>
              </a:rPr>
              <a:t>6</a:t>
            </a:r>
            <a:endParaRPr lang="en-US" sz="1400" dirty="0"/>
          </a:p>
        </p:txBody>
      </p:sp>
      <p:sp>
        <p:nvSpPr>
          <p:cNvPr id="164" name="Text 161"/>
          <p:cNvSpPr/>
          <p:nvPr/>
        </p:nvSpPr>
        <p:spPr>
          <a:xfrm>
            <a:off x="25491332" y="6702921"/>
            <a:ext cx="2266899" cy="200025"/>
          </a:xfrm>
          <a:prstGeom prst="rect">
            <a:avLst/>
          </a:prstGeom>
          <a:noFill/>
          <a:ln/>
        </p:spPr>
        <p:txBody>
          <a:bodyPr wrap="square" lIns="0" tIns="0" rIns="0" bIns="0" rtlCol="0" anchor="t"/>
          <a:lstStyle/>
          <a:p>
            <a:pPr algn="r" indent="0" marL="0">
              <a:buNone/>
            </a:pPr>
            <a:r>
              <a:rPr lang="en-US" sz="1400" dirty="0">
                <a:solidFill>
                  <a:srgbClr val="2D2926"/>
                </a:solidFill>
                <a:latin typeface="Georgia" pitchFamily="34" charset="0"/>
                <a:ea typeface="Georgia" pitchFamily="34" charset="-122"/>
                <a:cs typeface="Georgia" pitchFamily="34" charset="-120"/>
              </a:rPr>
              <a:t>North and South </a:t>
            </a:r>
            <a:pPr algn="r" indent="0" marL="0">
              <a:buNone/>
            </a:pPr>
            <a:r>
              <a:rPr lang="en-US" sz="1200" i="1" dirty="0">
                <a:solidFill>
                  <a:srgbClr val="7A6E62"/>
                </a:solidFill>
                <a:latin typeface="Georgia" pitchFamily="34" charset="0"/>
                <a:ea typeface="Georgia" pitchFamily="34" charset="-122"/>
                <a:cs typeface="Georgia" pitchFamily="34" charset="-120"/>
              </a:rPr>
              <a:t>Gaskell</a:t>
            </a:r>
            <a:endParaRPr lang="en-US" sz="1400" dirty="0"/>
          </a:p>
        </p:txBody>
      </p:sp>
      <p:sp>
        <p:nvSpPr>
          <p:cNvPr id="165" name="Text 162"/>
          <p:cNvSpPr/>
          <p:nvPr/>
        </p:nvSpPr>
        <p:spPr>
          <a:xfrm>
            <a:off x="27834431" y="6714083"/>
            <a:ext cx="88850" cy="177701"/>
          </a:xfrm>
          <a:prstGeom prst="roundRect">
            <a:avLst>
              <a:gd name="adj" fmla="val 28588"/>
            </a:avLst>
          </a:prstGeom>
          <a:solidFill>
            <a:srgbClr val="722F37"/>
          </a:solidFill>
          <a:ln/>
        </p:spPr>
        <p:txBody>
          <a:bodyPr wrap="square" rtlCol="0" anchor="ctr"/>
          <a:lstStyle/>
          <a:p>
            <a:pPr indent="0" marL="0">
              <a:buNone/>
            </a:pPr>
            <a:endParaRPr lang="en-US" dirty="0"/>
          </a:p>
        </p:txBody>
      </p:sp>
      <p:sp>
        <p:nvSpPr>
          <p:cNvPr id="166" name="Text 163"/>
          <p:cNvSpPr/>
          <p:nvPr/>
        </p:nvSpPr>
        <p:spPr>
          <a:xfrm>
            <a:off x="27974032" y="6714083"/>
            <a:ext cx="2451050" cy="177701"/>
          </a:xfrm>
          <a:prstGeom prst="roundRect">
            <a:avLst>
              <a:gd name="adj" fmla="val 14294"/>
            </a:avLst>
          </a:prstGeom>
          <a:solidFill>
            <a:srgbClr val="EEEEEE"/>
          </a:solidFill>
          <a:ln/>
        </p:spPr>
        <p:txBody>
          <a:bodyPr wrap="square" rtlCol="0" anchor="ctr"/>
          <a:lstStyle/>
          <a:p>
            <a:pPr indent="0" marL="0">
              <a:buNone/>
            </a:pPr>
            <a:endParaRPr lang="en-US" dirty="0"/>
          </a:p>
        </p:txBody>
      </p:sp>
      <p:sp>
        <p:nvSpPr>
          <p:cNvPr id="167" name="Text 164"/>
          <p:cNvSpPr/>
          <p:nvPr/>
        </p:nvSpPr>
        <p:spPr>
          <a:xfrm>
            <a:off x="30475833" y="6698159"/>
            <a:ext cx="108844" cy="209550"/>
          </a:xfrm>
          <a:prstGeom prst="rect">
            <a:avLst/>
          </a:prstGeom>
          <a:noFill/>
          <a:ln/>
        </p:spPr>
        <p:txBody>
          <a:bodyPr wrap="square" lIns="0" tIns="0" rIns="0" bIns="0" rtlCol="0" anchor="t"/>
          <a:lstStyle/>
          <a:p>
            <a:pPr algn="l" indent="0" marL="0">
              <a:buNone/>
            </a:pPr>
            <a:r>
              <a:rPr lang="en-US" sz="1400" dirty="0">
                <a:solidFill>
                  <a:srgbClr val="2D2926"/>
                </a:solidFill>
                <a:latin typeface="Courier New" pitchFamily="34" charset="0"/>
                <a:ea typeface="Courier New" pitchFamily="34" charset="-122"/>
                <a:cs typeface="Courier New" pitchFamily="34" charset="-120"/>
              </a:rPr>
              <a:t>2</a:t>
            </a:r>
            <a:endParaRPr lang="en-US" sz="1400" dirty="0"/>
          </a:p>
        </p:txBody>
      </p:sp>
      <p:sp>
        <p:nvSpPr>
          <p:cNvPr id="168" name="Text 165"/>
          <p:cNvSpPr/>
          <p:nvPr/>
        </p:nvSpPr>
        <p:spPr>
          <a:xfrm>
            <a:off x="25491332" y="6950571"/>
            <a:ext cx="2266899" cy="200025"/>
          </a:xfrm>
          <a:prstGeom prst="rect">
            <a:avLst/>
          </a:prstGeom>
          <a:noFill/>
          <a:ln/>
        </p:spPr>
        <p:txBody>
          <a:bodyPr wrap="square" lIns="0" tIns="0" rIns="0" bIns="0" rtlCol="0" anchor="t"/>
          <a:lstStyle/>
          <a:p>
            <a:pPr algn="r" indent="0" marL="0">
              <a:buNone/>
            </a:pPr>
            <a:r>
              <a:rPr lang="en-US" sz="1400" dirty="0">
                <a:solidFill>
                  <a:srgbClr val="2D2926"/>
                </a:solidFill>
                <a:latin typeface="Georgia" pitchFamily="34" charset="0"/>
                <a:ea typeface="Georgia" pitchFamily="34" charset="-122"/>
                <a:cs typeface="Georgia" pitchFamily="34" charset="-120"/>
              </a:rPr>
              <a:t>Hester </a:t>
            </a:r>
            <a:pPr algn="r" indent="0" marL="0">
              <a:buNone/>
            </a:pPr>
            <a:r>
              <a:rPr lang="en-US" sz="1200" i="1" dirty="0">
                <a:solidFill>
                  <a:srgbClr val="7A6E62"/>
                </a:solidFill>
                <a:latin typeface="Georgia" pitchFamily="34" charset="0"/>
                <a:ea typeface="Georgia" pitchFamily="34" charset="-122"/>
                <a:cs typeface="Georgia" pitchFamily="34" charset="-120"/>
              </a:rPr>
              <a:t>Oliphant</a:t>
            </a:r>
            <a:endParaRPr lang="en-US" sz="1400" dirty="0"/>
          </a:p>
        </p:txBody>
      </p:sp>
      <p:sp>
        <p:nvSpPr>
          <p:cNvPr id="169" name="Text 166"/>
          <p:cNvSpPr/>
          <p:nvPr/>
        </p:nvSpPr>
        <p:spPr>
          <a:xfrm>
            <a:off x="27885182" y="6961733"/>
            <a:ext cx="2539901" cy="177701"/>
          </a:xfrm>
          <a:prstGeom prst="roundRect">
            <a:avLst>
              <a:gd name="adj" fmla="val 14294"/>
            </a:avLst>
          </a:prstGeom>
          <a:solidFill>
            <a:srgbClr val="EEEEEE"/>
          </a:solidFill>
          <a:ln/>
        </p:spPr>
        <p:txBody>
          <a:bodyPr wrap="square" rtlCol="0" anchor="ctr"/>
          <a:lstStyle/>
          <a:p>
            <a:pPr indent="0" marL="0">
              <a:buNone/>
            </a:pPr>
            <a:endParaRPr lang="en-US" dirty="0"/>
          </a:p>
        </p:txBody>
      </p:sp>
      <p:sp>
        <p:nvSpPr>
          <p:cNvPr id="170" name="Text 167"/>
          <p:cNvSpPr/>
          <p:nvPr/>
        </p:nvSpPr>
        <p:spPr>
          <a:xfrm>
            <a:off x="30475833" y="6945809"/>
            <a:ext cx="108844" cy="209550"/>
          </a:xfrm>
          <a:prstGeom prst="rect">
            <a:avLst/>
          </a:prstGeom>
          <a:noFill/>
          <a:ln/>
        </p:spPr>
        <p:txBody>
          <a:bodyPr wrap="square" lIns="0" tIns="0" rIns="0" bIns="0" rtlCol="0" anchor="t"/>
          <a:lstStyle/>
          <a:p>
            <a:pPr algn="l" indent="0" marL="0">
              <a:buNone/>
            </a:pPr>
            <a:r>
              <a:rPr lang="en-US" sz="1400" dirty="0">
                <a:solidFill>
                  <a:srgbClr val="2D2926"/>
                </a:solidFill>
                <a:latin typeface="Courier New" pitchFamily="34" charset="0"/>
                <a:ea typeface="Courier New" pitchFamily="34" charset="-122"/>
                <a:cs typeface="Courier New" pitchFamily="34" charset="-120"/>
              </a:rPr>
              <a:t>0</a:t>
            </a:r>
            <a:endParaRPr lang="en-US" sz="1400" dirty="0"/>
          </a:p>
        </p:txBody>
      </p:sp>
      <p:sp>
        <p:nvSpPr>
          <p:cNvPr id="171" name="Text 168"/>
          <p:cNvSpPr/>
          <p:nvPr/>
        </p:nvSpPr>
        <p:spPr>
          <a:xfrm>
            <a:off x="25491332" y="7198221"/>
            <a:ext cx="2266899" cy="200025"/>
          </a:xfrm>
          <a:prstGeom prst="rect">
            <a:avLst/>
          </a:prstGeom>
          <a:noFill/>
          <a:ln/>
        </p:spPr>
        <p:txBody>
          <a:bodyPr wrap="square" lIns="0" tIns="0" rIns="0" bIns="0" rtlCol="0" anchor="t"/>
          <a:lstStyle/>
          <a:p>
            <a:pPr algn="r" indent="0" marL="0">
              <a:buNone/>
            </a:pPr>
            <a:r>
              <a:rPr lang="en-US" sz="1400" dirty="0">
                <a:solidFill>
                  <a:srgbClr val="2D2926"/>
                </a:solidFill>
                <a:latin typeface="Georgia" pitchFamily="34" charset="0"/>
                <a:ea typeface="Georgia" pitchFamily="34" charset="-122"/>
                <a:cs typeface="Georgia" pitchFamily="34" charset="-120"/>
              </a:rPr>
              <a:t>No Name </a:t>
            </a:r>
            <a:pPr algn="r" indent="0" marL="0">
              <a:buNone/>
            </a:pPr>
            <a:r>
              <a:rPr lang="en-US" sz="1200" i="1" dirty="0">
                <a:solidFill>
                  <a:srgbClr val="7A6E62"/>
                </a:solidFill>
                <a:latin typeface="Georgia" pitchFamily="34" charset="0"/>
                <a:ea typeface="Georgia" pitchFamily="34" charset="-122"/>
                <a:cs typeface="Georgia" pitchFamily="34" charset="-120"/>
              </a:rPr>
              <a:t>Collins</a:t>
            </a:r>
            <a:endParaRPr lang="en-US" sz="1400" dirty="0"/>
          </a:p>
        </p:txBody>
      </p:sp>
      <p:sp>
        <p:nvSpPr>
          <p:cNvPr id="172" name="Text 169"/>
          <p:cNvSpPr/>
          <p:nvPr/>
        </p:nvSpPr>
        <p:spPr>
          <a:xfrm>
            <a:off x="27885182" y="7209383"/>
            <a:ext cx="2539901" cy="177701"/>
          </a:xfrm>
          <a:prstGeom prst="roundRect">
            <a:avLst>
              <a:gd name="adj" fmla="val 14294"/>
            </a:avLst>
          </a:prstGeom>
          <a:solidFill>
            <a:srgbClr val="EEEEEE"/>
          </a:solidFill>
          <a:ln/>
        </p:spPr>
        <p:txBody>
          <a:bodyPr wrap="square" rtlCol="0" anchor="ctr"/>
          <a:lstStyle/>
          <a:p>
            <a:pPr indent="0" marL="0">
              <a:buNone/>
            </a:pPr>
            <a:endParaRPr lang="en-US" dirty="0"/>
          </a:p>
        </p:txBody>
      </p:sp>
      <p:sp>
        <p:nvSpPr>
          <p:cNvPr id="173" name="Text 170"/>
          <p:cNvSpPr/>
          <p:nvPr/>
        </p:nvSpPr>
        <p:spPr>
          <a:xfrm>
            <a:off x="30475833" y="7193459"/>
            <a:ext cx="108844" cy="209550"/>
          </a:xfrm>
          <a:prstGeom prst="rect">
            <a:avLst/>
          </a:prstGeom>
          <a:noFill/>
          <a:ln/>
        </p:spPr>
        <p:txBody>
          <a:bodyPr wrap="square" lIns="0" tIns="0" rIns="0" bIns="0" rtlCol="0" anchor="t"/>
          <a:lstStyle/>
          <a:p>
            <a:pPr algn="l" indent="0" marL="0">
              <a:buNone/>
            </a:pPr>
            <a:r>
              <a:rPr lang="en-US" sz="1400" dirty="0">
                <a:solidFill>
                  <a:srgbClr val="2D2926"/>
                </a:solidFill>
                <a:latin typeface="Courier New" pitchFamily="34" charset="0"/>
                <a:ea typeface="Courier New" pitchFamily="34" charset="-122"/>
                <a:cs typeface="Courier New" pitchFamily="34" charset="-120"/>
              </a:rPr>
              <a:t>0</a:t>
            </a:r>
            <a:endParaRPr lang="en-US" sz="1400" dirty="0"/>
          </a:p>
        </p:txBody>
      </p:sp>
      <p:sp>
        <p:nvSpPr>
          <p:cNvPr id="174" name="Text 171"/>
          <p:cNvSpPr/>
          <p:nvPr/>
        </p:nvSpPr>
        <p:spPr>
          <a:xfrm>
            <a:off x="25535781" y="7479209"/>
            <a:ext cx="10940564" cy="400050"/>
          </a:xfrm>
          <a:prstGeom prst="rect">
            <a:avLst/>
          </a:prstGeom>
          <a:noFill/>
          <a:ln/>
        </p:spPr>
        <p:txBody>
          <a:bodyPr wrap="square" lIns="0" tIns="0" rIns="0" bIns="0" rtlCol="0" anchor="t"/>
          <a:lstStyle/>
          <a:p>
            <a:pPr algn="l" indent="0" marL="0">
              <a:spcBef>
                <a:spcPts val="600"/>
              </a:spcBef>
              <a:buNone/>
            </a:pPr>
            <a:r>
              <a:rPr lang="en-US" sz="1400" dirty="0">
                <a:solidFill>
                  <a:srgbClr val="2D2926"/>
                </a:solidFill>
                <a:latin typeface="Georgia" pitchFamily="34" charset="0"/>
                <a:ea typeface="Georgia" pitchFamily="34" charset="-122"/>
                <a:cs typeface="Georgia" pitchFamily="34" charset="-120"/>
              </a:rPr>
              <a:t>Grounded conditions achieve </a:t>
            </a:r>
            <a:pPr algn="l" indent="0" marL="0">
              <a:spcBef>
                <a:spcPts val="600"/>
              </a:spcBef>
              <a:buNone/>
            </a:pPr>
            <a:r>
              <a:rPr lang="en-US" sz="1400" b="1" dirty="0">
                <a:solidFill>
                  <a:srgbClr val="2D2926"/>
                </a:solidFill>
                <a:latin typeface="Georgia" pitchFamily="34" charset="0"/>
                <a:ea typeface="Georgia" pitchFamily="34" charset="-122"/>
                <a:cs typeface="Georgia" pitchFamily="34" charset="-120"/>
              </a:rPr>
              <a:t>97–98%</a:t>
            </a:r>
            <a:pPr algn="l" indent="0" marL="0">
              <a:spcBef>
                <a:spcPts val="600"/>
              </a:spcBef>
              <a:buNone/>
            </a:pPr>
            <a:r>
              <a:rPr lang="en-US" sz="1400" dirty="0">
                <a:solidFill>
                  <a:srgbClr val="2D2926"/>
                </a:solidFill>
                <a:latin typeface="Georgia" pitchFamily="34" charset="0"/>
                <a:ea typeface="Georgia" pitchFamily="34" charset="-122"/>
                <a:cs typeface="Georgia" pitchFamily="34" charset="-120"/>
              </a:rPr>
              <a:t> for </a:t>
            </a:r>
            <a:pPr algn="l" indent="0" marL="0">
              <a:spcBef>
                <a:spcPts val="600"/>
              </a:spcBef>
              <a:buNone/>
            </a:pPr>
            <a:r>
              <a:rPr lang="en-US" sz="1400" i="1" dirty="0">
                <a:solidFill>
                  <a:srgbClr val="2D2926"/>
                </a:solidFill>
                <a:latin typeface="Georgia" pitchFamily="34" charset="0"/>
                <a:ea typeface="Georgia" pitchFamily="34" charset="-122"/>
                <a:cs typeface="Georgia" pitchFamily="34" charset="-120"/>
              </a:rPr>
              <a:t>all</a:t>
            </a:r>
            <a:pPr algn="l" indent="0" marL="0">
              <a:spcBef>
                <a:spcPts val="600"/>
              </a:spcBef>
              <a:buNone/>
            </a:pPr>
            <a:r>
              <a:rPr lang="en-US" sz="1400" dirty="0">
                <a:solidFill>
                  <a:srgbClr val="2D2926"/>
                </a:solidFill>
                <a:latin typeface="Georgia" pitchFamily="34" charset="0"/>
                <a:ea typeface="Georgia" pitchFamily="34" charset="-122"/>
                <a:cs typeface="Georgia" pitchFamily="34" charset="-120"/>
              </a:rPr>
              <a:t> novels. The gradient reflects analytical reinforcement in training data (Carlini et al., 2021, 2023), not prose style.</a:t>
            </a:r>
            <a:endParaRPr lang="en-US" sz="1400" dirty="0"/>
          </a:p>
        </p:txBody>
      </p:sp>
      <p:sp>
        <p:nvSpPr>
          <p:cNvPr id="175" name="Text 172"/>
          <p:cNvSpPr/>
          <p:nvPr/>
        </p:nvSpPr>
        <p:spPr>
          <a:xfrm>
            <a:off x="25399305" y="8142684"/>
            <a:ext cx="10998994" cy="3525887"/>
          </a:xfrm>
          <a:prstGeom prst="roundRect">
            <a:avLst>
              <a:gd name="adj" fmla="val 1441"/>
            </a:avLst>
          </a:prstGeom>
          <a:solidFill>
            <a:srgbClr val="FFFFFF"/>
          </a:solidFill>
          <a:ln w="9525">
            <a:solidFill>
              <a:srgbClr val="E0DADA"/>
            </a:solidFill>
          </a:ln>
          <a:effectLst>
            <a:outerShdw sx="100000" sy="100000" kx="0" ky="0" algn="bl" rotWithShape="0" blurRad="101600" dist="17960" dir="2700000">
              <a:srgbClr val="000000">
                <a:alpha val="4000"/>
              </a:srgbClr>
            </a:outerShdw>
          </a:effectLst>
        </p:spPr>
        <p:txBody>
          <a:bodyPr wrap="square" rtlCol="0" anchor="ctr"/>
          <a:lstStyle/>
          <a:p>
            <a:pPr indent="0" marL="0">
              <a:buNone/>
            </a:pPr>
            <a:endParaRPr lang="en-US" dirty="0"/>
          </a:p>
        </p:txBody>
      </p:sp>
      <p:sp>
        <p:nvSpPr>
          <p:cNvPr id="176" name="Text 173"/>
          <p:cNvSpPr/>
          <p:nvPr/>
        </p:nvSpPr>
        <p:spPr>
          <a:xfrm>
            <a:off x="25535781" y="8279160"/>
            <a:ext cx="10940564" cy="371475"/>
          </a:xfrm>
          <a:prstGeom prst="rect">
            <a:avLst/>
          </a:prstGeom>
          <a:noFill/>
          <a:ln/>
        </p:spPr>
        <p:txBody>
          <a:bodyPr wrap="square" lIns="0" tIns="0" rIns="0" bIns="0" rtlCol="0" anchor="t"/>
          <a:lstStyle/>
          <a:p>
            <a:pPr algn="l" indent="0" marL="0">
              <a:buNone/>
            </a:pPr>
            <a:r>
              <a:rPr lang="en-US" sz="2600" b="1" dirty="0">
                <a:solidFill>
                  <a:srgbClr val="722F37"/>
                </a:solidFill>
                <a:latin typeface="Arial" pitchFamily="34" charset="0"/>
                <a:ea typeface="Arial" pitchFamily="34" charset="-122"/>
                <a:cs typeface="Arial" pitchFamily="34" charset="-120"/>
              </a:rPr>
              <a:t>Pastiche in Action</a:t>
            </a:r>
            <a:endParaRPr lang="en-US" sz="2600" dirty="0"/>
          </a:p>
        </p:txBody>
      </p:sp>
      <p:sp>
        <p:nvSpPr>
          <p:cNvPr id="177" name="Text 174"/>
          <p:cNvSpPr/>
          <p:nvPr/>
        </p:nvSpPr>
        <p:spPr>
          <a:xfrm>
            <a:off x="25535781" y="8675936"/>
            <a:ext cx="1777901" cy="38100"/>
          </a:xfrm>
          <a:prstGeom prst="rect">
            <a:avLst/>
          </a:prstGeom>
          <a:solidFill>
            <a:srgbClr val="B8860B"/>
          </a:solidFill>
          <a:ln/>
        </p:spPr>
        <p:txBody>
          <a:bodyPr wrap="square" rtlCol="0" anchor="ctr"/>
          <a:lstStyle/>
          <a:p>
            <a:pPr indent="0" marL="0">
              <a:buNone/>
            </a:pPr>
            <a:endParaRPr lang="en-US" dirty="0"/>
          </a:p>
        </p:txBody>
      </p:sp>
      <p:sp>
        <p:nvSpPr>
          <p:cNvPr id="178" name="Text 175"/>
          <p:cNvSpPr/>
          <p:nvPr/>
        </p:nvSpPr>
        <p:spPr>
          <a:xfrm>
            <a:off x="25535781" y="8790236"/>
            <a:ext cx="10726043" cy="866775"/>
          </a:xfrm>
          <a:prstGeom prst="rect">
            <a:avLst/>
          </a:prstGeom>
          <a:solidFill>
            <a:srgbClr val="F0E2C0">
              <a:alpha val="3000"/>
            </a:srgbClr>
          </a:solidFill>
          <a:ln/>
        </p:spPr>
        <p:txBody>
          <a:bodyPr wrap="square" rtlCol="0" anchor="ctr"/>
          <a:lstStyle/>
          <a:p>
            <a:pPr indent="0" marL="0">
              <a:buNone/>
            </a:pPr>
            <a:endParaRPr lang="en-US" dirty="0"/>
          </a:p>
        </p:txBody>
      </p:sp>
      <p:sp>
        <p:nvSpPr>
          <p:cNvPr id="179" name="Shape 176"/>
          <p:cNvSpPr/>
          <p:nvPr/>
        </p:nvSpPr>
        <p:spPr>
          <a:xfrm>
            <a:off x="25559593" y="8790236"/>
            <a:ext cx="0" cy="866775"/>
          </a:xfrm>
          <a:prstGeom prst="line">
            <a:avLst/>
          </a:prstGeom>
          <a:noFill/>
          <a:ln w="47625">
            <a:solidFill>
              <a:srgbClr val="B8860B"/>
            </a:solidFill>
            <a:prstDash val="solid"/>
          </a:ln>
        </p:spPr>
      </p:sp>
      <p:sp>
        <p:nvSpPr>
          <p:cNvPr id="180" name="Text 177"/>
          <p:cNvSpPr/>
          <p:nvPr/>
        </p:nvSpPr>
        <p:spPr>
          <a:xfrm>
            <a:off x="25684907" y="8866436"/>
            <a:ext cx="10684925" cy="476250"/>
          </a:xfrm>
          <a:prstGeom prst="rect">
            <a:avLst/>
          </a:prstGeom>
          <a:noFill/>
          <a:ln/>
        </p:spPr>
        <p:txBody>
          <a:bodyPr wrap="square" lIns="0" tIns="0" rIns="0" bIns="0" rtlCol="0" anchor="t"/>
          <a:lstStyle/>
          <a:p>
            <a:pPr algn="l" indent="0" marL="0">
              <a:spcAft>
                <a:spcPts val="300"/>
              </a:spcAft>
              <a:buNone/>
            </a:pPr>
            <a:r>
              <a:rPr lang="en-US" sz="1600" i="1" dirty="0">
                <a:solidFill>
                  <a:srgbClr val="2D2926"/>
                </a:solidFill>
                <a:latin typeface="Georgia" pitchFamily="34" charset="0"/>
                <a:ea typeface="Georgia" pitchFamily="34" charset="-122"/>
                <a:cs typeface="Georgia" pitchFamily="34" charset="-120"/>
              </a:rPr>
              <a:t>"Name, Jo. Nothing else that he knows on. Don't know that everybody has two names. Never heerd of sich a think. No father, no mother, no friends. Never been to school."</a:t>
            </a:r>
            <a:endParaRPr lang="en-US" sz="1600" dirty="0"/>
          </a:p>
        </p:txBody>
      </p:sp>
      <p:sp>
        <p:nvSpPr>
          <p:cNvPr id="181" name="Text 178"/>
          <p:cNvSpPr/>
          <p:nvPr/>
        </p:nvSpPr>
        <p:spPr>
          <a:xfrm>
            <a:off x="25684907" y="9380786"/>
            <a:ext cx="10684925" cy="200025"/>
          </a:xfrm>
          <a:prstGeom prst="rect">
            <a:avLst/>
          </a:prstGeom>
          <a:noFill/>
          <a:ln/>
        </p:spPr>
        <p:txBody>
          <a:bodyPr wrap="square" lIns="0" tIns="0" rIns="0" bIns="0" rtlCol="0" anchor="t"/>
          <a:lstStyle/>
          <a:p>
            <a:pPr algn="l" indent="0" marL="0">
              <a:buNone/>
            </a:pPr>
            <a:r>
              <a:rPr lang="en-US" sz="1400" dirty="0">
                <a:solidFill>
                  <a:srgbClr val="7A6E62"/>
                </a:solidFill>
                <a:latin typeface="Georgia" pitchFamily="34" charset="0"/>
                <a:ea typeface="Georgia" pitchFamily="34" charset="-122"/>
                <a:cs typeface="Georgia" pitchFamily="34" charset="-120"/>
              </a:rPr>
              <a:t>— Bleak House, Ch. 11 — Jo's testimony</a:t>
            </a:r>
            <a:endParaRPr lang="en-US" sz="1400" dirty="0"/>
          </a:p>
        </p:txBody>
      </p:sp>
      <p:sp>
        <p:nvSpPr>
          <p:cNvPr id="182" name="Text 179"/>
          <p:cNvSpPr/>
          <p:nvPr/>
        </p:nvSpPr>
        <p:spPr>
          <a:xfrm>
            <a:off x="25535781" y="9733211"/>
            <a:ext cx="10726043" cy="548878"/>
          </a:xfrm>
          <a:prstGeom prst="roundRect">
            <a:avLst>
              <a:gd name="adj" fmla="val 6941"/>
            </a:avLst>
          </a:prstGeom>
          <a:solidFill>
            <a:srgbClr val="E0F0EC">
              <a:alpha val="25000"/>
            </a:srgbClr>
          </a:solidFill>
          <a:ln w="9525">
            <a:solidFill>
              <a:srgbClr val="3D8B7A"/>
            </a:solidFill>
          </a:ln>
        </p:spPr>
        <p:txBody>
          <a:bodyPr wrap="square" rtlCol="0" anchor="ctr"/>
          <a:lstStyle/>
          <a:p>
            <a:pPr indent="0" marL="0">
              <a:buNone/>
            </a:pPr>
            <a:endParaRPr lang="en-US" dirty="0"/>
          </a:p>
        </p:txBody>
      </p:sp>
      <p:sp>
        <p:nvSpPr>
          <p:cNvPr id="183" name="Text 180"/>
          <p:cNvSpPr/>
          <p:nvPr/>
        </p:nvSpPr>
        <p:spPr>
          <a:xfrm>
            <a:off x="25646807" y="9804499"/>
            <a:ext cx="3006036" cy="200025"/>
          </a:xfrm>
          <a:prstGeom prst="rect">
            <a:avLst/>
          </a:prstGeom>
          <a:noFill/>
          <a:ln/>
        </p:spPr>
        <p:txBody>
          <a:bodyPr wrap="square" lIns="0" tIns="0" rIns="0" bIns="0" rtlCol="0" anchor="t"/>
          <a:lstStyle/>
          <a:p>
            <a:pPr algn="l" indent="0" marL="0">
              <a:buNone/>
            </a:pPr>
            <a:r>
              <a:rPr lang="en-US" sz="1400" i="1" dirty="0">
                <a:solidFill>
                  <a:srgbClr val="2D2926"/>
                </a:solidFill>
                <a:latin typeface="Georgia" pitchFamily="34" charset="0"/>
                <a:ea typeface="Georgia" pitchFamily="34" charset="-122"/>
                <a:cs typeface="Georgia" pitchFamily="34" charset="-120"/>
              </a:rPr>
              <a:t>"Fog everywhere. Fog up the river…"</a:t>
            </a:r>
            <a:endParaRPr lang="en-US" sz="1400" dirty="0"/>
          </a:p>
        </p:txBody>
      </p:sp>
      <p:sp>
        <p:nvSpPr>
          <p:cNvPr id="184" name="Text 181"/>
          <p:cNvSpPr/>
          <p:nvPr/>
        </p:nvSpPr>
        <p:spPr>
          <a:xfrm>
            <a:off x="35015686" y="9793486"/>
            <a:ext cx="1135112" cy="222052"/>
          </a:xfrm>
          <a:prstGeom prst="roundRect">
            <a:avLst>
              <a:gd name="adj" fmla="val 17158"/>
            </a:avLst>
          </a:prstGeom>
          <a:solidFill>
            <a:srgbClr val="2D6B5E"/>
          </a:solidFill>
          <a:ln/>
        </p:spPr>
        <p:txBody>
          <a:bodyPr wrap="square" rtlCol="0" anchor="ctr"/>
          <a:lstStyle/>
          <a:p>
            <a:pPr indent="0" marL="0">
              <a:buNone/>
            </a:pPr>
            <a:endParaRPr lang="en-US" dirty="0"/>
          </a:p>
        </p:txBody>
      </p:sp>
      <p:sp>
        <p:nvSpPr>
          <p:cNvPr id="185" name="Text 182"/>
          <p:cNvSpPr/>
          <p:nvPr/>
        </p:nvSpPr>
        <p:spPr>
          <a:xfrm>
            <a:off x="35091886" y="9818787"/>
            <a:ext cx="1002366" cy="1714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Verified 100%</a:t>
            </a:r>
            <a:endParaRPr lang="en-US" sz="1200" dirty="0"/>
          </a:p>
        </p:txBody>
      </p:sp>
      <p:sp>
        <p:nvSpPr>
          <p:cNvPr id="186" name="Text 183"/>
          <p:cNvSpPr/>
          <p:nvPr/>
        </p:nvSpPr>
        <p:spPr>
          <a:xfrm>
            <a:off x="25646807" y="10040838"/>
            <a:ext cx="10714071" cy="180975"/>
          </a:xfrm>
          <a:prstGeom prst="rect">
            <a:avLst/>
          </a:prstGeom>
          <a:noFill/>
          <a:ln/>
        </p:spPr>
        <p:txBody>
          <a:bodyPr wrap="square" lIns="0" tIns="0" rIns="0" bIns="0" rtlCol="0" anchor="t"/>
          <a:lstStyle/>
          <a:p>
            <a:pPr algn="l" indent="0" marL="0">
              <a:spcBef>
                <a:spcPts val="200"/>
              </a:spcBef>
              <a:buNone/>
            </a:pPr>
            <a:r>
              <a:rPr lang="en-US" sz="1200" dirty="0">
                <a:solidFill>
                  <a:srgbClr val="7A6E62"/>
                </a:solidFill>
                <a:latin typeface="Georgia" pitchFamily="34" charset="0"/>
                <a:ea typeface="Georgia" pitchFamily="34" charset="-122"/>
                <a:cs typeface="Georgia" pitchFamily="34" charset="-120"/>
              </a:rPr>
              <a:t>Reproduced verbatim from LLM memory</a:t>
            </a:r>
            <a:endParaRPr lang="en-US" sz="1200" dirty="0"/>
          </a:p>
        </p:txBody>
      </p:sp>
      <p:sp>
        <p:nvSpPr>
          <p:cNvPr id="187" name="Text 184"/>
          <p:cNvSpPr/>
          <p:nvPr/>
        </p:nvSpPr>
        <p:spPr>
          <a:xfrm>
            <a:off x="25535781" y="10332839"/>
            <a:ext cx="10726043" cy="548878"/>
          </a:xfrm>
          <a:prstGeom prst="roundRect">
            <a:avLst>
              <a:gd name="adj" fmla="val 6941"/>
            </a:avLst>
          </a:prstGeom>
          <a:solidFill>
            <a:srgbClr val="720037">
              <a:alpha val="6000"/>
            </a:srgbClr>
          </a:solidFill>
          <a:ln w="9525">
            <a:solidFill>
              <a:srgbClr val="720037"/>
            </a:solidFill>
          </a:ln>
        </p:spPr>
        <p:txBody>
          <a:bodyPr wrap="square" rtlCol="0" anchor="ctr"/>
          <a:lstStyle/>
          <a:p>
            <a:pPr indent="0" marL="0">
              <a:buNone/>
            </a:pPr>
            <a:endParaRPr lang="en-US" dirty="0"/>
          </a:p>
        </p:txBody>
      </p:sp>
      <p:sp>
        <p:nvSpPr>
          <p:cNvPr id="188" name="Text 185"/>
          <p:cNvSpPr/>
          <p:nvPr/>
        </p:nvSpPr>
        <p:spPr>
          <a:xfrm>
            <a:off x="25646807" y="10404128"/>
            <a:ext cx="3689461" cy="200025"/>
          </a:xfrm>
          <a:prstGeom prst="rect">
            <a:avLst/>
          </a:prstGeom>
          <a:noFill/>
          <a:ln/>
        </p:spPr>
        <p:txBody>
          <a:bodyPr wrap="square" lIns="0" tIns="0" rIns="0" bIns="0" rtlCol="0" anchor="t"/>
          <a:lstStyle/>
          <a:p>
            <a:pPr algn="l" indent="0" marL="0">
              <a:buNone/>
            </a:pPr>
            <a:r>
              <a:rPr lang="en-US" sz="1400" i="1" dirty="0">
                <a:solidFill>
                  <a:srgbClr val="2D2926"/>
                </a:solidFill>
                <a:latin typeface="Georgia" pitchFamily="34" charset="0"/>
                <a:ea typeface="Georgia" pitchFamily="34" charset="-122"/>
                <a:cs typeface="Georgia" pitchFamily="34" charset="-120"/>
              </a:rPr>
              <a:t>"I am very weak, but I shall begin the world."</a:t>
            </a:r>
            <a:endParaRPr lang="en-US" sz="1400" dirty="0"/>
          </a:p>
        </p:txBody>
      </p:sp>
      <p:sp>
        <p:nvSpPr>
          <p:cNvPr id="189" name="Text 186"/>
          <p:cNvSpPr/>
          <p:nvPr/>
        </p:nvSpPr>
        <p:spPr>
          <a:xfrm>
            <a:off x="34363670" y="10393114"/>
            <a:ext cx="1787128" cy="222052"/>
          </a:xfrm>
          <a:prstGeom prst="roundRect">
            <a:avLst>
              <a:gd name="adj" fmla="val 17158"/>
            </a:avLst>
          </a:prstGeom>
          <a:solidFill>
            <a:srgbClr val="9B4A54"/>
          </a:solidFill>
          <a:ln/>
        </p:spPr>
        <p:txBody>
          <a:bodyPr wrap="square" rtlCol="0" anchor="ctr"/>
          <a:lstStyle/>
          <a:p>
            <a:pPr indent="0" marL="0">
              <a:buNone/>
            </a:pPr>
            <a:endParaRPr lang="en-US" dirty="0"/>
          </a:p>
        </p:txBody>
      </p:sp>
      <p:sp>
        <p:nvSpPr>
          <p:cNvPr id="190" name="Text 187"/>
          <p:cNvSpPr/>
          <p:nvPr/>
        </p:nvSpPr>
        <p:spPr>
          <a:xfrm>
            <a:off x="34439870" y="10418415"/>
            <a:ext cx="1667423" cy="1714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Invented · 100% vocab</a:t>
            </a:r>
            <a:endParaRPr lang="en-US" sz="1200" dirty="0"/>
          </a:p>
        </p:txBody>
      </p:sp>
      <p:sp>
        <p:nvSpPr>
          <p:cNvPr id="191" name="Text 188"/>
          <p:cNvSpPr/>
          <p:nvPr/>
        </p:nvSpPr>
        <p:spPr>
          <a:xfrm>
            <a:off x="25646807" y="10640467"/>
            <a:ext cx="10714071" cy="180975"/>
          </a:xfrm>
          <a:prstGeom prst="rect">
            <a:avLst/>
          </a:prstGeom>
          <a:noFill/>
          <a:ln/>
        </p:spPr>
        <p:txBody>
          <a:bodyPr wrap="square" lIns="0" tIns="0" rIns="0" bIns="0" rtlCol="0" anchor="t"/>
          <a:lstStyle/>
          <a:p>
            <a:pPr algn="l" indent="0" marL="0">
              <a:spcBef>
                <a:spcPts val="200"/>
              </a:spcBef>
              <a:buNone/>
            </a:pPr>
            <a:r>
              <a:rPr lang="en-US" sz="1200" dirty="0">
                <a:solidFill>
                  <a:srgbClr val="7A6E62"/>
                </a:solidFill>
                <a:latin typeface="Georgia" pitchFamily="34" charset="0"/>
                <a:ea typeface="Georgia" pitchFamily="34" charset="-122"/>
                <a:cs typeface="Georgia" pitchFamily="34" charset="-120"/>
              </a:rPr>
              <a:t>Every word appears in the novel, but this sentence does not exist</a:t>
            </a:r>
            <a:endParaRPr lang="en-US" sz="1200" dirty="0"/>
          </a:p>
        </p:txBody>
      </p:sp>
      <p:sp>
        <p:nvSpPr>
          <p:cNvPr id="192" name="Text 189"/>
          <p:cNvSpPr/>
          <p:nvPr/>
        </p:nvSpPr>
        <p:spPr>
          <a:xfrm>
            <a:off x="25535781" y="10932468"/>
            <a:ext cx="10726043" cy="548878"/>
          </a:xfrm>
          <a:prstGeom prst="roundRect">
            <a:avLst>
              <a:gd name="adj" fmla="val 6941"/>
            </a:avLst>
          </a:prstGeom>
          <a:solidFill>
            <a:srgbClr val="720037">
              <a:alpha val="6000"/>
            </a:srgbClr>
          </a:solidFill>
          <a:ln w="9525">
            <a:solidFill>
              <a:srgbClr val="720037"/>
            </a:solidFill>
          </a:ln>
        </p:spPr>
        <p:txBody>
          <a:bodyPr wrap="square" rtlCol="0" anchor="ctr"/>
          <a:lstStyle/>
          <a:p>
            <a:pPr indent="0" marL="0">
              <a:buNone/>
            </a:pPr>
            <a:endParaRPr lang="en-US" dirty="0"/>
          </a:p>
        </p:txBody>
      </p:sp>
      <p:sp>
        <p:nvSpPr>
          <p:cNvPr id="193" name="Text 190"/>
          <p:cNvSpPr/>
          <p:nvPr/>
        </p:nvSpPr>
        <p:spPr>
          <a:xfrm>
            <a:off x="25646807" y="11003756"/>
            <a:ext cx="1885414" cy="200025"/>
          </a:xfrm>
          <a:prstGeom prst="rect">
            <a:avLst/>
          </a:prstGeom>
          <a:noFill/>
          <a:ln/>
        </p:spPr>
        <p:txBody>
          <a:bodyPr wrap="square" lIns="0" tIns="0" rIns="0" bIns="0" rtlCol="0" anchor="t"/>
          <a:lstStyle/>
          <a:p>
            <a:pPr algn="l" indent="0" marL="0">
              <a:buNone/>
            </a:pPr>
            <a:r>
              <a:rPr lang="en-US" sz="1400" i="1" dirty="0">
                <a:solidFill>
                  <a:srgbClr val="2D2926"/>
                </a:solidFill>
                <a:latin typeface="Georgia" pitchFamily="34" charset="0"/>
                <a:ea typeface="Georgia" pitchFamily="34" charset="-122"/>
                <a:cs typeface="Georgia" pitchFamily="34" charset="-120"/>
              </a:rPr>
              <a:t>"I don't know nothink."</a:t>
            </a:r>
            <a:endParaRPr lang="en-US" sz="1400" dirty="0"/>
          </a:p>
        </p:txBody>
      </p:sp>
      <p:sp>
        <p:nvSpPr>
          <p:cNvPr id="194" name="Text 191"/>
          <p:cNvSpPr/>
          <p:nvPr/>
        </p:nvSpPr>
        <p:spPr>
          <a:xfrm>
            <a:off x="34448502" y="10992743"/>
            <a:ext cx="1702296" cy="222052"/>
          </a:xfrm>
          <a:prstGeom prst="roundRect">
            <a:avLst>
              <a:gd name="adj" fmla="val 17158"/>
            </a:avLst>
          </a:prstGeom>
          <a:solidFill>
            <a:srgbClr val="9B4A54"/>
          </a:solidFill>
          <a:ln/>
        </p:spPr>
        <p:txBody>
          <a:bodyPr wrap="square" rtlCol="0" anchor="ctr"/>
          <a:lstStyle/>
          <a:p>
            <a:pPr indent="0" marL="0">
              <a:buNone/>
            </a:pPr>
            <a:endParaRPr lang="en-US" dirty="0"/>
          </a:p>
        </p:txBody>
      </p:sp>
      <p:sp>
        <p:nvSpPr>
          <p:cNvPr id="195" name="Text 192"/>
          <p:cNvSpPr/>
          <p:nvPr/>
        </p:nvSpPr>
        <p:spPr>
          <a:xfrm>
            <a:off x="34524702" y="11018044"/>
            <a:ext cx="1580894" cy="1714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Invented · 80% vocab</a:t>
            </a:r>
            <a:endParaRPr lang="en-US" sz="1200" dirty="0"/>
          </a:p>
        </p:txBody>
      </p:sp>
      <p:sp>
        <p:nvSpPr>
          <p:cNvPr id="196" name="Text 193"/>
          <p:cNvSpPr/>
          <p:nvPr/>
        </p:nvSpPr>
        <p:spPr>
          <a:xfrm>
            <a:off x="25646807" y="11240095"/>
            <a:ext cx="10714071" cy="180975"/>
          </a:xfrm>
          <a:prstGeom prst="rect">
            <a:avLst/>
          </a:prstGeom>
          <a:noFill/>
          <a:ln/>
        </p:spPr>
        <p:txBody>
          <a:bodyPr wrap="square" lIns="0" tIns="0" rIns="0" bIns="0" rtlCol="0" anchor="t"/>
          <a:lstStyle/>
          <a:p>
            <a:pPr algn="l" indent="0" marL="0">
              <a:spcBef>
                <a:spcPts val="200"/>
              </a:spcBef>
              <a:buNone/>
            </a:pPr>
            <a:r>
              <a:rPr lang="en-US" sz="1200" dirty="0">
                <a:solidFill>
                  <a:srgbClr val="7A6E62"/>
                </a:solidFill>
                <a:latin typeface="Georgia" pitchFamily="34" charset="0"/>
                <a:ea typeface="Georgia" pitchFamily="34" charset="-122"/>
                <a:cs typeface="Georgia" pitchFamily="34" charset="-120"/>
              </a:rPr>
              <a:t>Jo's dialect remembered; phrasing reconstructed</a:t>
            </a:r>
            <a:endParaRPr lang="en-US" sz="1200" dirty="0"/>
          </a:p>
        </p:txBody>
      </p:sp>
      <p:sp>
        <p:nvSpPr>
          <p:cNvPr id="197" name="Text 194"/>
          <p:cNvSpPr/>
          <p:nvPr/>
        </p:nvSpPr>
        <p:spPr>
          <a:xfrm>
            <a:off x="25399305" y="11795522"/>
            <a:ext cx="10998994" cy="3316188"/>
          </a:xfrm>
          <a:prstGeom prst="roundRect">
            <a:avLst>
              <a:gd name="adj" fmla="val 1532"/>
            </a:avLst>
          </a:prstGeom>
          <a:solidFill>
            <a:srgbClr val="FFFFFF"/>
          </a:solidFill>
          <a:ln w="9525">
            <a:solidFill>
              <a:srgbClr val="E0DADA"/>
            </a:solidFill>
          </a:ln>
          <a:effectLst>
            <a:outerShdw sx="100000" sy="100000" kx="0" ky="0" algn="bl" rotWithShape="0" blurRad="101600" dist="17960" dir="2700000">
              <a:srgbClr val="000000">
                <a:alpha val="4000"/>
              </a:srgbClr>
            </a:outerShdw>
          </a:effectLst>
        </p:spPr>
        <p:txBody>
          <a:bodyPr wrap="square" rtlCol="0" anchor="ctr"/>
          <a:lstStyle/>
          <a:p>
            <a:pPr indent="0" marL="0">
              <a:buNone/>
            </a:pPr>
            <a:endParaRPr lang="en-US" dirty="0"/>
          </a:p>
        </p:txBody>
      </p:sp>
      <p:sp>
        <p:nvSpPr>
          <p:cNvPr id="198" name="Text 195"/>
          <p:cNvSpPr/>
          <p:nvPr/>
        </p:nvSpPr>
        <p:spPr>
          <a:xfrm>
            <a:off x="25535781" y="11931997"/>
            <a:ext cx="10940564" cy="371475"/>
          </a:xfrm>
          <a:prstGeom prst="rect">
            <a:avLst/>
          </a:prstGeom>
          <a:noFill/>
          <a:ln/>
        </p:spPr>
        <p:txBody>
          <a:bodyPr wrap="square" lIns="0" tIns="0" rIns="0" bIns="0" rtlCol="0" anchor="t"/>
          <a:lstStyle/>
          <a:p>
            <a:pPr algn="l" indent="0" marL="0">
              <a:buNone/>
            </a:pPr>
            <a:r>
              <a:rPr lang="en-US" sz="2600" b="1" dirty="0">
                <a:solidFill>
                  <a:srgbClr val="722F37"/>
                </a:solidFill>
                <a:latin typeface="Arial" pitchFamily="34" charset="0"/>
                <a:ea typeface="Arial" pitchFamily="34" charset="-122"/>
                <a:cs typeface="Arial" pitchFamily="34" charset="-120"/>
              </a:rPr>
              <a:t>Alternative Expert Panels</a:t>
            </a:r>
            <a:endParaRPr lang="en-US" sz="2600" dirty="0"/>
          </a:p>
        </p:txBody>
      </p:sp>
      <p:sp>
        <p:nvSpPr>
          <p:cNvPr id="199" name="Text 196"/>
          <p:cNvSpPr/>
          <p:nvPr/>
        </p:nvSpPr>
        <p:spPr>
          <a:xfrm>
            <a:off x="25535781" y="12328773"/>
            <a:ext cx="1777901" cy="38100"/>
          </a:xfrm>
          <a:prstGeom prst="rect">
            <a:avLst/>
          </a:prstGeom>
          <a:solidFill>
            <a:srgbClr val="B8860B"/>
          </a:solidFill>
          <a:ln/>
        </p:spPr>
        <p:txBody>
          <a:bodyPr wrap="square" rtlCol="0" anchor="ctr"/>
          <a:lstStyle/>
          <a:p>
            <a:pPr indent="0" marL="0">
              <a:buNone/>
            </a:pPr>
            <a:endParaRPr lang="en-US" dirty="0"/>
          </a:p>
        </p:txBody>
      </p:sp>
      <p:sp>
        <p:nvSpPr>
          <p:cNvPr id="200" name="Text 197"/>
          <p:cNvSpPr/>
          <p:nvPr/>
        </p:nvSpPr>
        <p:spPr>
          <a:xfrm>
            <a:off x="25535781" y="12443073"/>
            <a:ext cx="10940564" cy="419100"/>
          </a:xfrm>
          <a:prstGeom prst="rect">
            <a:avLst/>
          </a:prstGeom>
          <a:noFill/>
          <a:ln/>
        </p:spPr>
        <p:txBody>
          <a:bodyPr wrap="square" lIns="0" tIns="0" rIns="0" bIns="0" rtlCol="0" anchor="t"/>
          <a:lstStyle/>
          <a:p>
            <a:pPr algn="l" indent="0" marL="0">
              <a:spcBef>
                <a:spcPts val="400"/>
              </a:spcBef>
              <a:spcAft>
                <a:spcPts val="400"/>
              </a:spcAft>
              <a:buNone/>
            </a:pPr>
            <a:r>
              <a:rPr lang="en-US" sz="1500" dirty="0">
                <a:solidFill>
                  <a:srgbClr val="2D2926"/>
                </a:solidFill>
                <a:latin typeface="Georgia" pitchFamily="34" charset="0"/>
                <a:ea typeface="Georgia" pitchFamily="34" charset="-122"/>
                <a:cs typeface="Georgia" pitchFamily="34" charset="-120"/>
              </a:rPr>
              <a:t>Beyond the primary literary triumvirate (Hartley / Blackstone / Woodcourt), the system includes three further specialist personas with distinct analytical toolkits.</a:t>
            </a:r>
            <a:endParaRPr lang="en-US" sz="1500" dirty="0"/>
          </a:p>
        </p:txBody>
      </p:sp>
      <p:sp>
        <p:nvSpPr>
          <p:cNvPr id="201" name="Text 198"/>
          <p:cNvSpPr/>
          <p:nvPr/>
        </p:nvSpPr>
        <p:spPr>
          <a:xfrm>
            <a:off x="25535781" y="12938373"/>
            <a:ext cx="3524548" cy="1469678"/>
          </a:xfrm>
          <a:prstGeom prst="rect">
            <a:avLst/>
          </a:prstGeom>
          <a:solidFill>
            <a:srgbClr val="8B7355">
              <a:alpha val="3000"/>
            </a:srgbClr>
          </a:solidFill>
          <a:ln/>
        </p:spPr>
        <p:txBody>
          <a:bodyPr wrap="square" rtlCol="0" anchor="ctr"/>
          <a:lstStyle/>
          <a:p>
            <a:pPr indent="0" marL="0">
              <a:buNone/>
            </a:pPr>
            <a:endParaRPr lang="en-US" dirty="0"/>
          </a:p>
        </p:txBody>
      </p:sp>
      <p:sp>
        <p:nvSpPr>
          <p:cNvPr id="202" name="Shape 199"/>
          <p:cNvSpPr/>
          <p:nvPr/>
        </p:nvSpPr>
        <p:spPr>
          <a:xfrm>
            <a:off x="25554831" y="12938373"/>
            <a:ext cx="0" cy="1469678"/>
          </a:xfrm>
          <a:prstGeom prst="line">
            <a:avLst/>
          </a:prstGeom>
          <a:noFill/>
          <a:ln w="38100">
            <a:solidFill>
              <a:srgbClr val="8B7355"/>
            </a:solidFill>
            <a:prstDash val="solid"/>
          </a:ln>
        </p:spPr>
      </p:sp>
      <p:sp>
        <p:nvSpPr>
          <p:cNvPr id="203" name="Text 200"/>
          <p:cNvSpPr/>
          <p:nvPr/>
        </p:nvSpPr>
        <p:spPr>
          <a:xfrm>
            <a:off x="25662731" y="13001774"/>
            <a:ext cx="3374922" cy="266700"/>
          </a:xfrm>
          <a:prstGeom prst="rect">
            <a:avLst/>
          </a:prstGeom>
          <a:noFill/>
          <a:ln/>
        </p:spPr>
        <p:txBody>
          <a:bodyPr wrap="square" lIns="0" tIns="0" rIns="0" bIns="0" rtlCol="0" anchor="t"/>
          <a:lstStyle/>
          <a:p>
            <a:pPr algn="l" indent="0" marL="0">
              <a:spcAft>
                <a:spcPts val="200"/>
              </a:spcAft>
              <a:buNone/>
            </a:pPr>
            <a:r>
              <a:rPr lang="en-US" sz="1800" b="1" dirty="0">
                <a:solidFill>
                  <a:srgbClr val="8B7355"/>
                </a:solidFill>
                <a:latin typeface="Arial" pitchFamily="34" charset="0"/>
                <a:ea typeface="Arial" pitchFamily="34" charset="-122"/>
                <a:cs typeface="Arial" pitchFamily="34" charset="-120"/>
              </a:rPr>
              <a:t>Edmund Leigh</a:t>
            </a:r>
            <a:endParaRPr lang="en-US" sz="1800" dirty="0"/>
          </a:p>
        </p:txBody>
      </p:sp>
      <p:sp>
        <p:nvSpPr>
          <p:cNvPr id="204" name="Text 201"/>
          <p:cNvSpPr/>
          <p:nvPr/>
        </p:nvSpPr>
        <p:spPr>
          <a:xfrm>
            <a:off x="25662731" y="13293775"/>
            <a:ext cx="3374922" cy="200025"/>
          </a:xfrm>
          <a:prstGeom prst="rect">
            <a:avLst/>
          </a:prstGeom>
          <a:noFill/>
          <a:ln/>
        </p:spPr>
        <p:txBody>
          <a:bodyPr wrap="square" lIns="0" tIns="0" rIns="0" bIns="0" rtlCol="0" anchor="t"/>
          <a:lstStyle/>
          <a:p>
            <a:pPr algn="l" indent="0" marL="0">
              <a:spcAft>
                <a:spcPts val="400"/>
              </a:spcAft>
              <a:buNone/>
            </a:pPr>
            <a:r>
              <a:rPr lang="en-US" sz="1300" dirty="0">
                <a:solidFill>
                  <a:srgbClr val="7A6E62"/>
                </a:solidFill>
                <a:latin typeface="Arial" pitchFamily="34" charset="0"/>
                <a:ea typeface="Arial" pitchFamily="34" charset="-122"/>
                <a:cs typeface="Arial" pitchFamily="34" charset="-120"/>
              </a:rPr>
              <a:t>Moral Philosopher</a:t>
            </a:r>
            <a:endParaRPr lang="en-US" sz="1300" dirty="0"/>
          </a:p>
        </p:txBody>
      </p:sp>
      <p:sp>
        <p:nvSpPr>
          <p:cNvPr id="205" name="Text 202"/>
          <p:cNvSpPr/>
          <p:nvPr/>
        </p:nvSpPr>
        <p:spPr>
          <a:xfrm>
            <a:off x="25662731" y="13544550"/>
            <a:ext cx="3374922" cy="800100"/>
          </a:xfrm>
          <a:prstGeom prst="rect">
            <a:avLst/>
          </a:prstGeom>
          <a:noFill/>
          <a:ln/>
        </p:spPr>
        <p:txBody>
          <a:bodyPr wrap="square" lIns="0" tIns="0" rIns="0" bIns="0" rtlCol="0" anchor="t"/>
          <a:lstStyle/>
          <a:p>
            <a:pPr algn="l" indent="0" marL="0">
              <a:buNone/>
            </a:pPr>
            <a:r>
              <a:rPr lang="en-US" sz="1400" i="1" dirty="0">
                <a:solidFill>
                  <a:srgbClr val="2D2926"/>
                </a:solidFill>
                <a:latin typeface="Georgia" pitchFamily="34" charset="0"/>
                <a:ea typeface="Georgia" pitchFamily="34" charset="-122"/>
                <a:cs typeface="Georgia" pitchFamily="34" charset="-120"/>
              </a:rPr>
              <a:t>"Skimpole is the finest comic villain in the book, and I use that term with some precision. He is not a villain by malice — he is a villain by abdication."</a:t>
            </a:r>
            <a:endParaRPr lang="en-US" sz="1400" dirty="0"/>
          </a:p>
        </p:txBody>
      </p:sp>
      <p:sp>
        <p:nvSpPr>
          <p:cNvPr id="206" name="Text 203"/>
          <p:cNvSpPr/>
          <p:nvPr/>
        </p:nvSpPr>
        <p:spPr>
          <a:xfrm>
            <a:off x="29136529" y="12938373"/>
            <a:ext cx="3524548" cy="1469678"/>
          </a:xfrm>
          <a:prstGeom prst="rect">
            <a:avLst/>
          </a:prstGeom>
          <a:solidFill>
            <a:srgbClr val="5B82AA">
              <a:alpha val="3000"/>
            </a:srgbClr>
          </a:solidFill>
          <a:ln/>
        </p:spPr>
        <p:txBody>
          <a:bodyPr wrap="square" rtlCol="0" anchor="ctr"/>
          <a:lstStyle/>
          <a:p>
            <a:pPr indent="0" marL="0">
              <a:buNone/>
            </a:pPr>
            <a:endParaRPr lang="en-US" dirty="0"/>
          </a:p>
        </p:txBody>
      </p:sp>
      <p:sp>
        <p:nvSpPr>
          <p:cNvPr id="207" name="Shape 204"/>
          <p:cNvSpPr/>
          <p:nvPr/>
        </p:nvSpPr>
        <p:spPr>
          <a:xfrm>
            <a:off x="29155579" y="12938373"/>
            <a:ext cx="0" cy="1469678"/>
          </a:xfrm>
          <a:prstGeom prst="line">
            <a:avLst/>
          </a:prstGeom>
          <a:noFill/>
          <a:ln w="38100">
            <a:solidFill>
              <a:srgbClr val="5B82AA"/>
            </a:solidFill>
            <a:prstDash val="solid"/>
          </a:ln>
        </p:spPr>
      </p:sp>
      <p:sp>
        <p:nvSpPr>
          <p:cNvPr id="208" name="Text 205"/>
          <p:cNvSpPr/>
          <p:nvPr/>
        </p:nvSpPr>
        <p:spPr>
          <a:xfrm>
            <a:off x="29263479" y="13001774"/>
            <a:ext cx="3374922" cy="266700"/>
          </a:xfrm>
          <a:prstGeom prst="rect">
            <a:avLst/>
          </a:prstGeom>
          <a:noFill/>
          <a:ln/>
        </p:spPr>
        <p:txBody>
          <a:bodyPr wrap="square" lIns="0" tIns="0" rIns="0" bIns="0" rtlCol="0" anchor="t"/>
          <a:lstStyle/>
          <a:p>
            <a:pPr algn="l" indent="0" marL="0">
              <a:spcAft>
                <a:spcPts val="200"/>
              </a:spcAft>
              <a:buNone/>
            </a:pPr>
            <a:r>
              <a:rPr lang="en-US" sz="1800" b="1" dirty="0">
                <a:solidFill>
                  <a:srgbClr val="5B82AA"/>
                </a:solidFill>
                <a:latin typeface="Arial" pitchFamily="34" charset="0"/>
                <a:ea typeface="Arial" pitchFamily="34" charset="-122"/>
                <a:cs typeface="Arial" pitchFamily="34" charset="-120"/>
              </a:rPr>
              <a:t>Oliver Trevelyan</a:t>
            </a:r>
            <a:endParaRPr lang="en-US" sz="1800" dirty="0"/>
          </a:p>
        </p:txBody>
      </p:sp>
      <p:sp>
        <p:nvSpPr>
          <p:cNvPr id="209" name="Text 206"/>
          <p:cNvSpPr/>
          <p:nvPr/>
        </p:nvSpPr>
        <p:spPr>
          <a:xfrm>
            <a:off x="29263479" y="13293775"/>
            <a:ext cx="3374922" cy="200025"/>
          </a:xfrm>
          <a:prstGeom prst="rect">
            <a:avLst/>
          </a:prstGeom>
          <a:noFill/>
          <a:ln/>
        </p:spPr>
        <p:txBody>
          <a:bodyPr wrap="square" lIns="0" tIns="0" rIns="0" bIns="0" rtlCol="0" anchor="t"/>
          <a:lstStyle/>
          <a:p>
            <a:pPr algn="l" indent="0" marL="0">
              <a:spcAft>
                <a:spcPts val="400"/>
              </a:spcAft>
              <a:buNone/>
            </a:pPr>
            <a:r>
              <a:rPr lang="en-US" sz="1300" dirty="0">
                <a:solidFill>
                  <a:srgbClr val="7A6E62"/>
                </a:solidFill>
                <a:latin typeface="Arial" pitchFamily="34" charset="0"/>
                <a:ea typeface="Arial" pitchFamily="34" charset="-122"/>
                <a:cs typeface="Arial" pitchFamily="34" charset="-120"/>
              </a:rPr>
              <a:t>Actor &amp; Narrator</a:t>
            </a:r>
            <a:endParaRPr lang="en-US" sz="1300" dirty="0"/>
          </a:p>
        </p:txBody>
      </p:sp>
      <p:sp>
        <p:nvSpPr>
          <p:cNvPr id="210" name="Text 207"/>
          <p:cNvSpPr/>
          <p:nvPr/>
        </p:nvSpPr>
        <p:spPr>
          <a:xfrm>
            <a:off x="29263479" y="13544550"/>
            <a:ext cx="3374922" cy="800100"/>
          </a:xfrm>
          <a:prstGeom prst="rect">
            <a:avLst/>
          </a:prstGeom>
          <a:noFill/>
          <a:ln/>
        </p:spPr>
        <p:txBody>
          <a:bodyPr wrap="square" lIns="0" tIns="0" rIns="0" bIns="0" rtlCol="0" anchor="t"/>
          <a:lstStyle/>
          <a:p>
            <a:pPr algn="l" indent="0" marL="0">
              <a:buNone/>
            </a:pPr>
            <a:r>
              <a:rPr lang="en-US" sz="1400" i="1" dirty="0">
                <a:solidFill>
                  <a:srgbClr val="2D2926"/>
                </a:solidFill>
                <a:latin typeface="Georgia" pitchFamily="34" charset="0"/>
                <a:ea typeface="Georgia" pitchFamily="34" charset="-122"/>
                <a:cs typeface="Georgia" pitchFamily="34" charset="-120"/>
              </a:rPr>
              <a:t>"That phrase — 'forsworn and abjured' — is extraordinary to read aloud. Those are legal words — the language of the court itself — turned against the court."</a:t>
            </a:r>
            <a:endParaRPr lang="en-US" sz="1400" dirty="0"/>
          </a:p>
        </p:txBody>
      </p:sp>
      <p:sp>
        <p:nvSpPr>
          <p:cNvPr id="211" name="Text 208"/>
          <p:cNvSpPr/>
          <p:nvPr/>
        </p:nvSpPr>
        <p:spPr>
          <a:xfrm>
            <a:off x="32737276" y="12938373"/>
            <a:ext cx="3524548" cy="1469678"/>
          </a:xfrm>
          <a:prstGeom prst="rect">
            <a:avLst/>
          </a:prstGeom>
          <a:solidFill>
            <a:srgbClr val="C4A070">
              <a:alpha val="3000"/>
            </a:srgbClr>
          </a:solidFill>
          <a:ln/>
        </p:spPr>
        <p:txBody>
          <a:bodyPr wrap="square" rtlCol="0" anchor="ctr"/>
          <a:lstStyle/>
          <a:p>
            <a:pPr indent="0" marL="0">
              <a:buNone/>
            </a:pPr>
            <a:endParaRPr lang="en-US" dirty="0"/>
          </a:p>
        </p:txBody>
      </p:sp>
      <p:sp>
        <p:nvSpPr>
          <p:cNvPr id="212" name="Shape 209"/>
          <p:cNvSpPr/>
          <p:nvPr/>
        </p:nvSpPr>
        <p:spPr>
          <a:xfrm>
            <a:off x="32756326" y="12938373"/>
            <a:ext cx="0" cy="1469678"/>
          </a:xfrm>
          <a:prstGeom prst="line">
            <a:avLst/>
          </a:prstGeom>
          <a:noFill/>
          <a:ln w="38100">
            <a:solidFill>
              <a:srgbClr val="C4A070"/>
            </a:solidFill>
            <a:prstDash val="solid"/>
          </a:ln>
        </p:spPr>
      </p:sp>
      <p:sp>
        <p:nvSpPr>
          <p:cNvPr id="213" name="Text 210"/>
          <p:cNvSpPr/>
          <p:nvPr/>
        </p:nvSpPr>
        <p:spPr>
          <a:xfrm>
            <a:off x="32864227" y="13001774"/>
            <a:ext cx="3374922" cy="266700"/>
          </a:xfrm>
          <a:prstGeom prst="rect">
            <a:avLst/>
          </a:prstGeom>
          <a:noFill/>
          <a:ln/>
        </p:spPr>
        <p:txBody>
          <a:bodyPr wrap="square" lIns="0" tIns="0" rIns="0" bIns="0" rtlCol="0" anchor="t"/>
          <a:lstStyle/>
          <a:p>
            <a:pPr algn="l" indent="0" marL="0">
              <a:spcAft>
                <a:spcPts val="200"/>
              </a:spcAft>
              <a:buNone/>
            </a:pPr>
            <a:r>
              <a:rPr lang="en-US" sz="1800" b="1" dirty="0">
                <a:solidFill>
                  <a:srgbClr val="8B6030"/>
                </a:solidFill>
                <a:latin typeface="Arial" pitchFamily="34" charset="0"/>
                <a:ea typeface="Arial" pitchFamily="34" charset="-122"/>
                <a:cs typeface="Arial" pitchFamily="34" charset="-120"/>
              </a:rPr>
              <a:t>Daniel Rosen</a:t>
            </a:r>
            <a:endParaRPr lang="en-US" sz="1800" dirty="0"/>
          </a:p>
        </p:txBody>
      </p:sp>
      <p:sp>
        <p:nvSpPr>
          <p:cNvPr id="214" name="Text 211"/>
          <p:cNvSpPr/>
          <p:nvPr/>
        </p:nvSpPr>
        <p:spPr>
          <a:xfrm>
            <a:off x="32864227" y="13293775"/>
            <a:ext cx="3374922" cy="200025"/>
          </a:xfrm>
          <a:prstGeom prst="rect">
            <a:avLst/>
          </a:prstGeom>
          <a:noFill/>
          <a:ln/>
        </p:spPr>
        <p:txBody>
          <a:bodyPr wrap="square" lIns="0" tIns="0" rIns="0" bIns="0" rtlCol="0" anchor="t"/>
          <a:lstStyle/>
          <a:p>
            <a:pPr algn="l" indent="0" marL="0">
              <a:spcAft>
                <a:spcPts val="400"/>
              </a:spcAft>
              <a:buNone/>
            </a:pPr>
            <a:r>
              <a:rPr lang="en-US" sz="1300" dirty="0">
                <a:solidFill>
                  <a:srgbClr val="7A6E62"/>
                </a:solidFill>
                <a:latin typeface="Arial" pitchFamily="34" charset="0"/>
                <a:ea typeface="Arial" pitchFamily="34" charset="-122"/>
                <a:cs typeface="Arial" pitchFamily="34" charset="-120"/>
              </a:rPr>
              <a:t>Marxist Historian</a:t>
            </a:r>
            <a:endParaRPr lang="en-US" sz="1300" dirty="0"/>
          </a:p>
        </p:txBody>
      </p:sp>
      <p:sp>
        <p:nvSpPr>
          <p:cNvPr id="215" name="Text 212"/>
          <p:cNvSpPr/>
          <p:nvPr/>
        </p:nvSpPr>
        <p:spPr>
          <a:xfrm>
            <a:off x="32864227" y="13544550"/>
            <a:ext cx="3374922" cy="800100"/>
          </a:xfrm>
          <a:prstGeom prst="rect">
            <a:avLst/>
          </a:prstGeom>
          <a:noFill/>
          <a:ln/>
        </p:spPr>
        <p:txBody>
          <a:bodyPr wrap="square" lIns="0" tIns="0" rIns="0" bIns="0" rtlCol="0" anchor="t"/>
          <a:lstStyle/>
          <a:p>
            <a:pPr algn="l" indent="0" marL="0">
              <a:buNone/>
            </a:pPr>
            <a:r>
              <a:rPr lang="en-US" sz="1400" i="1" dirty="0">
                <a:solidFill>
                  <a:srgbClr val="2D2926"/>
                </a:solidFill>
                <a:latin typeface="Georgia" pitchFamily="34" charset="0"/>
                <a:ea typeface="Georgia" pitchFamily="34" charset="-122"/>
                <a:cs typeface="Georgia" pitchFamily="34" charset="-120"/>
              </a:rPr>
              <a:t>"The darkness in that scene is the shadow of an institution, not just a weather event. Chancery casts its darkness across every threshold in this novel."</a:t>
            </a:r>
            <a:endParaRPr lang="en-US" sz="1400" dirty="0"/>
          </a:p>
        </p:txBody>
      </p:sp>
      <p:sp>
        <p:nvSpPr>
          <p:cNvPr id="216" name="Text 213"/>
          <p:cNvSpPr/>
          <p:nvPr/>
        </p:nvSpPr>
        <p:spPr>
          <a:xfrm>
            <a:off x="25535781" y="14484251"/>
            <a:ext cx="10940564" cy="440234"/>
          </a:xfrm>
          <a:prstGeom prst="rect">
            <a:avLst/>
          </a:prstGeom>
          <a:noFill/>
          <a:ln/>
        </p:spPr>
        <p:txBody>
          <a:bodyPr wrap="square" lIns="0" tIns="0" rIns="0" bIns="0" rtlCol="0" anchor="t"/>
          <a:lstStyle/>
          <a:p>
            <a:pPr algn="l" indent="0" marL="0">
              <a:spcBef>
                <a:spcPts val="400"/>
              </a:spcBef>
              <a:spcAft>
                <a:spcPts val="400"/>
              </a:spcAft>
              <a:buNone/>
            </a:pPr>
            <a:r>
              <a:rPr lang="en-US" sz="1400" dirty="0">
                <a:solidFill>
                  <a:srgbClr val="7A6E62"/>
                </a:solidFill>
                <a:latin typeface="Georgia" pitchFamily="34" charset="0"/>
                <a:ea typeface="Georgia" pitchFamily="34" charset="-122"/>
                <a:cs typeface="Georgia" pitchFamily="34" charset="-120"/>
              </a:rPr>
              <a:t>Each persona defines a distinct </a:t>
            </a:r>
            <a:pPr algn="l" indent="0" marL="0">
              <a:spcBef>
                <a:spcPts val="400"/>
              </a:spcBef>
              <a:spcAft>
                <a:spcPts val="400"/>
              </a:spcAft>
              <a:buNone/>
            </a:pPr>
            <a:r>
              <a:rPr lang="en-US" sz="1400" b="1" dirty="0">
                <a:solidFill>
                  <a:srgbClr val="7A6E62"/>
                </a:solidFill>
                <a:latin typeface="Georgia" pitchFamily="34" charset="0"/>
                <a:ea typeface="Georgia" pitchFamily="34" charset="-122"/>
                <a:cs typeface="Georgia" pitchFamily="34" charset="-120"/>
              </a:rPr>
              <a:t>demand vector</a:t>
            </a:r>
            <a:pPr algn="l" indent="0" marL="0">
              <a:spcBef>
                <a:spcPts val="400"/>
              </a:spcBef>
              <a:spcAft>
                <a:spcPts val="400"/>
              </a:spcAft>
              <a:buNone/>
            </a:pPr>
            <a:r>
              <a:rPr lang="en-US" sz="1400" dirty="0">
                <a:solidFill>
                  <a:srgbClr val="7A6E62"/>
                </a:solidFill>
                <a:latin typeface="Georgia" pitchFamily="34" charset="0"/>
                <a:ea typeface="Georgia" pitchFamily="34" charset="-122"/>
                <a:cs typeface="Georgia" pitchFamily="34" charset="-120"/>
              </a:rPr>
              <a:t> — a formal encoding of what that expert will seek in any passage. The system supports all 3</a:t>
            </a:r>
            <a:pPr algn="l" indent="0" marL="0">
              <a:spcBef>
                <a:spcPts val="400"/>
              </a:spcBef>
              <a:spcAft>
                <a:spcPts val="400"/>
              </a:spcAft>
              <a:buNone/>
            </a:pPr>
            <a:r>
              <a:rPr lang="en-US" sz="1400" dirty="0">
                <a:solidFill>
                  <a:srgbClr val="7A6E62"/>
                </a:solidFill>
                <a:latin typeface="Georgia" pitchFamily="34" charset="0"/>
                <a:ea typeface="Georgia" pitchFamily="34" charset="-122"/>
                <a:cs typeface="Georgia" pitchFamily="34" charset="-120"/>
              </a:rPr>
              <a:t> = 27 panel combinations; 9 are produced across the 180 conditions in this study.</a:t>
            </a:r>
            <a:endParaRPr lang="en-US" sz="1400" dirty="0"/>
          </a:p>
        </p:txBody>
      </p:sp>
      <p:sp>
        <p:nvSpPr>
          <p:cNvPr id="217" name="Text 214"/>
          <p:cNvSpPr/>
          <p:nvPr/>
        </p:nvSpPr>
        <p:spPr>
          <a:xfrm>
            <a:off x="25399305" y="15238661"/>
            <a:ext cx="10998994" cy="4558010"/>
          </a:xfrm>
          <a:prstGeom prst="roundRect">
            <a:avLst>
              <a:gd name="adj" fmla="val 1115"/>
            </a:avLst>
          </a:prstGeom>
          <a:solidFill>
            <a:srgbClr val="FFFFFF"/>
          </a:solidFill>
          <a:ln w="9525">
            <a:solidFill>
              <a:srgbClr val="E0DADA"/>
            </a:solidFill>
          </a:ln>
          <a:effectLst>
            <a:outerShdw sx="100000" sy="100000" kx="0" ky="0" algn="bl" rotWithShape="0" blurRad="101600" dist="17960" dir="2700000">
              <a:srgbClr val="000000">
                <a:alpha val="4000"/>
              </a:srgbClr>
            </a:outerShdw>
          </a:effectLst>
        </p:spPr>
        <p:txBody>
          <a:bodyPr wrap="square" rtlCol="0" anchor="ctr"/>
          <a:lstStyle/>
          <a:p>
            <a:pPr indent="0" marL="0">
              <a:buNone/>
            </a:pPr>
            <a:endParaRPr lang="en-US" dirty="0"/>
          </a:p>
        </p:txBody>
      </p:sp>
      <p:sp>
        <p:nvSpPr>
          <p:cNvPr id="218" name="Text 215"/>
          <p:cNvSpPr/>
          <p:nvPr/>
        </p:nvSpPr>
        <p:spPr>
          <a:xfrm>
            <a:off x="25535781" y="15375136"/>
            <a:ext cx="10940564" cy="371475"/>
          </a:xfrm>
          <a:prstGeom prst="rect">
            <a:avLst/>
          </a:prstGeom>
          <a:noFill/>
          <a:ln/>
        </p:spPr>
        <p:txBody>
          <a:bodyPr wrap="square" lIns="0" tIns="0" rIns="0" bIns="0" rtlCol="0" anchor="t"/>
          <a:lstStyle/>
          <a:p>
            <a:pPr algn="l" indent="0" marL="0">
              <a:buNone/>
            </a:pPr>
            <a:r>
              <a:rPr lang="en-US" sz="2600" b="1" dirty="0">
                <a:solidFill>
                  <a:srgbClr val="722F37"/>
                </a:solidFill>
                <a:latin typeface="Arial" pitchFamily="34" charset="0"/>
                <a:ea typeface="Arial" pitchFamily="34" charset="-122"/>
                <a:cs typeface="Arial" pitchFamily="34" charset="-120"/>
              </a:rPr>
              <a:t>Designed Cordiality</a:t>
            </a:r>
            <a:endParaRPr lang="en-US" sz="2600" dirty="0"/>
          </a:p>
        </p:txBody>
      </p:sp>
      <p:sp>
        <p:nvSpPr>
          <p:cNvPr id="219" name="Text 216"/>
          <p:cNvSpPr/>
          <p:nvPr/>
        </p:nvSpPr>
        <p:spPr>
          <a:xfrm>
            <a:off x="25535781" y="15771912"/>
            <a:ext cx="1777901" cy="38100"/>
          </a:xfrm>
          <a:prstGeom prst="rect">
            <a:avLst/>
          </a:prstGeom>
          <a:solidFill>
            <a:srgbClr val="B8860B"/>
          </a:solidFill>
          <a:ln/>
        </p:spPr>
        <p:txBody>
          <a:bodyPr wrap="square" rtlCol="0" anchor="ctr"/>
          <a:lstStyle/>
          <a:p>
            <a:pPr indent="0" marL="0">
              <a:buNone/>
            </a:pPr>
            <a:endParaRPr lang="en-US" dirty="0"/>
          </a:p>
        </p:txBody>
      </p:sp>
      <p:sp>
        <p:nvSpPr>
          <p:cNvPr id="220" name="Text 217"/>
          <p:cNvSpPr/>
          <p:nvPr/>
        </p:nvSpPr>
        <p:spPr>
          <a:xfrm>
            <a:off x="25535781" y="15886212"/>
            <a:ext cx="10940564" cy="419100"/>
          </a:xfrm>
          <a:prstGeom prst="rect">
            <a:avLst/>
          </a:prstGeom>
          <a:noFill/>
          <a:ln/>
        </p:spPr>
        <p:txBody>
          <a:bodyPr wrap="square" lIns="0" tIns="0" rIns="0" bIns="0" rtlCol="0" anchor="t"/>
          <a:lstStyle/>
          <a:p>
            <a:pPr algn="l" indent="0" marL="0">
              <a:spcBef>
                <a:spcPts val="400"/>
              </a:spcBef>
              <a:spcAft>
                <a:spcPts val="400"/>
              </a:spcAft>
              <a:buNone/>
            </a:pPr>
            <a:r>
              <a:rPr lang="en-US" sz="1500" i="1" dirty="0">
                <a:solidFill>
                  <a:srgbClr val="7A6E62"/>
                </a:solidFill>
                <a:latin typeface="Georgia" pitchFamily="34" charset="0"/>
                <a:ea typeface="Georgia" pitchFamily="34" charset="-122"/>
                <a:cs typeface="Georgia" pitchFamily="34" charset="-120"/>
              </a:rPr>
              <a:t>The prompt instructs experts to be agreeable. The result is a recognisable formula: deferential opener, immediate contradiction.</a:t>
            </a:r>
            <a:endParaRPr lang="en-US" sz="1500" dirty="0"/>
          </a:p>
        </p:txBody>
      </p:sp>
      <p:sp>
        <p:nvSpPr>
          <p:cNvPr id="221" name="Text 218"/>
          <p:cNvSpPr/>
          <p:nvPr/>
        </p:nvSpPr>
        <p:spPr>
          <a:xfrm>
            <a:off x="25535781" y="16368713"/>
            <a:ext cx="10726043" cy="574477"/>
          </a:xfrm>
          <a:prstGeom prst="rect">
            <a:avLst/>
          </a:prstGeom>
          <a:solidFill>
            <a:srgbClr val="F0F0F0"/>
          </a:solidFill>
          <a:ln/>
        </p:spPr>
        <p:txBody>
          <a:bodyPr wrap="square" rtlCol="0" anchor="ctr"/>
          <a:lstStyle/>
          <a:p>
            <a:pPr indent="0" marL="0">
              <a:buNone/>
            </a:pPr>
            <a:endParaRPr lang="en-US" dirty="0"/>
          </a:p>
        </p:txBody>
      </p:sp>
      <p:sp>
        <p:nvSpPr>
          <p:cNvPr id="222" name="Shape 219"/>
          <p:cNvSpPr/>
          <p:nvPr/>
        </p:nvSpPr>
        <p:spPr>
          <a:xfrm>
            <a:off x="25559593" y="16368713"/>
            <a:ext cx="0" cy="574477"/>
          </a:xfrm>
          <a:prstGeom prst="line">
            <a:avLst/>
          </a:prstGeom>
          <a:noFill/>
          <a:ln w="47625">
            <a:solidFill>
              <a:srgbClr val="888888"/>
            </a:solidFill>
            <a:prstDash val="solid"/>
          </a:ln>
        </p:spPr>
      </p:sp>
      <p:sp>
        <p:nvSpPr>
          <p:cNvPr id="223" name="Text 220"/>
          <p:cNvSpPr/>
          <p:nvPr/>
        </p:nvSpPr>
        <p:spPr>
          <a:xfrm>
            <a:off x="25684907" y="16432113"/>
            <a:ext cx="10684925" cy="200025"/>
          </a:xfrm>
          <a:prstGeom prst="rect">
            <a:avLst/>
          </a:prstGeom>
          <a:noFill/>
          <a:ln/>
        </p:spPr>
        <p:txBody>
          <a:bodyPr wrap="square" lIns="0" tIns="0" rIns="0" bIns="0" rtlCol="0" anchor="t"/>
          <a:lstStyle/>
          <a:p>
            <a:pPr algn="l" indent="0" marL="0">
              <a:spcAft>
                <a:spcPts val="300"/>
              </a:spcAft>
              <a:buNone/>
            </a:pPr>
            <a:r>
              <a:rPr lang="en-US" sz="1300" i="1" dirty="0">
                <a:solidFill>
                  <a:srgbClr val="666666"/>
                </a:solidFill>
                <a:latin typeface="Arial" pitchFamily="34" charset="0"/>
                <a:ea typeface="Arial" pitchFamily="34" charset="-122"/>
                <a:cs typeface="Arial" pitchFamily="34" charset="-120"/>
              </a:rPr>
              <a:t>From the script prompt:</a:t>
            </a:r>
            <a:endParaRPr lang="en-US" sz="1300" dirty="0"/>
          </a:p>
        </p:txBody>
      </p:sp>
      <p:sp>
        <p:nvSpPr>
          <p:cNvPr id="224" name="Text 221"/>
          <p:cNvSpPr/>
          <p:nvPr/>
        </p:nvSpPr>
        <p:spPr>
          <a:xfrm>
            <a:off x="25684907" y="16670238"/>
            <a:ext cx="10684925" cy="209550"/>
          </a:xfrm>
          <a:prstGeom prst="rect">
            <a:avLst/>
          </a:prstGeom>
          <a:noFill/>
          <a:ln/>
        </p:spPr>
        <p:txBody>
          <a:bodyPr wrap="square" lIns="0" tIns="0" rIns="0" bIns="0" rtlCol="0" anchor="t"/>
          <a:lstStyle/>
          <a:p>
            <a:pPr algn="l" indent="0" marL="0">
              <a:buNone/>
            </a:pPr>
            <a:r>
              <a:rPr lang="en-US" sz="1400" dirty="0">
                <a:solidFill>
                  <a:srgbClr val="333333"/>
                </a:solidFill>
                <a:latin typeface="Courier New" pitchFamily="34" charset="0"/>
                <a:ea typeface="Courier New" pitchFamily="34" charset="-122"/>
                <a:cs typeface="Courier New" pitchFamily="34" charset="-120"/>
              </a:rPr>
              <a:t>Experts react to each other: </a:t>
            </a:r>
            <a:pPr algn="l" indent="0" marL="0">
              <a:buNone/>
            </a:pPr>
            <a:r>
              <a:rPr lang="en-US" sz="1400" b="1" dirty="0">
                <a:solidFill>
                  <a:srgbClr val="333333"/>
                </a:solidFill>
                <a:latin typeface="Courier New" pitchFamily="34" charset="0"/>
                <a:ea typeface="Courier New" pitchFamily="34" charset="-122"/>
                <a:cs typeface="Courier New" pitchFamily="34" charset="-120"/>
              </a:rPr>
              <a:t>agree</a:t>
            </a:r>
            <a:pPr algn="l" indent="0" marL="0">
              <a:buNone/>
            </a:pPr>
            <a:r>
              <a:rPr lang="en-US" sz="1400" dirty="0">
                <a:solidFill>
                  <a:srgbClr val="333333"/>
                </a:solidFill>
                <a:latin typeface="Courier New" pitchFamily="34" charset="0"/>
                <a:ea typeface="Courier New" pitchFamily="34" charset="-122"/>
                <a:cs typeface="Courier New" pitchFamily="34" charset="-120"/>
              </a:rPr>
              <a:t>, </a:t>
            </a:r>
            <a:pPr algn="l" indent="0" marL="0">
              <a:buNone/>
            </a:pPr>
            <a:r>
              <a:rPr lang="en-US" sz="1400" b="1" dirty="0">
                <a:solidFill>
                  <a:srgbClr val="333333"/>
                </a:solidFill>
                <a:latin typeface="Courier New" pitchFamily="34" charset="0"/>
                <a:ea typeface="Courier New" pitchFamily="34" charset="-122"/>
                <a:cs typeface="Courier New" pitchFamily="34" charset="-120"/>
              </a:rPr>
              <a:t>push back gently</a:t>
            </a:r>
            <a:pPr algn="l" indent="0" marL="0">
              <a:buNone/>
            </a:pPr>
            <a:r>
              <a:rPr lang="en-US" sz="1400" dirty="0">
                <a:solidFill>
                  <a:srgbClr val="333333"/>
                </a:solidFill>
                <a:latin typeface="Courier New" pitchFamily="34" charset="0"/>
                <a:ea typeface="Courier New" pitchFamily="34" charset="-122"/>
                <a:cs typeface="Courier New" pitchFamily="34" charset="-120"/>
              </a:rPr>
              <a:t>, riff on each other's ideas.</a:t>
            </a:r>
            <a:endParaRPr lang="en-US" sz="1400" dirty="0"/>
          </a:p>
        </p:txBody>
      </p:sp>
      <p:sp>
        <p:nvSpPr>
          <p:cNvPr id="225" name="Text 222"/>
          <p:cNvSpPr/>
          <p:nvPr/>
        </p:nvSpPr>
        <p:spPr>
          <a:xfrm>
            <a:off x="25535781" y="17006590"/>
            <a:ext cx="10940564" cy="200025"/>
          </a:xfrm>
          <a:prstGeom prst="rect">
            <a:avLst/>
          </a:prstGeom>
          <a:noFill/>
          <a:ln/>
        </p:spPr>
        <p:txBody>
          <a:bodyPr wrap="square" lIns="0" tIns="0" rIns="0" bIns="0" rtlCol="0" anchor="t"/>
          <a:lstStyle/>
          <a:p>
            <a:pPr algn="l" indent="0" marL="0">
              <a:spcBef>
                <a:spcPts val="500"/>
              </a:spcBef>
              <a:spcAft>
                <a:spcPts val="300"/>
              </a:spcAft>
              <a:buNone/>
            </a:pPr>
            <a:r>
              <a:rPr lang="en-US" sz="1400" dirty="0">
                <a:solidFill>
                  <a:srgbClr val="2D2926"/>
                </a:solidFill>
                <a:latin typeface="Georgia" pitchFamily="34" charset="0"/>
                <a:ea typeface="Georgia" pitchFamily="34" charset="-122"/>
                <a:cs typeface="Georgia" pitchFamily="34" charset="-120"/>
              </a:rPr>
              <a:t>The resulting formula, across all 15 novels and all panels:</a:t>
            </a:r>
            <a:endParaRPr lang="en-US" sz="1400" dirty="0"/>
          </a:p>
        </p:txBody>
      </p:sp>
      <p:sp>
        <p:nvSpPr>
          <p:cNvPr id="226" name="Text 223"/>
          <p:cNvSpPr/>
          <p:nvPr/>
        </p:nvSpPr>
        <p:spPr>
          <a:xfrm>
            <a:off x="25535781" y="17244715"/>
            <a:ext cx="10726043" cy="764977"/>
          </a:xfrm>
          <a:prstGeom prst="rect">
            <a:avLst/>
          </a:prstGeom>
          <a:solidFill>
            <a:srgbClr val="8B7355">
              <a:alpha val="9000"/>
            </a:srgbClr>
          </a:solidFill>
          <a:ln/>
        </p:spPr>
        <p:txBody>
          <a:bodyPr wrap="square" rtlCol="0" anchor="ctr"/>
          <a:lstStyle/>
          <a:p>
            <a:pPr indent="0" marL="0">
              <a:buNone/>
            </a:pPr>
            <a:endParaRPr lang="en-US" dirty="0"/>
          </a:p>
        </p:txBody>
      </p:sp>
      <p:sp>
        <p:nvSpPr>
          <p:cNvPr id="227" name="Shape 224"/>
          <p:cNvSpPr/>
          <p:nvPr/>
        </p:nvSpPr>
        <p:spPr>
          <a:xfrm>
            <a:off x="25559593" y="17244715"/>
            <a:ext cx="0" cy="764977"/>
          </a:xfrm>
          <a:prstGeom prst="line">
            <a:avLst/>
          </a:prstGeom>
          <a:noFill/>
          <a:ln w="47625">
            <a:solidFill>
              <a:srgbClr val="8B7355"/>
            </a:solidFill>
            <a:prstDash val="solid"/>
          </a:ln>
        </p:spPr>
      </p:sp>
      <p:sp>
        <p:nvSpPr>
          <p:cNvPr id="228" name="Text 225"/>
          <p:cNvSpPr/>
          <p:nvPr/>
        </p:nvSpPr>
        <p:spPr>
          <a:xfrm>
            <a:off x="25684907" y="17295465"/>
            <a:ext cx="10684925" cy="219075"/>
          </a:xfrm>
          <a:prstGeom prst="rect">
            <a:avLst/>
          </a:prstGeom>
          <a:noFill/>
          <a:ln/>
        </p:spPr>
        <p:txBody>
          <a:bodyPr wrap="square" lIns="0" tIns="0" rIns="0" bIns="0" rtlCol="0" anchor="t"/>
          <a:lstStyle/>
          <a:p>
            <a:pPr algn="l" indent="0" marL="0">
              <a:spcAft>
                <a:spcPts val="200"/>
              </a:spcAft>
              <a:buNone/>
            </a:pPr>
            <a:r>
              <a:rPr lang="en-US" sz="1500" b="1" dirty="0">
                <a:solidFill>
                  <a:srgbClr val="8B7355"/>
                </a:solidFill>
                <a:latin typeface="Arial" pitchFamily="34" charset="0"/>
                <a:ea typeface="Arial" pitchFamily="34" charset="-122"/>
                <a:cs typeface="Arial" pitchFamily="34" charset="-120"/>
              </a:rPr>
              <a:t>Edmund Leigh (arc_v21, Bleak House):</a:t>
            </a:r>
            <a:endParaRPr lang="en-US" sz="1500" dirty="0"/>
          </a:p>
        </p:txBody>
      </p:sp>
      <p:sp>
        <p:nvSpPr>
          <p:cNvPr id="229" name="Text 226"/>
          <p:cNvSpPr/>
          <p:nvPr/>
        </p:nvSpPr>
        <p:spPr>
          <a:xfrm>
            <a:off x="25684907" y="17539841"/>
            <a:ext cx="10684925" cy="419100"/>
          </a:xfrm>
          <a:prstGeom prst="rect">
            <a:avLst/>
          </a:prstGeom>
          <a:noFill/>
          <a:ln/>
        </p:spPr>
        <p:txBody>
          <a:bodyPr wrap="square" lIns="0" tIns="0" rIns="0" bIns="0" rtlCol="0" anchor="t"/>
          <a:lstStyle/>
          <a:p>
            <a:pPr algn="l" indent="0" marL="0">
              <a:buNone/>
            </a:pPr>
            <a:r>
              <a:rPr lang="en-US" sz="1500" dirty="0">
                <a:solidFill>
                  <a:srgbClr val="7A6E62"/>
                </a:solidFill>
                <a:latin typeface="Georgia" pitchFamily="34" charset="0"/>
                <a:ea typeface="Georgia" pitchFamily="34" charset="-122"/>
                <a:cs typeface="Georgia" pitchFamily="34" charset="-120"/>
              </a:rPr>
              <a:t>"</a:t>
            </a:r>
            <a:pPr algn="l" indent="0" marL="0">
              <a:buNone/>
            </a:pPr>
            <a:r>
              <a:rPr lang="en-US" sz="1500" b="1" i="1" dirty="0">
                <a:solidFill>
                  <a:srgbClr val="7A6E62"/>
                </a:solidFill>
                <a:latin typeface="Georgia" pitchFamily="34" charset="0"/>
                <a:ea typeface="Georgia" pitchFamily="34" charset="-122"/>
                <a:cs typeface="Georgia" pitchFamily="34" charset="-120"/>
              </a:rPr>
              <a:t>I don't dispute any of that</a:t>
            </a:r>
            <a:pPr algn="l" indent="0" marL="0">
              <a:buNone/>
            </a:pPr>
            <a:r>
              <a:rPr lang="en-US" sz="1500" dirty="0">
                <a:solidFill>
                  <a:srgbClr val="7A6E62"/>
                </a:solidFill>
                <a:latin typeface="Georgia" pitchFamily="34" charset="0"/>
                <a:ea typeface="Georgia" pitchFamily="34" charset="-122"/>
                <a:cs typeface="Georgia" pitchFamily="34" charset="-120"/>
              </a:rPr>
              <a:t> — and James's contextual detail is, as always, illuminating. </a:t>
            </a:r>
            <a:pPr algn="l" indent="0" marL="0">
              <a:buNone/>
            </a:pPr>
            <a:r>
              <a:rPr lang="en-US" sz="1500" b="1" i="1" dirty="0">
                <a:solidFill>
                  <a:srgbClr val="7A6E62"/>
                </a:solidFill>
                <a:latin typeface="Georgia" pitchFamily="34" charset="0"/>
                <a:ea typeface="Georgia" pitchFamily="34" charset="-122"/>
                <a:cs typeface="Georgia" pitchFamily="34" charset="-120"/>
              </a:rPr>
              <a:t>But</a:t>
            </a:r>
            <a:pPr algn="l" indent="0" marL="0">
              <a:buNone/>
            </a:pPr>
            <a:r>
              <a:rPr lang="en-US" sz="1500" dirty="0">
                <a:solidFill>
                  <a:srgbClr val="7A6E62"/>
                </a:solidFill>
                <a:latin typeface="Georgia" pitchFamily="34" charset="0"/>
                <a:ea typeface="Georgia" pitchFamily="34" charset="-122"/>
                <a:cs typeface="Georgia" pitchFamily="34" charset="-120"/>
              </a:rPr>
              <a:t> I'd want to resist the temptation to read Bleak House primarily as a pamphlet dressed in fiction's clothing."</a:t>
            </a:r>
            <a:endParaRPr lang="en-US" sz="1500" dirty="0"/>
          </a:p>
        </p:txBody>
      </p:sp>
      <p:sp>
        <p:nvSpPr>
          <p:cNvPr id="230" name="Text 227"/>
          <p:cNvSpPr/>
          <p:nvPr/>
        </p:nvSpPr>
        <p:spPr>
          <a:xfrm>
            <a:off x="25535781" y="18047791"/>
            <a:ext cx="10726043" cy="555427"/>
          </a:xfrm>
          <a:prstGeom prst="rect">
            <a:avLst/>
          </a:prstGeom>
          <a:solidFill>
            <a:srgbClr val="722F37">
              <a:alpha val="9000"/>
            </a:srgbClr>
          </a:solidFill>
          <a:ln/>
        </p:spPr>
        <p:txBody>
          <a:bodyPr wrap="square" rtlCol="0" anchor="ctr"/>
          <a:lstStyle/>
          <a:p>
            <a:pPr indent="0" marL="0">
              <a:buNone/>
            </a:pPr>
            <a:endParaRPr lang="en-US" dirty="0"/>
          </a:p>
        </p:txBody>
      </p:sp>
      <p:sp>
        <p:nvSpPr>
          <p:cNvPr id="231" name="Shape 228"/>
          <p:cNvSpPr/>
          <p:nvPr/>
        </p:nvSpPr>
        <p:spPr>
          <a:xfrm>
            <a:off x="25559593" y="18047791"/>
            <a:ext cx="0" cy="555427"/>
          </a:xfrm>
          <a:prstGeom prst="line">
            <a:avLst/>
          </a:prstGeom>
          <a:noFill/>
          <a:ln w="47625">
            <a:solidFill>
              <a:srgbClr val="722F37"/>
            </a:solidFill>
            <a:prstDash val="solid"/>
          </a:ln>
        </p:spPr>
      </p:sp>
      <p:sp>
        <p:nvSpPr>
          <p:cNvPr id="232" name="Text 229"/>
          <p:cNvSpPr/>
          <p:nvPr/>
        </p:nvSpPr>
        <p:spPr>
          <a:xfrm>
            <a:off x="25684907" y="18098542"/>
            <a:ext cx="10684925" cy="219075"/>
          </a:xfrm>
          <a:prstGeom prst="rect">
            <a:avLst/>
          </a:prstGeom>
          <a:noFill/>
          <a:ln/>
        </p:spPr>
        <p:txBody>
          <a:bodyPr wrap="square" lIns="0" tIns="0" rIns="0" bIns="0" rtlCol="0" anchor="t"/>
          <a:lstStyle/>
          <a:p>
            <a:pPr algn="l" indent="0" marL="0">
              <a:spcAft>
                <a:spcPts val="200"/>
              </a:spcAft>
              <a:buNone/>
            </a:pPr>
            <a:r>
              <a:rPr lang="en-US" sz="1500" b="1" dirty="0">
                <a:solidFill>
                  <a:srgbClr val="722F37"/>
                </a:solidFill>
                <a:latin typeface="Arial" pitchFamily="34" charset="0"/>
                <a:ea typeface="Arial" pitchFamily="34" charset="-122"/>
                <a:cs typeface="Arial" pitchFamily="34" charset="-120"/>
              </a:rPr>
              <a:t>Eleanor Hartley (ext_v01, Bleak House):</a:t>
            </a:r>
            <a:endParaRPr lang="en-US" sz="1500" dirty="0"/>
          </a:p>
        </p:txBody>
      </p:sp>
      <p:sp>
        <p:nvSpPr>
          <p:cNvPr id="233" name="Text 230"/>
          <p:cNvSpPr/>
          <p:nvPr/>
        </p:nvSpPr>
        <p:spPr>
          <a:xfrm>
            <a:off x="25684907" y="18342918"/>
            <a:ext cx="10684925" cy="209550"/>
          </a:xfrm>
          <a:prstGeom prst="rect">
            <a:avLst/>
          </a:prstGeom>
          <a:noFill/>
          <a:ln/>
        </p:spPr>
        <p:txBody>
          <a:bodyPr wrap="square" lIns="0" tIns="0" rIns="0" bIns="0" rtlCol="0" anchor="t"/>
          <a:lstStyle/>
          <a:p>
            <a:pPr algn="l" indent="0" marL="0">
              <a:buNone/>
            </a:pPr>
            <a:r>
              <a:rPr lang="en-US" sz="1500" dirty="0">
                <a:solidFill>
                  <a:srgbClr val="7A6E62"/>
                </a:solidFill>
                <a:latin typeface="Georgia" pitchFamily="34" charset="0"/>
                <a:ea typeface="Georgia" pitchFamily="34" charset="-122"/>
                <a:cs typeface="Georgia" pitchFamily="34" charset="-120"/>
              </a:rPr>
              <a:t>"</a:t>
            </a:r>
            <a:pPr algn="l" indent="0" marL="0">
              <a:buNone/>
            </a:pPr>
            <a:r>
              <a:rPr lang="en-US" sz="1500" b="1" i="1" dirty="0">
                <a:solidFill>
                  <a:srgbClr val="7A6E62"/>
                </a:solidFill>
                <a:latin typeface="Georgia" pitchFamily="34" charset="0"/>
                <a:ea typeface="Georgia" pitchFamily="34" charset="-122"/>
                <a:cs typeface="Georgia" pitchFamily="34" charset="-120"/>
              </a:rPr>
              <a:t>I wouldn't dispute any of that</a:t>
            </a:r>
            <a:pPr algn="l" indent="0" marL="0">
              <a:buNone/>
            </a:pPr>
            <a:r>
              <a:rPr lang="en-US" sz="1500" dirty="0">
                <a:solidFill>
                  <a:srgbClr val="7A6E62"/>
                </a:solidFill>
                <a:latin typeface="Georgia" pitchFamily="34" charset="0"/>
                <a:ea typeface="Georgia" pitchFamily="34" charset="-122"/>
                <a:cs typeface="Georgia" pitchFamily="34" charset="-120"/>
              </a:rPr>
              <a:t> — </a:t>
            </a:r>
            <a:pPr algn="l" indent="0" marL="0">
              <a:buNone/>
            </a:pPr>
            <a:r>
              <a:rPr lang="en-US" sz="1500" b="1" i="1" dirty="0">
                <a:solidFill>
                  <a:srgbClr val="7A6E62"/>
                </a:solidFill>
                <a:latin typeface="Georgia" pitchFamily="34" charset="0"/>
                <a:ea typeface="Georgia" pitchFamily="34" charset="-122"/>
                <a:cs typeface="Georgia" pitchFamily="34" charset="-120"/>
              </a:rPr>
              <a:t>but</a:t>
            </a:r>
            <a:pPr algn="l" indent="0" marL="0">
              <a:buNone/>
            </a:pPr>
            <a:r>
              <a:rPr lang="en-US" sz="1500" dirty="0">
                <a:solidFill>
                  <a:srgbClr val="7A6E62"/>
                </a:solidFill>
                <a:latin typeface="Georgia" pitchFamily="34" charset="0"/>
                <a:ea typeface="Georgia" pitchFamily="34" charset="-122"/>
                <a:cs typeface="Georgia" pitchFamily="34" charset="-120"/>
              </a:rPr>
              <a:t> I'd add a layer, because 'deserted infant' is not merely a figure of speech."</a:t>
            </a:r>
            <a:endParaRPr lang="en-US" sz="1500" dirty="0"/>
          </a:p>
        </p:txBody>
      </p:sp>
      <p:sp>
        <p:nvSpPr>
          <p:cNvPr id="234" name="Text 231"/>
          <p:cNvSpPr/>
          <p:nvPr/>
        </p:nvSpPr>
        <p:spPr>
          <a:xfrm>
            <a:off x="25535781" y="18641318"/>
            <a:ext cx="10726043" cy="555427"/>
          </a:xfrm>
          <a:prstGeom prst="rect">
            <a:avLst/>
          </a:prstGeom>
          <a:solidFill>
            <a:srgbClr val="2D6B5E">
              <a:alpha val="9000"/>
            </a:srgbClr>
          </a:solidFill>
          <a:ln/>
        </p:spPr>
        <p:txBody>
          <a:bodyPr wrap="square" rtlCol="0" anchor="ctr"/>
          <a:lstStyle/>
          <a:p>
            <a:pPr indent="0" marL="0">
              <a:buNone/>
            </a:pPr>
            <a:endParaRPr lang="en-US" dirty="0"/>
          </a:p>
        </p:txBody>
      </p:sp>
      <p:sp>
        <p:nvSpPr>
          <p:cNvPr id="235" name="Shape 232"/>
          <p:cNvSpPr/>
          <p:nvPr/>
        </p:nvSpPr>
        <p:spPr>
          <a:xfrm>
            <a:off x="25559593" y="18641318"/>
            <a:ext cx="0" cy="555427"/>
          </a:xfrm>
          <a:prstGeom prst="line">
            <a:avLst/>
          </a:prstGeom>
          <a:noFill/>
          <a:ln w="47625">
            <a:solidFill>
              <a:srgbClr val="2D6B5E"/>
            </a:solidFill>
            <a:prstDash val="solid"/>
          </a:ln>
        </p:spPr>
      </p:sp>
      <p:sp>
        <p:nvSpPr>
          <p:cNvPr id="236" name="Text 233"/>
          <p:cNvSpPr/>
          <p:nvPr/>
        </p:nvSpPr>
        <p:spPr>
          <a:xfrm>
            <a:off x="25684907" y="18692068"/>
            <a:ext cx="10684925" cy="219075"/>
          </a:xfrm>
          <a:prstGeom prst="rect">
            <a:avLst/>
          </a:prstGeom>
          <a:noFill/>
          <a:ln/>
        </p:spPr>
        <p:txBody>
          <a:bodyPr wrap="square" lIns="0" tIns="0" rIns="0" bIns="0" rtlCol="0" anchor="t"/>
          <a:lstStyle/>
          <a:p>
            <a:pPr algn="l" indent="0" marL="0">
              <a:spcAft>
                <a:spcPts val="200"/>
              </a:spcAft>
              <a:buNone/>
            </a:pPr>
            <a:r>
              <a:rPr lang="en-US" sz="1500" b="1" dirty="0">
                <a:solidFill>
                  <a:srgbClr val="2D6B5E"/>
                </a:solidFill>
                <a:latin typeface="Arial" pitchFamily="34" charset="0"/>
                <a:ea typeface="Arial" pitchFamily="34" charset="-122"/>
                <a:cs typeface="Arial" pitchFamily="34" charset="-120"/>
              </a:rPr>
              <a:t>Caroline Woodcourt (cran_nop, Cranford):</a:t>
            </a:r>
            <a:endParaRPr lang="en-US" sz="1500" dirty="0"/>
          </a:p>
        </p:txBody>
      </p:sp>
      <p:sp>
        <p:nvSpPr>
          <p:cNvPr id="237" name="Text 234"/>
          <p:cNvSpPr/>
          <p:nvPr/>
        </p:nvSpPr>
        <p:spPr>
          <a:xfrm>
            <a:off x="25684907" y="18936444"/>
            <a:ext cx="10684925" cy="209550"/>
          </a:xfrm>
          <a:prstGeom prst="rect">
            <a:avLst/>
          </a:prstGeom>
          <a:noFill/>
          <a:ln/>
        </p:spPr>
        <p:txBody>
          <a:bodyPr wrap="square" lIns="0" tIns="0" rIns="0" bIns="0" rtlCol="0" anchor="t"/>
          <a:lstStyle/>
          <a:p>
            <a:pPr algn="l" indent="0" marL="0">
              <a:buNone/>
            </a:pPr>
            <a:r>
              <a:rPr lang="en-US" sz="1500" dirty="0">
                <a:solidFill>
                  <a:srgbClr val="7A6E62"/>
                </a:solidFill>
                <a:latin typeface="Georgia" pitchFamily="34" charset="0"/>
                <a:ea typeface="Georgia" pitchFamily="34" charset="-122"/>
                <a:cs typeface="Georgia" pitchFamily="34" charset="-120"/>
              </a:rPr>
              <a:t>"</a:t>
            </a:r>
            <a:pPr algn="l" indent="0" marL="0">
              <a:buNone/>
            </a:pPr>
            <a:r>
              <a:rPr lang="en-US" sz="1500" b="1" i="1" dirty="0">
                <a:solidFill>
                  <a:srgbClr val="7A6E62"/>
                </a:solidFill>
                <a:latin typeface="Georgia" pitchFamily="34" charset="0"/>
                <a:ea typeface="Georgia" pitchFamily="34" charset="-122"/>
                <a:cs typeface="Georgia" pitchFamily="34" charset="-120"/>
              </a:rPr>
              <a:t>I wouldn't dispute that</a:t>
            </a:r>
            <a:pPr algn="l" indent="0" marL="0">
              <a:buNone/>
            </a:pPr>
            <a:r>
              <a:rPr lang="en-US" sz="1500" dirty="0">
                <a:solidFill>
                  <a:srgbClr val="7A6E62"/>
                </a:solidFill>
                <a:latin typeface="Georgia" pitchFamily="34" charset="0"/>
                <a:ea typeface="Georgia" pitchFamily="34" charset="-122"/>
                <a:cs typeface="Georgia" pitchFamily="34" charset="-120"/>
              </a:rPr>
              <a:t> reading of the prose. </a:t>
            </a:r>
            <a:pPr algn="l" indent="0" marL="0">
              <a:buNone/>
            </a:pPr>
            <a:r>
              <a:rPr lang="en-US" sz="1500" b="1" i="1" dirty="0">
                <a:solidFill>
                  <a:srgbClr val="7A6E62"/>
                </a:solidFill>
                <a:latin typeface="Georgia" pitchFamily="34" charset="0"/>
                <a:ea typeface="Georgia" pitchFamily="34" charset="-122"/>
                <a:cs typeface="Georgia" pitchFamily="34" charset="-120"/>
              </a:rPr>
              <a:t>But</a:t>
            </a:r>
            <a:pPr algn="l" indent="0" marL="0">
              <a:buNone/>
            </a:pPr>
            <a:r>
              <a:rPr lang="en-US" sz="1500" dirty="0">
                <a:solidFill>
                  <a:srgbClr val="7A6E62"/>
                </a:solidFill>
                <a:latin typeface="Georgia" pitchFamily="34" charset="0"/>
                <a:ea typeface="Georgia" pitchFamily="34" charset="-122"/>
                <a:cs typeface="Georgia" pitchFamily="34" charset="-120"/>
              </a:rPr>
              <a:t>…"</a:t>
            </a:r>
            <a:endParaRPr lang="en-US" sz="1500" dirty="0"/>
          </a:p>
        </p:txBody>
      </p:sp>
      <p:sp>
        <p:nvSpPr>
          <p:cNvPr id="238" name="Text 235"/>
          <p:cNvSpPr/>
          <p:nvPr/>
        </p:nvSpPr>
        <p:spPr>
          <a:xfrm>
            <a:off x="25535781" y="19260145"/>
            <a:ext cx="10940564" cy="400050"/>
          </a:xfrm>
          <a:prstGeom prst="rect">
            <a:avLst/>
          </a:prstGeom>
          <a:noFill/>
          <a:ln/>
        </p:spPr>
        <p:txBody>
          <a:bodyPr wrap="square" lIns="0" tIns="0" rIns="0" bIns="0" rtlCol="0" anchor="t"/>
          <a:lstStyle/>
          <a:p>
            <a:pPr algn="l" indent="0" marL="0">
              <a:spcBef>
                <a:spcPts val="500"/>
              </a:spcBef>
              <a:buNone/>
            </a:pPr>
            <a:r>
              <a:rPr lang="en-US" sz="1400" dirty="0">
                <a:solidFill>
                  <a:srgbClr val="2D2926"/>
                </a:solidFill>
                <a:latin typeface="Georgia" pitchFamily="34" charset="0"/>
                <a:ea typeface="Georgia" pitchFamily="34" charset="-122"/>
                <a:cs typeface="Georgia" pitchFamily="34" charset="-120"/>
              </a:rPr>
              <a:t>The opener is disingenuous: the speaker always does dispute it. The formula is prompt-compliance made visible — </a:t>
            </a:r>
            <a:pPr algn="l" indent="0" marL="0">
              <a:spcBef>
                <a:spcPts val="500"/>
              </a:spcBef>
              <a:buNone/>
            </a:pPr>
            <a:r>
              <a:rPr lang="en-US" sz="1400" i="1" dirty="0">
                <a:solidFill>
                  <a:srgbClr val="2D2926"/>
                </a:solidFill>
                <a:latin typeface="Georgia" pitchFamily="34" charset="0"/>
                <a:ea typeface="Georgia" pitchFamily="34" charset="-122"/>
                <a:cs typeface="Georgia" pitchFamily="34" charset="-120"/>
              </a:rPr>
              <a:t>push back gently</a:t>
            </a:r>
            <a:pPr algn="l" indent="0" marL="0">
              <a:spcBef>
                <a:spcPts val="500"/>
              </a:spcBef>
              <a:buNone/>
            </a:pPr>
            <a:r>
              <a:rPr lang="en-US" sz="1400" dirty="0">
                <a:solidFill>
                  <a:srgbClr val="2D2926"/>
                </a:solidFill>
                <a:latin typeface="Georgia" pitchFamily="34" charset="0"/>
                <a:ea typeface="Georgia" pitchFamily="34" charset="-122"/>
                <a:cs typeface="Georgia" pitchFamily="34" charset="-120"/>
              </a:rPr>
              <a:t> produces stylised deference that is recognisable as designed, not conversational.</a:t>
            </a:r>
            <a:endParaRPr lang="en-US" sz="1400" dirty="0"/>
          </a:p>
        </p:txBody>
      </p:sp>
      <p:sp>
        <p:nvSpPr>
          <p:cNvPr id="239" name="Text 236"/>
          <p:cNvSpPr/>
          <p:nvPr/>
        </p:nvSpPr>
        <p:spPr>
          <a:xfrm>
            <a:off x="25399305" y="19923621"/>
            <a:ext cx="10998994" cy="5780484"/>
          </a:xfrm>
          <a:prstGeom prst="roundRect">
            <a:avLst>
              <a:gd name="adj" fmla="val 879"/>
            </a:avLst>
          </a:prstGeom>
          <a:solidFill>
            <a:srgbClr val="FFFFFF"/>
          </a:solidFill>
          <a:ln w="9525">
            <a:solidFill>
              <a:srgbClr val="E0DADA"/>
            </a:solidFill>
          </a:ln>
          <a:effectLst>
            <a:outerShdw sx="100000" sy="100000" kx="0" ky="0" algn="bl" rotWithShape="0" blurRad="101600" dist="17960" dir="2700000">
              <a:srgbClr val="000000">
                <a:alpha val="4000"/>
              </a:srgbClr>
            </a:outerShdw>
          </a:effectLst>
        </p:spPr>
        <p:txBody>
          <a:bodyPr wrap="square" rtlCol="0" anchor="ctr"/>
          <a:lstStyle/>
          <a:p>
            <a:pPr indent="0" marL="0">
              <a:buNone/>
            </a:pPr>
            <a:endParaRPr lang="en-US" dirty="0"/>
          </a:p>
        </p:txBody>
      </p:sp>
      <p:sp>
        <p:nvSpPr>
          <p:cNvPr id="240" name="Text 237"/>
          <p:cNvSpPr/>
          <p:nvPr/>
        </p:nvSpPr>
        <p:spPr>
          <a:xfrm>
            <a:off x="25535781" y="20060096"/>
            <a:ext cx="10940564" cy="371475"/>
          </a:xfrm>
          <a:prstGeom prst="rect">
            <a:avLst/>
          </a:prstGeom>
          <a:noFill/>
          <a:ln/>
        </p:spPr>
        <p:txBody>
          <a:bodyPr wrap="square" lIns="0" tIns="0" rIns="0" bIns="0" rtlCol="0" anchor="t"/>
          <a:lstStyle/>
          <a:p>
            <a:pPr algn="l" indent="0" marL="0">
              <a:buNone/>
            </a:pPr>
            <a:r>
              <a:rPr lang="en-US" sz="2600" b="1" dirty="0">
                <a:solidFill>
                  <a:srgbClr val="722F37"/>
                </a:solidFill>
                <a:latin typeface="Arial" pitchFamily="34" charset="0"/>
                <a:ea typeface="Arial" pitchFamily="34" charset="-122"/>
                <a:cs typeface="Arial" pitchFamily="34" charset="-120"/>
              </a:rPr>
              <a:t>Key Findings</a:t>
            </a:r>
            <a:endParaRPr lang="en-US" sz="2600" dirty="0"/>
          </a:p>
        </p:txBody>
      </p:sp>
      <p:sp>
        <p:nvSpPr>
          <p:cNvPr id="241" name="Text 238"/>
          <p:cNvSpPr/>
          <p:nvPr/>
        </p:nvSpPr>
        <p:spPr>
          <a:xfrm>
            <a:off x="25535781" y="20456872"/>
            <a:ext cx="1777901" cy="38100"/>
          </a:xfrm>
          <a:prstGeom prst="rect">
            <a:avLst/>
          </a:prstGeom>
          <a:solidFill>
            <a:srgbClr val="B8860B"/>
          </a:solidFill>
          <a:ln/>
        </p:spPr>
        <p:txBody>
          <a:bodyPr wrap="square" rtlCol="0" anchor="ctr"/>
          <a:lstStyle/>
          <a:p>
            <a:pPr indent="0" marL="0">
              <a:buNone/>
            </a:pPr>
            <a:endParaRPr lang="en-US" dirty="0"/>
          </a:p>
        </p:txBody>
      </p:sp>
      <p:sp>
        <p:nvSpPr>
          <p:cNvPr id="242" name="Text 239"/>
          <p:cNvSpPr/>
          <p:nvPr/>
        </p:nvSpPr>
        <p:spPr>
          <a:xfrm>
            <a:off x="25535781" y="20571172"/>
            <a:ext cx="10726043" cy="1044476"/>
          </a:xfrm>
          <a:prstGeom prst="rect">
            <a:avLst/>
          </a:prstGeom>
          <a:solidFill>
            <a:srgbClr val="720037">
              <a:alpha val="6000"/>
            </a:srgbClr>
          </a:solidFill>
          <a:ln/>
        </p:spPr>
        <p:txBody>
          <a:bodyPr wrap="square" rtlCol="0" anchor="ctr"/>
          <a:lstStyle/>
          <a:p>
            <a:pPr indent="0" marL="0">
              <a:buNone/>
            </a:pPr>
            <a:endParaRPr lang="en-US" dirty="0"/>
          </a:p>
        </p:txBody>
      </p:sp>
      <p:sp>
        <p:nvSpPr>
          <p:cNvPr id="243" name="Shape 240"/>
          <p:cNvSpPr/>
          <p:nvPr/>
        </p:nvSpPr>
        <p:spPr>
          <a:xfrm>
            <a:off x="25559593" y="20571172"/>
            <a:ext cx="0" cy="1044476"/>
          </a:xfrm>
          <a:prstGeom prst="line">
            <a:avLst/>
          </a:prstGeom>
          <a:noFill/>
          <a:ln w="47625">
            <a:solidFill>
              <a:srgbClr val="722F37"/>
            </a:solidFill>
            <a:prstDash val="solid"/>
          </a:ln>
        </p:spPr>
      </p:sp>
      <p:sp>
        <p:nvSpPr>
          <p:cNvPr id="244" name="Text 241"/>
          <p:cNvSpPr/>
          <p:nvPr/>
        </p:nvSpPr>
        <p:spPr>
          <a:xfrm>
            <a:off x="25684907" y="20647372"/>
            <a:ext cx="10684925" cy="238125"/>
          </a:xfrm>
          <a:prstGeom prst="rect">
            <a:avLst/>
          </a:prstGeom>
          <a:noFill/>
          <a:ln/>
        </p:spPr>
        <p:txBody>
          <a:bodyPr wrap="square" lIns="0" tIns="0" rIns="0" bIns="0" rtlCol="0" anchor="t"/>
          <a:lstStyle/>
          <a:p>
            <a:pPr algn="l" indent="0" marL="0">
              <a:spcAft>
                <a:spcPts val="200"/>
              </a:spcAft>
              <a:buNone/>
            </a:pPr>
            <a:r>
              <a:rPr lang="en-US" sz="1600" b="1" dirty="0">
                <a:solidFill>
                  <a:srgbClr val="722F37"/>
                </a:solidFill>
                <a:latin typeface="Arial" pitchFamily="34" charset="0"/>
                <a:ea typeface="Arial" pitchFamily="34" charset="-122"/>
                <a:cs typeface="Arial" pitchFamily="34" charset="-120"/>
              </a:rPr>
              <a:t>1. Framework dominates strategy.</a:t>
            </a:r>
            <a:endParaRPr lang="en-US" sz="1600" dirty="0"/>
          </a:p>
        </p:txBody>
      </p:sp>
      <p:sp>
        <p:nvSpPr>
          <p:cNvPr id="245" name="Text 242"/>
          <p:cNvSpPr/>
          <p:nvPr/>
        </p:nvSpPr>
        <p:spPr>
          <a:xfrm>
            <a:off x="25684907" y="20910798"/>
            <a:ext cx="10684925" cy="628650"/>
          </a:xfrm>
          <a:prstGeom prst="rect">
            <a:avLst/>
          </a:prstGeom>
          <a:noFill/>
          <a:ln/>
        </p:spPr>
        <p:txBody>
          <a:bodyPr wrap="square" lIns="0" tIns="0" rIns="0" bIns="0" rtlCol="0" anchor="t"/>
          <a:lstStyle/>
          <a:p>
            <a:pPr algn="l" indent="0" marL="0">
              <a:buNone/>
            </a:pPr>
            <a:r>
              <a:rPr lang="en-US" sz="1500" dirty="0">
                <a:solidFill>
                  <a:srgbClr val="2D2926"/>
                </a:solidFill>
                <a:latin typeface="Georgia" pitchFamily="34" charset="0"/>
                <a:ea typeface="Georgia" pitchFamily="34" charset="-122"/>
                <a:cs typeface="Georgia" pitchFamily="34" charset="-120"/>
              </a:rPr>
              <a:t>Two reading algorithms select &lt;6% overlapping passages yet produce discussions with identical expert airtime (±2%). This convergence follows from a pipeline that reinforces expert identity at every stage — suggestive of Fish's thesis, but the engineering is the mechanism.</a:t>
            </a:r>
            <a:endParaRPr lang="en-US" sz="1500" dirty="0"/>
          </a:p>
        </p:txBody>
      </p:sp>
      <p:sp>
        <p:nvSpPr>
          <p:cNvPr id="246" name="Text 243"/>
          <p:cNvSpPr/>
          <p:nvPr/>
        </p:nvSpPr>
        <p:spPr>
          <a:xfrm>
            <a:off x="25535781" y="21679049"/>
            <a:ext cx="10726043" cy="834926"/>
          </a:xfrm>
          <a:prstGeom prst="rect">
            <a:avLst/>
          </a:prstGeom>
          <a:solidFill>
            <a:srgbClr val="2D6B5E">
              <a:alpha val="6000"/>
            </a:srgbClr>
          </a:solidFill>
          <a:ln/>
        </p:spPr>
        <p:txBody>
          <a:bodyPr wrap="square" rtlCol="0" anchor="ctr"/>
          <a:lstStyle/>
          <a:p>
            <a:pPr indent="0" marL="0">
              <a:buNone/>
            </a:pPr>
            <a:endParaRPr lang="en-US" dirty="0"/>
          </a:p>
        </p:txBody>
      </p:sp>
      <p:sp>
        <p:nvSpPr>
          <p:cNvPr id="247" name="Shape 244"/>
          <p:cNvSpPr/>
          <p:nvPr/>
        </p:nvSpPr>
        <p:spPr>
          <a:xfrm>
            <a:off x="25559593" y="21679049"/>
            <a:ext cx="0" cy="834926"/>
          </a:xfrm>
          <a:prstGeom prst="line">
            <a:avLst/>
          </a:prstGeom>
          <a:noFill/>
          <a:ln w="47625">
            <a:solidFill>
              <a:srgbClr val="2D6B5E"/>
            </a:solidFill>
            <a:prstDash val="solid"/>
          </a:ln>
        </p:spPr>
      </p:sp>
      <p:sp>
        <p:nvSpPr>
          <p:cNvPr id="248" name="Text 245"/>
          <p:cNvSpPr/>
          <p:nvPr/>
        </p:nvSpPr>
        <p:spPr>
          <a:xfrm>
            <a:off x="25684907" y="21755249"/>
            <a:ext cx="10684925" cy="238125"/>
          </a:xfrm>
          <a:prstGeom prst="rect">
            <a:avLst/>
          </a:prstGeom>
          <a:noFill/>
          <a:ln/>
        </p:spPr>
        <p:txBody>
          <a:bodyPr wrap="square" lIns="0" tIns="0" rIns="0" bIns="0" rtlCol="0" anchor="t"/>
          <a:lstStyle/>
          <a:p>
            <a:pPr algn="l" indent="0" marL="0">
              <a:spcAft>
                <a:spcPts val="200"/>
              </a:spcAft>
              <a:buNone/>
            </a:pPr>
            <a:r>
              <a:rPr lang="en-US" sz="1600" b="1" dirty="0">
                <a:solidFill>
                  <a:srgbClr val="2D6B5E"/>
                </a:solidFill>
                <a:latin typeface="Arial" pitchFamily="34" charset="0"/>
                <a:ea typeface="Arial" pitchFamily="34" charset="-122"/>
                <a:cs typeface="Arial" pitchFamily="34" charset="-120"/>
              </a:rPr>
              <a:t>2. Pastiche, not hallucination.</a:t>
            </a:r>
            <a:endParaRPr lang="en-US" sz="1600" dirty="0"/>
          </a:p>
        </p:txBody>
      </p:sp>
      <p:sp>
        <p:nvSpPr>
          <p:cNvPr id="249" name="Text 246"/>
          <p:cNvSpPr/>
          <p:nvPr/>
        </p:nvSpPr>
        <p:spPr>
          <a:xfrm>
            <a:off x="25684907" y="22018675"/>
            <a:ext cx="10684925" cy="419100"/>
          </a:xfrm>
          <a:prstGeom prst="rect">
            <a:avLst/>
          </a:prstGeom>
          <a:noFill/>
          <a:ln/>
        </p:spPr>
        <p:txBody>
          <a:bodyPr wrap="square" lIns="0" tIns="0" rIns="0" bIns="0" rtlCol="0" anchor="t"/>
          <a:lstStyle/>
          <a:p>
            <a:pPr algn="l" indent="0" marL="0">
              <a:buNone/>
            </a:pPr>
            <a:r>
              <a:rPr lang="en-US" sz="1500" dirty="0">
                <a:solidFill>
                  <a:srgbClr val="2D2926"/>
                </a:solidFill>
                <a:latin typeface="Georgia" pitchFamily="34" charset="0"/>
                <a:ea typeface="Georgia" pitchFamily="34" charset="-122"/>
                <a:cs typeface="Georgia" pitchFamily="34" charset="-120"/>
              </a:rPr>
              <a:t>Ungrounded LLMs write </a:t>
            </a:r>
            <a:pPr algn="l" indent="0" marL="0">
              <a:buNone/>
            </a:pPr>
            <a:r>
              <a:rPr lang="en-US" sz="1500" i="1" dirty="0">
                <a:solidFill>
                  <a:srgbClr val="2D2926"/>
                </a:solidFill>
                <a:latin typeface="Georgia" pitchFamily="34" charset="0"/>
                <a:ea typeface="Georgia" pitchFamily="34" charset="-122"/>
                <a:cs typeface="Georgia" pitchFamily="34" charset="-120"/>
              </a:rPr>
              <a:t>in the style of</a:t>
            </a:r>
            <a:pPr algn="l" indent="0" marL="0">
              <a:buNone/>
            </a:pPr>
            <a:r>
              <a:rPr lang="en-US" sz="1500" dirty="0">
                <a:solidFill>
                  <a:srgbClr val="2D2926"/>
                </a:solidFill>
                <a:latin typeface="Georgia" pitchFamily="34" charset="0"/>
                <a:ea typeface="Georgia" pitchFamily="34" charset="-122"/>
                <a:cs typeface="Georgia" pitchFamily="34" charset="-120"/>
              </a:rPr>
              <a:t> a novel, not </a:t>
            </a:r>
            <a:pPr algn="l" indent="0" marL="0">
              <a:buNone/>
            </a:pPr>
            <a:r>
              <a:rPr lang="en-US" sz="1500" i="1" dirty="0">
                <a:solidFill>
                  <a:srgbClr val="2D2926"/>
                </a:solidFill>
                <a:latin typeface="Georgia" pitchFamily="34" charset="0"/>
                <a:ea typeface="Georgia" pitchFamily="34" charset="-122"/>
                <a:cs typeface="Georgia" pitchFamily="34" charset="-120"/>
              </a:rPr>
              <a:t>from</a:t>
            </a:r>
            <a:pPr algn="l" indent="0" marL="0">
              <a:buNone/>
            </a:pPr>
            <a:r>
              <a:rPr lang="en-US" sz="1500" dirty="0">
                <a:solidFill>
                  <a:srgbClr val="2D2926"/>
                </a:solidFill>
                <a:latin typeface="Georgia" pitchFamily="34" charset="0"/>
                <a:ea typeface="Georgia" pitchFamily="34" charset="-122"/>
                <a:cs typeface="Georgia" pitchFamily="34" charset="-120"/>
              </a:rPr>
              <a:t> it. Fidelity tracks training-data exposure: a measurable knowledge gradient from </a:t>
            </a:r>
            <a:pPr algn="l" indent="0" marL="0">
              <a:buNone/>
            </a:pPr>
            <a:r>
              <a:rPr lang="en-US" sz="1500" i="1" dirty="0">
                <a:solidFill>
                  <a:srgbClr val="2D2926"/>
                </a:solidFill>
                <a:latin typeface="Georgia" pitchFamily="34" charset="0"/>
                <a:ea typeface="Georgia" pitchFamily="34" charset="-122"/>
                <a:cs typeface="Georgia" pitchFamily="34" charset="-120"/>
              </a:rPr>
              <a:t>Middlemarch</a:t>
            </a:r>
            <a:pPr algn="l" indent="0" marL="0">
              <a:buNone/>
            </a:pPr>
            <a:r>
              <a:rPr lang="en-US" sz="1500" dirty="0">
                <a:solidFill>
                  <a:srgbClr val="2D2926"/>
                </a:solidFill>
                <a:latin typeface="Georgia" pitchFamily="34" charset="0"/>
                <a:ea typeface="Georgia" pitchFamily="34" charset="-122"/>
                <a:cs typeface="Georgia" pitchFamily="34" charset="-120"/>
              </a:rPr>
              <a:t> (57%) to </a:t>
            </a:r>
            <a:pPr algn="l" indent="0" marL="0">
              <a:buNone/>
            </a:pPr>
            <a:r>
              <a:rPr lang="en-US" sz="1500" i="1" dirty="0">
                <a:solidFill>
                  <a:srgbClr val="2D2926"/>
                </a:solidFill>
                <a:latin typeface="Georgia" pitchFamily="34" charset="0"/>
                <a:ea typeface="Georgia" pitchFamily="34" charset="-122"/>
                <a:cs typeface="Georgia" pitchFamily="34" charset="-120"/>
              </a:rPr>
              <a:t>Hester</a:t>
            </a:r>
            <a:pPr algn="l" indent="0" marL="0">
              <a:buNone/>
            </a:pPr>
            <a:r>
              <a:rPr lang="en-US" sz="1500" dirty="0">
                <a:solidFill>
                  <a:srgbClr val="2D2926"/>
                </a:solidFill>
                <a:latin typeface="Georgia" pitchFamily="34" charset="0"/>
                <a:ea typeface="Georgia" pitchFamily="34" charset="-122"/>
                <a:cs typeface="Georgia" pitchFamily="34" charset="-120"/>
              </a:rPr>
              <a:t> (0%).</a:t>
            </a:r>
            <a:endParaRPr lang="en-US" sz="1500" dirty="0"/>
          </a:p>
        </p:txBody>
      </p:sp>
      <p:sp>
        <p:nvSpPr>
          <p:cNvPr id="250" name="Text 247"/>
          <p:cNvSpPr/>
          <p:nvPr/>
        </p:nvSpPr>
        <p:spPr>
          <a:xfrm>
            <a:off x="25535781" y="22577375"/>
            <a:ext cx="10726043" cy="834926"/>
          </a:xfrm>
          <a:prstGeom prst="rect">
            <a:avLst/>
          </a:prstGeom>
          <a:solidFill>
            <a:srgbClr val="B8860B">
              <a:alpha val="6000"/>
            </a:srgbClr>
          </a:solidFill>
          <a:ln/>
        </p:spPr>
        <p:txBody>
          <a:bodyPr wrap="square" rtlCol="0" anchor="ctr"/>
          <a:lstStyle/>
          <a:p>
            <a:pPr indent="0" marL="0">
              <a:buNone/>
            </a:pPr>
            <a:endParaRPr lang="en-US" dirty="0"/>
          </a:p>
        </p:txBody>
      </p:sp>
      <p:sp>
        <p:nvSpPr>
          <p:cNvPr id="251" name="Shape 248"/>
          <p:cNvSpPr/>
          <p:nvPr/>
        </p:nvSpPr>
        <p:spPr>
          <a:xfrm>
            <a:off x="25559593" y="22577375"/>
            <a:ext cx="0" cy="834926"/>
          </a:xfrm>
          <a:prstGeom prst="line">
            <a:avLst/>
          </a:prstGeom>
          <a:noFill/>
          <a:ln w="47625">
            <a:solidFill>
              <a:srgbClr val="B8860B"/>
            </a:solidFill>
            <a:prstDash val="solid"/>
          </a:ln>
        </p:spPr>
      </p:sp>
      <p:sp>
        <p:nvSpPr>
          <p:cNvPr id="252" name="Text 249"/>
          <p:cNvSpPr/>
          <p:nvPr/>
        </p:nvSpPr>
        <p:spPr>
          <a:xfrm>
            <a:off x="25684907" y="22653575"/>
            <a:ext cx="10684925" cy="238125"/>
          </a:xfrm>
          <a:prstGeom prst="rect">
            <a:avLst/>
          </a:prstGeom>
          <a:noFill/>
          <a:ln/>
        </p:spPr>
        <p:txBody>
          <a:bodyPr wrap="square" lIns="0" tIns="0" rIns="0" bIns="0" rtlCol="0" anchor="t"/>
          <a:lstStyle/>
          <a:p>
            <a:pPr algn="l" indent="0" marL="0">
              <a:spcAft>
                <a:spcPts val="200"/>
              </a:spcAft>
              <a:buNone/>
            </a:pPr>
            <a:r>
              <a:rPr lang="en-US" sz="1600" b="1" dirty="0">
                <a:solidFill>
                  <a:srgbClr val="B8860B"/>
                </a:solidFill>
                <a:latin typeface="Arial" pitchFamily="34" charset="0"/>
                <a:ea typeface="Arial" pitchFamily="34" charset="-122"/>
                <a:cs typeface="Arial" pitchFamily="34" charset="-120"/>
              </a:rPr>
              <a:t>3. Scaffolding is content-independent.</a:t>
            </a:r>
            <a:endParaRPr lang="en-US" sz="1600" dirty="0"/>
          </a:p>
        </p:txBody>
      </p:sp>
      <p:sp>
        <p:nvSpPr>
          <p:cNvPr id="253" name="Text 250"/>
          <p:cNvSpPr/>
          <p:nvPr/>
        </p:nvSpPr>
        <p:spPr>
          <a:xfrm>
            <a:off x="25684907" y="22917001"/>
            <a:ext cx="10684925" cy="419100"/>
          </a:xfrm>
          <a:prstGeom prst="rect">
            <a:avLst/>
          </a:prstGeom>
          <a:noFill/>
          <a:ln/>
        </p:spPr>
        <p:txBody>
          <a:bodyPr wrap="square" lIns="0" tIns="0" rIns="0" bIns="0" rtlCol="0" anchor="t"/>
          <a:lstStyle/>
          <a:p>
            <a:pPr algn="l" indent="0" marL="0">
              <a:buNone/>
            </a:pPr>
            <a:r>
              <a:rPr lang="en-US" sz="1500" dirty="0">
                <a:solidFill>
                  <a:srgbClr val="2D2926"/>
                </a:solidFill>
                <a:latin typeface="Georgia" pitchFamily="34" charset="0"/>
                <a:ea typeface="Georgia" pitchFamily="34" charset="-122"/>
                <a:cs typeface="Georgia" pitchFamily="34" charset="-120"/>
              </a:rPr>
              <a:t>Host preparation raises questions from ~1 to ~11 per segment, uniformly across all 15 novels (5.3× to 14.1×). Dynamics are designed, not emergent.</a:t>
            </a:r>
            <a:endParaRPr lang="en-US" sz="1500" dirty="0"/>
          </a:p>
        </p:txBody>
      </p:sp>
      <p:sp>
        <p:nvSpPr>
          <p:cNvPr id="254" name="Text 251"/>
          <p:cNvSpPr/>
          <p:nvPr/>
        </p:nvSpPr>
        <p:spPr>
          <a:xfrm>
            <a:off x="25535781" y="23475702"/>
            <a:ext cx="10726043" cy="1044476"/>
          </a:xfrm>
          <a:prstGeom prst="rect">
            <a:avLst/>
          </a:prstGeom>
          <a:solidFill>
            <a:srgbClr val="8B6030">
              <a:alpha val="6000"/>
            </a:srgbClr>
          </a:solidFill>
          <a:ln/>
        </p:spPr>
        <p:txBody>
          <a:bodyPr wrap="square" rtlCol="0" anchor="ctr"/>
          <a:lstStyle/>
          <a:p>
            <a:pPr indent="0" marL="0">
              <a:buNone/>
            </a:pPr>
            <a:endParaRPr lang="en-US" dirty="0"/>
          </a:p>
        </p:txBody>
      </p:sp>
      <p:sp>
        <p:nvSpPr>
          <p:cNvPr id="255" name="Shape 252"/>
          <p:cNvSpPr/>
          <p:nvPr/>
        </p:nvSpPr>
        <p:spPr>
          <a:xfrm>
            <a:off x="25559593" y="23475702"/>
            <a:ext cx="0" cy="1044476"/>
          </a:xfrm>
          <a:prstGeom prst="line">
            <a:avLst/>
          </a:prstGeom>
          <a:noFill/>
          <a:ln w="47625">
            <a:solidFill>
              <a:srgbClr val="8B6030"/>
            </a:solidFill>
            <a:prstDash val="solid"/>
          </a:ln>
        </p:spPr>
      </p:sp>
      <p:sp>
        <p:nvSpPr>
          <p:cNvPr id="256" name="Text 253"/>
          <p:cNvSpPr/>
          <p:nvPr/>
        </p:nvSpPr>
        <p:spPr>
          <a:xfrm>
            <a:off x="25684907" y="23551902"/>
            <a:ext cx="10684925" cy="238125"/>
          </a:xfrm>
          <a:prstGeom prst="rect">
            <a:avLst/>
          </a:prstGeom>
          <a:noFill/>
          <a:ln/>
        </p:spPr>
        <p:txBody>
          <a:bodyPr wrap="square" lIns="0" tIns="0" rIns="0" bIns="0" rtlCol="0" anchor="t"/>
          <a:lstStyle/>
          <a:p>
            <a:pPr algn="l" indent="0" marL="0">
              <a:spcAft>
                <a:spcPts val="200"/>
              </a:spcAft>
              <a:buNone/>
            </a:pPr>
            <a:r>
              <a:rPr lang="en-US" sz="1600" b="1" dirty="0">
                <a:solidFill>
                  <a:srgbClr val="8B6030"/>
                </a:solidFill>
                <a:latin typeface="Arial" pitchFamily="34" charset="0"/>
                <a:ea typeface="Arial" pitchFamily="34" charset="-122"/>
                <a:cs typeface="Arial" pitchFamily="34" charset="-120"/>
              </a:rPr>
              <a:t>4. Cordiality is designed, not conversational.</a:t>
            </a:r>
            <a:endParaRPr lang="en-US" sz="1600" dirty="0"/>
          </a:p>
        </p:txBody>
      </p:sp>
      <p:sp>
        <p:nvSpPr>
          <p:cNvPr id="257" name="Text 254"/>
          <p:cNvSpPr/>
          <p:nvPr/>
        </p:nvSpPr>
        <p:spPr>
          <a:xfrm>
            <a:off x="25684907" y="23815328"/>
            <a:ext cx="10684925" cy="628650"/>
          </a:xfrm>
          <a:prstGeom prst="rect">
            <a:avLst/>
          </a:prstGeom>
          <a:noFill/>
          <a:ln/>
        </p:spPr>
        <p:txBody>
          <a:bodyPr wrap="square" lIns="0" tIns="0" rIns="0" bIns="0" rtlCol="0" anchor="t"/>
          <a:lstStyle/>
          <a:p>
            <a:pPr algn="l" indent="0" marL="0">
              <a:buNone/>
            </a:pPr>
            <a:r>
              <a:rPr lang="en-US" sz="1500" dirty="0">
                <a:solidFill>
                  <a:srgbClr val="2D2926"/>
                </a:solidFill>
                <a:latin typeface="Georgia" pitchFamily="34" charset="0"/>
                <a:ea typeface="Georgia" pitchFamily="34" charset="-122"/>
                <a:cs typeface="Georgia" pitchFamily="34" charset="-120"/>
              </a:rPr>
              <a:t>The prompt instruction </a:t>
            </a:r>
            <a:pPr algn="l" indent="0" marL="0">
              <a:buNone/>
            </a:pPr>
            <a:r>
              <a:rPr lang="en-US" sz="1500" i="1" dirty="0">
                <a:solidFill>
                  <a:srgbClr val="2D2926"/>
                </a:solidFill>
                <a:latin typeface="Georgia" pitchFamily="34" charset="0"/>
                <a:ea typeface="Georgia" pitchFamily="34" charset="-122"/>
                <a:cs typeface="Georgia" pitchFamily="34" charset="-120"/>
              </a:rPr>
              <a:t>push back gently</a:t>
            </a:r>
            <a:pPr algn="l" indent="0" marL="0">
              <a:buNone/>
            </a:pPr>
            <a:r>
              <a:rPr lang="en-US" sz="1500" dirty="0">
                <a:solidFill>
                  <a:srgbClr val="2D2926"/>
                </a:solidFill>
                <a:latin typeface="Georgia" pitchFamily="34" charset="0"/>
                <a:ea typeface="Georgia" pitchFamily="34" charset="-122"/>
                <a:cs typeface="Georgia" pitchFamily="34" charset="-120"/>
              </a:rPr>
              <a:t> produces a recognisable formula across all panels and all 15 novels: deferential opener ("I wouldn't dispute that…") followed immediately by contradiction. The deference is disingenuous and measurably prompt-driven.</a:t>
            </a:r>
            <a:endParaRPr lang="en-US" sz="1500" dirty="0"/>
          </a:p>
        </p:txBody>
      </p:sp>
      <p:sp>
        <p:nvSpPr>
          <p:cNvPr id="258" name="Text 255"/>
          <p:cNvSpPr/>
          <p:nvPr/>
        </p:nvSpPr>
        <p:spPr>
          <a:xfrm>
            <a:off x="25535781" y="24621679"/>
            <a:ext cx="10726043" cy="945952"/>
          </a:xfrm>
          <a:prstGeom prst="roundRect">
            <a:avLst>
              <a:gd name="adj" fmla="val 5370"/>
            </a:avLst>
          </a:prstGeom>
          <a:solidFill>
            <a:srgbClr val="720037">
              <a:alpha val="6000"/>
            </a:srgbClr>
          </a:solidFill>
          <a:ln w="9525">
            <a:solidFill>
              <a:srgbClr val="720037"/>
            </a:solidFill>
          </a:ln>
        </p:spPr>
        <p:txBody>
          <a:bodyPr wrap="square" rtlCol="0" anchor="ctr"/>
          <a:lstStyle/>
          <a:p>
            <a:pPr indent="0" marL="0">
              <a:buNone/>
            </a:pPr>
            <a:endParaRPr lang="en-US" dirty="0"/>
          </a:p>
        </p:txBody>
      </p:sp>
      <p:sp>
        <p:nvSpPr>
          <p:cNvPr id="259" name="Text 256"/>
          <p:cNvSpPr/>
          <p:nvPr/>
        </p:nvSpPr>
        <p:spPr>
          <a:xfrm>
            <a:off x="25646807" y="24732704"/>
            <a:ext cx="10714071" cy="266700"/>
          </a:xfrm>
          <a:prstGeom prst="rect">
            <a:avLst/>
          </a:prstGeom>
          <a:noFill/>
          <a:ln/>
        </p:spPr>
        <p:txBody>
          <a:bodyPr wrap="square" lIns="0" tIns="0" rIns="0" bIns="0" rtlCol="0" anchor="t"/>
          <a:lstStyle/>
          <a:p>
            <a:pPr algn="l" indent="0" marL="0">
              <a:spcAft>
                <a:spcPts val="300"/>
              </a:spcAft>
              <a:buNone/>
            </a:pPr>
            <a:r>
              <a:rPr lang="en-US" sz="1800" b="1" dirty="0">
                <a:solidFill>
                  <a:srgbClr val="722F37"/>
                </a:solidFill>
                <a:latin typeface="Arial" pitchFamily="34" charset="0"/>
                <a:ea typeface="Arial" pitchFamily="34" charset="-122"/>
                <a:cs typeface="Arial" pitchFamily="34" charset="-120"/>
              </a:rPr>
              <a:t>Framework &gt; Grounding &gt; Strategy</a:t>
            </a:r>
            <a:endParaRPr lang="en-US" sz="1800" dirty="0"/>
          </a:p>
        </p:txBody>
      </p:sp>
      <p:sp>
        <p:nvSpPr>
          <p:cNvPr id="260" name="Text 257"/>
          <p:cNvSpPr/>
          <p:nvPr/>
        </p:nvSpPr>
        <p:spPr>
          <a:xfrm>
            <a:off x="25646807" y="25037504"/>
            <a:ext cx="10714071" cy="419100"/>
          </a:xfrm>
          <a:prstGeom prst="rect">
            <a:avLst/>
          </a:prstGeom>
          <a:noFill/>
          <a:ln/>
        </p:spPr>
        <p:txBody>
          <a:bodyPr wrap="square" lIns="0" tIns="0" rIns="0" bIns="0" rtlCol="0" anchor="t"/>
          <a:lstStyle/>
          <a:p>
            <a:pPr algn="l" indent="0" marL="0">
              <a:buNone/>
            </a:pPr>
            <a:r>
              <a:rPr lang="en-US" sz="1500" dirty="0">
                <a:solidFill>
                  <a:srgbClr val="2D2926"/>
                </a:solidFill>
                <a:latin typeface="Georgia" pitchFamily="34" charset="0"/>
                <a:ea typeface="Georgia" pitchFamily="34" charset="-122"/>
                <a:cs typeface="Georgia" pitchFamily="34" charset="-120"/>
              </a:rPr>
              <a:t>The decomposition has a clear hierarchy. Framework determines character, grounding gates accuracy, strategy is surprisingly irrelevant.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2026-04-09T16:36:08Z</dcterms:created>
  <dcterms:modified xsi:type="dcterms:W3CDTF">2026-04-09T16:36:08Z</dcterms:modified>
</cp:coreProperties>
</file>